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a941c90a104396" /><Relationship Type="http://schemas.openxmlformats.org/officeDocument/2006/relationships/extended-properties" Target="/docProps/app.xml" Id="R551e61432ac147be" /><Relationship Type="http://schemas.openxmlformats.org/officeDocument/2006/relationships/officeDocument" Target="/ppt/presentation.xml" Id="R7f940fafe7634d21" /></Relationships>
</file>

<file path=ppt/presentation.xml><?xml version="1.0" encoding="utf-8"?>
<p:presentation xmlns:p="http://schemas.openxmlformats.org/presentationml/2006/main">
  <p:sldMasterIdLst>
    <p:sldMasterId xmlns:r="http://schemas.openxmlformats.org/officeDocument/2006/relationships" id="2147483648" r:id="R4f671a63fe8643c4"/>
  </p:sldMasterIdLst>
  <p:notesMasterIdLst>
    <p:notesMasterId xmlns:r="http://schemas.openxmlformats.org/officeDocument/2006/relationships" r:id="Rf10f3258d1c1409d"/>
  </p:notesMasterIdLst>
  <p:sldIdLst>
    <p:sldId xmlns:r="http://schemas.openxmlformats.org/officeDocument/2006/relationships" id="256" r:id="R07513d81aec64098"/>
    <p:sldId xmlns:r="http://schemas.openxmlformats.org/officeDocument/2006/relationships" id="257" r:id="R115c1c48d27a4a89"/>
    <p:sldId xmlns:r="http://schemas.openxmlformats.org/officeDocument/2006/relationships" id="258" r:id="Re59d98b278dc486c"/>
    <p:sldId xmlns:r="http://schemas.openxmlformats.org/officeDocument/2006/relationships" id="259" r:id="R7e6c5f4768ac4fce"/>
    <p:sldId xmlns:r="http://schemas.openxmlformats.org/officeDocument/2006/relationships" id="260" r:id="R81b3abb3c54f4b9d"/>
    <p:sldId xmlns:r="http://schemas.openxmlformats.org/officeDocument/2006/relationships" id="261" r:id="R919d1f9715624a44"/>
    <p:sldId xmlns:r="http://schemas.openxmlformats.org/officeDocument/2006/relationships" id="262" r:id="R2cd845c52bb34dc9"/>
    <p:sldId xmlns:r="http://schemas.openxmlformats.org/officeDocument/2006/relationships" id="263" r:id="Re7c65eaca89a471b"/>
    <p:sldId xmlns:r="http://schemas.openxmlformats.org/officeDocument/2006/relationships" id="264" r:id="R40779822bba6448b"/>
    <p:sldId xmlns:r="http://schemas.openxmlformats.org/officeDocument/2006/relationships" id="265" r:id="R6eb86d2686d4410a"/>
    <p:sldId xmlns:r="http://schemas.openxmlformats.org/officeDocument/2006/relationships" id="266" r:id="Re2eb4aee02b247e1"/>
    <p:sldId xmlns:r="http://schemas.openxmlformats.org/officeDocument/2006/relationships" id="267" r:id="R1c555bd2b67846e7"/>
    <p:sldId xmlns:r="http://schemas.openxmlformats.org/officeDocument/2006/relationships" id="268" r:id="R8450ff38fe3749a6"/>
    <p:sldId xmlns:r="http://schemas.openxmlformats.org/officeDocument/2006/relationships" id="269" r:id="R67c89bf003b34dcd"/>
    <p:sldId xmlns:r="http://schemas.openxmlformats.org/officeDocument/2006/relationships" id="270" r:id="Re34ccbf50672483b"/>
    <p:sldId xmlns:r="http://schemas.openxmlformats.org/officeDocument/2006/relationships" id="271" r:id="R067425cfffcb434b"/>
    <p:sldId xmlns:r="http://schemas.openxmlformats.org/officeDocument/2006/relationships" id="272" r:id="R54dc9a5e10f7443d"/>
    <p:sldId xmlns:r="http://schemas.openxmlformats.org/officeDocument/2006/relationships" id="273" r:id="R7157da8dd2594725"/>
    <p:sldId xmlns:r="http://schemas.openxmlformats.org/officeDocument/2006/relationships" id="274" r:id="Rc0af62ad27f94ee3"/>
    <p:sldId xmlns:r="http://schemas.openxmlformats.org/officeDocument/2006/relationships" id="275" r:id="Rf2d8668f18a341bf"/>
    <p:sldId xmlns:r="http://schemas.openxmlformats.org/officeDocument/2006/relationships" id="276" r:id="R410ea1db33d748ec"/>
    <p:sldId xmlns:r="http://schemas.openxmlformats.org/officeDocument/2006/relationships" id="277" r:id="R81d3b339ee134f59"/>
    <p:sldId xmlns:r="http://schemas.openxmlformats.org/officeDocument/2006/relationships" id="278" r:id="R745e8e8e26d94960"/>
    <p:sldId xmlns:r="http://schemas.openxmlformats.org/officeDocument/2006/relationships" id="279" r:id="R36fbe9339c064819"/>
    <p:sldId xmlns:r="http://schemas.openxmlformats.org/officeDocument/2006/relationships" id="280" r:id="Rb048a68c20bc460f"/>
    <p:sldId xmlns:r="http://schemas.openxmlformats.org/officeDocument/2006/relationships" id="281" r:id="R7488b9c330304744"/>
    <p:sldId xmlns:r="http://schemas.openxmlformats.org/officeDocument/2006/relationships" id="282" r:id="R5d152a6228064402"/>
    <p:sldId xmlns:r="http://schemas.openxmlformats.org/officeDocument/2006/relationships" id="283" r:id="R75a4d9d343ef4500"/>
    <p:sldId xmlns:r="http://schemas.openxmlformats.org/officeDocument/2006/relationships" id="284" r:id="R8fa6b86e05724065"/>
    <p:sldId xmlns:r="http://schemas.openxmlformats.org/officeDocument/2006/relationships" id="285" r:id="Rbb55f8f4d6d942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a8cc1e13994111" /><Relationship Type="http://schemas.openxmlformats.org/officeDocument/2006/relationships/slideMaster" Target="/ppt/slideMasters/slideMaster1.xml" Id="R4f671a63fe8643c4" /><Relationship Type="http://schemas.openxmlformats.org/officeDocument/2006/relationships/notesMaster" Target="/ppt/notesMasters/notesMaster1.xml" Id="Rf10f3258d1c1409d" /><Relationship Type="http://schemas.openxmlformats.org/officeDocument/2006/relationships/presProps" Target="/ppt/presProps.xml" Id="R04b03221c7e741d2" /><Relationship Type="http://schemas.openxmlformats.org/officeDocument/2006/relationships/tableStyles" Target="/ppt/tableStyles.xml" Id="R58514cf449d24813" /><Relationship Type="http://schemas.openxmlformats.org/officeDocument/2006/relationships/slide" Target="/ppt/slides/slide1.xml" Id="R07513d81aec64098" /><Relationship Type="http://schemas.openxmlformats.org/officeDocument/2006/relationships/slide" Target="/ppt/slides/slide2.xml" Id="R115c1c48d27a4a89" /><Relationship Type="http://schemas.openxmlformats.org/officeDocument/2006/relationships/slide" Target="/ppt/slides/slide3.xml" Id="Re59d98b278dc486c" /><Relationship Type="http://schemas.openxmlformats.org/officeDocument/2006/relationships/slide" Target="/ppt/slides/slide4.xml" Id="R7e6c5f4768ac4fce" /><Relationship Type="http://schemas.openxmlformats.org/officeDocument/2006/relationships/slide" Target="/ppt/slides/slide5.xml" Id="R81b3abb3c54f4b9d" /><Relationship Type="http://schemas.openxmlformats.org/officeDocument/2006/relationships/slide" Target="/ppt/slides/slide6.xml" Id="R919d1f9715624a44" /><Relationship Type="http://schemas.openxmlformats.org/officeDocument/2006/relationships/slide" Target="/ppt/slides/slide7.xml" Id="R2cd845c52bb34dc9" /><Relationship Type="http://schemas.openxmlformats.org/officeDocument/2006/relationships/slide" Target="/ppt/slides/slide8.xml" Id="Re7c65eaca89a471b" /><Relationship Type="http://schemas.openxmlformats.org/officeDocument/2006/relationships/slide" Target="/ppt/slides/slide9.xml" Id="R40779822bba6448b" /><Relationship Type="http://schemas.openxmlformats.org/officeDocument/2006/relationships/slide" Target="/ppt/slides/slide10.xml" Id="R6eb86d2686d4410a" /><Relationship Type="http://schemas.openxmlformats.org/officeDocument/2006/relationships/slide" Target="/ppt/slides/slide11.xml" Id="Re2eb4aee02b247e1" /><Relationship Type="http://schemas.openxmlformats.org/officeDocument/2006/relationships/slide" Target="/ppt/slides/slide12.xml" Id="R1c555bd2b67846e7" /><Relationship Type="http://schemas.openxmlformats.org/officeDocument/2006/relationships/slide" Target="/ppt/slides/slide13.xml" Id="R8450ff38fe3749a6" /><Relationship Type="http://schemas.openxmlformats.org/officeDocument/2006/relationships/slide" Target="/ppt/slides/slide14.xml" Id="R67c89bf003b34dcd" /><Relationship Type="http://schemas.openxmlformats.org/officeDocument/2006/relationships/slide" Target="/ppt/slides/slide15.xml" Id="Re34ccbf50672483b" /><Relationship Type="http://schemas.openxmlformats.org/officeDocument/2006/relationships/slide" Target="/ppt/slides/slide16.xml" Id="R067425cfffcb434b" /><Relationship Type="http://schemas.openxmlformats.org/officeDocument/2006/relationships/slide" Target="/ppt/slides/slide17.xml" Id="R54dc9a5e10f7443d" /><Relationship Type="http://schemas.openxmlformats.org/officeDocument/2006/relationships/slide" Target="/ppt/slides/slide18.xml" Id="R7157da8dd2594725" /><Relationship Type="http://schemas.openxmlformats.org/officeDocument/2006/relationships/slide" Target="/ppt/slides/slide19.xml" Id="Rc0af62ad27f94ee3" /><Relationship Type="http://schemas.openxmlformats.org/officeDocument/2006/relationships/slide" Target="/ppt/slides/slide20.xml" Id="Rf2d8668f18a341bf" /><Relationship Type="http://schemas.openxmlformats.org/officeDocument/2006/relationships/slide" Target="/ppt/slides/slide21.xml" Id="R410ea1db33d748ec" /><Relationship Type="http://schemas.openxmlformats.org/officeDocument/2006/relationships/slide" Target="/ppt/slides/slide22.xml" Id="R81d3b339ee134f59" /><Relationship Type="http://schemas.openxmlformats.org/officeDocument/2006/relationships/slide" Target="/ppt/slides/slide23.xml" Id="R745e8e8e26d94960" /><Relationship Type="http://schemas.openxmlformats.org/officeDocument/2006/relationships/slide" Target="/ppt/slides/slide24.xml" Id="R36fbe9339c064819" /><Relationship Type="http://schemas.openxmlformats.org/officeDocument/2006/relationships/slide" Target="/ppt/slides/slide25.xml" Id="Rb048a68c20bc460f" /><Relationship Type="http://schemas.openxmlformats.org/officeDocument/2006/relationships/slide" Target="/ppt/slides/slide26.xml" Id="R7488b9c330304744" /><Relationship Type="http://schemas.openxmlformats.org/officeDocument/2006/relationships/slide" Target="/ppt/slides/slide27.xml" Id="R5d152a6228064402" /><Relationship Type="http://schemas.openxmlformats.org/officeDocument/2006/relationships/slide" Target="/ppt/slides/slide28.xml" Id="R75a4d9d343ef4500" /><Relationship Type="http://schemas.openxmlformats.org/officeDocument/2006/relationships/slide" Target="/ppt/slides/slide29.xml" Id="R8fa6b86e05724065" /><Relationship Type="http://schemas.openxmlformats.org/officeDocument/2006/relationships/slide" Target="/ppt/slides/slide30.xml" Id="Rbb55f8f4d6d942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d1a96f721747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996d010d5a41ef" /><Relationship Type="http://schemas.openxmlformats.org/officeDocument/2006/relationships/notesMaster" Target="/ppt/notesMasters/notesMaster1.xml" Id="R671aa103310040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0a9d4a664b4f67" /><Relationship Type="http://schemas.openxmlformats.org/officeDocument/2006/relationships/notesMaster" Target="/ppt/notesMasters/notesMaster1.xml" Id="R728f09a13f0f45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8740412d164449" /><Relationship Type="http://schemas.openxmlformats.org/officeDocument/2006/relationships/notesMaster" Target="/ppt/notesMasters/notesMaster1.xml" Id="R349073e9e1d645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1929a2cb2542ba" /><Relationship Type="http://schemas.openxmlformats.org/officeDocument/2006/relationships/notesMaster" Target="/ppt/notesMasters/notesMaster1.xml" Id="R3eb7584a032f45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037d2667224083" /><Relationship Type="http://schemas.openxmlformats.org/officeDocument/2006/relationships/notesMaster" Target="/ppt/notesMasters/notesMaster1.xml" Id="R0da384d11a1b4a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6f8c8069414d1e" /><Relationship Type="http://schemas.openxmlformats.org/officeDocument/2006/relationships/notesMaster" Target="/ppt/notesMasters/notesMaster1.xml" Id="R43f268c5c21c40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e083ae659b4bed" /><Relationship Type="http://schemas.openxmlformats.org/officeDocument/2006/relationships/notesMaster" Target="/ppt/notesMasters/notesMaster1.xml" Id="R19c9eacb26f345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725bf3c48343f1" /><Relationship Type="http://schemas.openxmlformats.org/officeDocument/2006/relationships/notesMaster" Target="/ppt/notesMasters/notesMaster1.xml" Id="R2ba60668b56644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6532365cd44482" /><Relationship Type="http://schemas.openxmlformats.org/officeDocument/2006/relationships/notesMaster" Target="/ppt/notesMasters/notesMaster1.xml" Id="Rcb0eeca9b8774d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4695ac483b4382" /><Relationship Type="http://schemas.openxmlformats.org/officeDocument/2006/relationships/notesMaster" Target="/ppt/notesMasters/notesMaster1.xml" Id="R7a6a58da1f624f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7472bc2f254f79" /><Relationship Type="http://schemas.openxmlformats.org/officeDocument/2006/relationships/notesMaster" Target="/ppt/notesMasters/notesMaster1.xml" Id="Rff016a6acd6a4e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287688a52a4de6" /><Relationship Type="http://schemas.openxmlformats.org/officeDocument/2006/relationships/notesMaster" Target="/ppt/notesMasters/notesMaster1.xml" Id="R7a2dce427b0a47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661001e1314871" /><Relationship Type="http://schemas.openxmlformats.org/officeDocument/2006/relationships/notesMaster" Target="/ppt/notesMasters/notesMaster1.xml" Id="Rada577f0c70f46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406cfeabd946f3" /><Relationship Type="http://schemas.openxmlformats.org/officeDocument/2006/relationships/notesMaster" Target="/ppt/notesMasters/notesMaster1.xml" Id="R1345bf8a381f46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70ea0dc2504f47" /><Relationship Type="http://schemas.openxmlformats.org/officeDocument/2006/relationships/notesMaster" Target="/ppt/notesMasters/notesMaster1.xml" Id="Rc8d3c14b15a343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ee8b4828794528" /><Relationship Type="http://schemas.openxmlformats.org/officeDocument/2006/relationships/notesMaster" Target="/ppt/notesMasters/notesMaster1.xml" Id="Rfc897e04cfb34b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8c49ea0b934894" /><Relationship Type="http://schemas.openxmlformats.org/officeDocument/2006/relationships/notesMaster" Target="/ppt/notesMasters/notesMaster1.xml" Id="R8907247bfbea43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8ccbbdd27a43f1" /><Relationship Type="http://schemas.openxmlformats.org/officeDocument/2006/relationships/notesMaster" Target="/ppt/notesMasters/notesMaster1.xml" Id="R0c8cbaf0fdf3464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5a17724bb44532" /><Relationship Type="http://schemas.openxmlformats.org/officeDocument/2006/relationships/notesMaster" Target="/ppt/notesMasters/notesMaster1.xml" Id="Recf55a0a22fc48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64352c881364951" /><Relationship Type="http://schemas.openxmlformats.org/officeDocument/2006/relationships/notesMaster" Target="/ppt/notesMasters/notesMaster1.xml" Id="R9b7cf0fcb08b499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63ed676e514bbd" /><Relationship Type="http://schemas.openxmlformats.org/officeDocument/2006/relationships/notesMaster" Target="/ppt/notesMasters/notesMaster1.xml" Id="R4290e2899a9d4e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68b0886eb840cf" /><Relationship Type="http://schemas.openxmlformats.org/officeDocument/2006/relationships/notesMaster" Target="/ppt/notesMasters/notesMaster1.xml" Id="R5e5ad44c98cf45b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243c0dfdeb4602" /><Relationship Type="http://schemas.openxmlformats.org/officeDocument/2006/relationships/notesMaster" Target="/ppt/notesMasters/notesMaster1.xml" Id="R4322f67f2e1044e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b599b819f3f47fc" /><Relationship Type="http://schemas.openxmlformats.org/officeDocument/2006/relationships/notesMaster" Target="/ppt/notesMasters/notesMaster1.xml" Id="R88fcd94f55624aa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b590368b1ad444c" /><Relationship Type="http://schemas.openxmlformats.org/officeDocument/2006/relationships/notesMaster" Target="/ppt/notesMasters/notesMaster1.xml" Id="R1925b69ee19340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bb364bbbb44564" /><Relationship Type="http://schemas.openxmlformats.org/officeDocument/2006/relationships/notesMaster" Target="/ppt/notesMasters/notesMaster1.xml" Id="R639ba7bbead4443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3a5ef833c840b4" /><Relationship Type="http://schemas.openxmlformats.org/officeDocument/2006/relationships/notesMaster" Target="/ppt/notesMasters/notesMaster1.xml" Id="Rf23e780e6ebc4a5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ff280b654dd4635" /><Relationship Type="http://schemas.openxmlformats.org/officeDocument/2006/relationships/notesMaster" Target="/ppt/notesMasters/notesMaster1.xml" Id="R0d9788c4074047d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8e13b3b1d024670" /><Relationship Type="http://schemas.openxmlformats.org/officeDocument/2006/relationships/notesMaster" Target="/ppt/notesMasters/notesMaster1.xml" Id="R90a0bebb9ccc414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5997da493834817" /><Relationship Type="http://schemas.openxmlformats.org/officeDocument/2006/relationships/notesMaster" Target="/ppt/notesMasters/notesMaster1.xml" Id="R30731c64bc3143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Cybersecurity has entered an era where valid credentials and machine-speed behavior can become indistinguishable from legitimate service. This deck introduces KIL: a proposed KTP extension profile that makes fresh, bounded authority consumable at consequential infrastructure boundaries.</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Ambient breach is both an action condition and a cybersecurity-era condition. It means acting without verified trust—epistemically, action outruns evidence—and, at scale, the defender can no longer reliably distinguish service from attack. That is the urgency behind ambient enforcement.</a:t>
            </a:r>
          </a:p>
          <a:p xmlns:a="http://schemas.openxmlformats.org/drawingml/2006/main">
            <a:r>
              <a:t/>
            </a:r>
          </a:p>
          <a:p xmlns:a="http://schemas.openxmlformats.org/drawingml/2006/main">
            <a:r>
              <a:t>[Sources]</a:t>
            </a:r>
          </a:p>
          <a:p xmlns:a="http://schemas.openxmlformats.org/drawingml/2006/main">
            <a:r>
              <a:t>- KIL white paper and model in this repository — docs/whitepaper/kinetic-infrastructure.md ; docs/reference/kil-trust-decay-model.md</a:t>
            </a:r>
          </a:p>
          <a:p xmlns:a="http://schemas.openxmlformats.org/drawingml/2006/main">
            <a:r>
              <a:t>- Kinetic Trust Protocol v2.0.0 and canonical CITATION.cff — https://github.com/nmcitra/ktp-rfc/tree/v2.0.0 ; https://github.com/nmcitra/ktp-rfc/blob/main/CITATION.cff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conventional checkpoint can prove that a credential is authentic and that a policy allows an operation. It does not prove that the behavior belongs to the legitimate trajectory. AI makes that gap exploitable at machine speed.</a:t>
            </a:r>
          </a:p>
          <a:p xmlns:a="http://schemas.openxmlformats.org/drawingml/2006/main">
            <a:r>
              <a:t/>
            </a:r>
          </a:p>
          <a:p xmlns:a="http://schemas.openxmlformats.org/drawingml/2006/main">
            <a:r>
              <a:t>[Sources]</a:t>
            </a:r>
          </a:p>
          <a:p xmlns:a="http://schemas.openxmlformats.org/drawingml/2006/main">
            <a:r>
              <a:t>- KIL white paper and model in this repository — docs/whitepaper/kinetic-infrastructure.md ; docs/reference/kil-trust-decay-model.md</a:t>
            </a:r>
          </a:p>
          <a:p xmlns:a="http://schemas.openxmlformats.org/drawingml/2006/main">
            <a:r>
              <a:t>- Kinetic Trust Protocol v2.0.0 and canonical CITATION.cff — https://github.com/nmcitra/ktp-rfc/tree/v2.0.0 ; https://github.com/nmcitra/ktp-rfc/blob/main/CITATION.cff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Ambient enforcement moves the decisive check to the boundary where an intended action becomes a consequence. KIL consumes a signed, short-lived composite KTP enforcement state and can only preserve or reduce the authority already authorized by KTP.</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 does not replace KTP. It proposes a future extension profile: authoritative KTP constructs are composed into a signed, fresh, class-bound state that infrastructure can consume. The governance destination may be KTP 2.1 or 3.0, subject to KTP review.</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 decouples the slower authoritative derivation of state from the fast path that consumes it. The fast loop does not recompute trust or invent permission; it verifies freshness, binding, vetoes, envelopes, thresholds, and records the result before forwarding.</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trust-decay model is per authority class. Compatible behavior earns authority gradually, inactivity erodes it, and high divergence can reduce it sharply. Parameters shown in this presentation are modeled and require calibration; they are not disclosed incident telemetry.</a:t>
            </a:r>
          </a:p>
          <a:p xmlns:a="http://schemas.openxmlformats.org/drawingml/2006/main">
            <a:r>
              <a:t/>
            </a:r>
          </a:p>
          <a:p xmlns:a="http://schemas.openxmlformats.org/drawingml/2006/main">
            <a:r>
              <a:t>[Sources]</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Hugging Face disclosed a multi-day autonomous agent intrusion in which valid credentials enabled escalating actions. We use the published sequence as a counterfactual baseline: what would a declared KIL boundary have done at the first mediated divergence?</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categories are deliberately separate. Observed means directly supported by the disclosure. Modeled means synthetic input or counterfactual output. Locally reproduced means reference behavior was reproduced. Validated remains reserved for an accepted evidence bundle at the relevant gate.</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renderer-to-worker foothold occurred before the action mediated by the current Envoy lab. The deck does not claim that the existing lab sees or blocks that local file-read path. Our tested boundary starts at mediated outbound action.</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is a placement question. Application-aware or kernel-aware adapters could observe earlier actions, but those adapters are not implemented here. The present experiment measures only traffic mediated by Envoy and its external authorization boundary.</a:t>
            </a:r>
          </a:p>
          <a:p xmlns:a="http://schemas.openxmlformats.org/drawingml/2006/main">
            <a:r>
              <a:t/>
            </a:r>
          </a:p>
          <a:p xmlns:a="http://schemas.openxmlformats.org/drawingml/2006/main">
            <a:r>
              <a:t>[Sources]</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disclosed sequence, the worker used its service-account context to address the cluster API. In the counterfactual, that is the first action mediated by our declared boundary. A modeled divergence of 0.95 reduces effective authority below threshold, so Envoy does not forward the request.</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a:p xmlns:a="http://schemas.openxmlformats.org/drawingml/2006/main">
            <a:r>
              <a:t>- KIL white paper and model in this repository — docs/whitepaper/kinetic-infrastructure.md ; docs/reference/kil-trust-decay-model.md</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fast path verifies the signed composite state, checks expiry, binds identity, authority class and action, preserves every KTP veto, applies the environmental envelope and threshold, then records the decision. It is verification and consumption, not independent authorization.</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value d-t equals 0.95 is a modeled input. It represents a large weighted standardized distance from the worker’s expected class-bound action trajectory. The reducing-only transformation lowers effective authority below the declared threshold; it cannot increase authority.</a:t>
            </a:r>
          </a:p>
          <a:p xmlns:a="http://schemas.openxmlformats.org/drawingml/2006/main">
            <a:r>
              <a:t/>
            </a:r>
          </a:p>
          <a:p xmlns:a="http://schemas.openxmlformats.org/drawingml/2006/main">
            <a:r>
              <a:t>[Sources]</a:t>
            </a:r>
          </a:p>
          <a:p xmlns:a="http://schemas.openxmlformats.org/drawingml/2006/main">
            <a:r>
              <a:t>- KIL white paper and model in this repository — docs/whitepaper/kinetic-infrastructure.md ; docs/reference/kil-trust-decay-model.md</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control-plane path remained available, the disclosed sequence expanded into node privilege, a 136-key secret read, cross-cluster access, mesh enrollment, forged tokens, and CI or source-control targeting. The blast radius grew because each step inherited reach from the last.</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 does not claim seven independent preventions. Under the declared dependency graph, one upstream modeled deny makes downstream nodes conditionally unreachable. That is a reachability result, contingent on the graph and the stated enforcement placement.</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a:p xmlns:a="http://schemas.openxmlformats.org/drawingml/2006/main">
            <a:r>
              <a:t>- KIL white paper and model in this repository — docs/whitepaper/kinetic-infrastructure.md ; docs/reference/kil-trust-decay-model.md</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earlier boundary is absent, the bulk secret read remains a high-leverage cutoff. The 0.90 divergence value is modeled, not observed telemetry. A correctly signed forged token still lacks class-bound trajectory authority, because cryptographic validity alone cannot manufacture behavioral history.</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 changes the usable authority of a request in motion, but only in the reducing direction. The effective result can equal or tighten the KTP-authorized bound; local evidence cannot add permission or clear an authoritative veto.</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invariant is non-expansion. Local, fresh evidence may tighten the effective state but never grant an authority absent from KTP or reverse a KTP veto. Divergent local and authoritative state must reconcile through an auditable path.</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is authority-class specific. High-consequence paths can fail closed; continuity-sensitive paths may fail constrained. Legitimate rare change requires declared envelopes, provenance, recovery, and a governance path for contested decisions.</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lab does not recreate the historical intrusion. It maps one normalized request through a controlled request driver, Envoy, an external authorization service, and a harmless target. The purpose is to isolate the transport effect of the declared KIL decision boundary.</a:t>
            </a:r>
          </a:p>
          <a:p xmlns:a="http://schemas.openxmlformats.org/drawingml/2006/main">
            <a:r>
              <a:t/>
            </a:r>
          </a:p>
          <a:p xmlns:a="http://schemas.openxmlformats.org/drawingml/2006/main">
            <a:r>
              <a:t>[Sources]</a:t>
            </a:r>
          </a:p>
          <a:p xmlns:a="http://schemas.openxmlformats.org/drawingml/2006/main">
            <a:r>
              <a:t>- Hugging Face, “Anatomy of a Frontier Lab Agent Intrusion” — https://huggingface.co/blog/agent-intrusion-technical-timeline</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architecture uses isolated network segments and fixed one-shot drivers. No target service is published to the host. The diagram identifies component responsibility, but the V3B-1 live result remains pending until an accepted evidence bundle exists.</a:t>
            </a:r>
          </a:p>
          <a:p xmlns:a="http://schemas.openxmlformats.org/drawingml/2006/main">
            <a:r>
              <a:t/>
            </a:r>
          </a:p>
          <a:p xmlns:a="http://schemas.openxmlformats.org/drawingml/2006/main">
            <a:r>
              <a:t>[Sources]</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run joins four evidence sources: the intended request, the authorization decision, the Envoy access record, and the target marker. Integrity joining can prove internal consistency of a run, but it does not by itself promote a pending result to validated.</a:t>
            </a:r>
          </a:p>
          <a:p xmlns:a="http://schemas.openxmlformats.org/drawingml/2006/main">
            <a:r>
              <a:t/>
            </a:r>
          </a:p>
          <a:p xmlns:a="http://schemas.openxmlformats.org/drawingml/2006/main">
            <a:r>
              <a:t>[Sources]</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modeled V3A process contract compares the same normalized request across three tracks: baseline KTP permit, permit with benign local evidence, and deny with reducing-only divergence. Envoy translates those decisions into 200, 200, and 403; target markers are 1, 1, and 0. The live V3B-1 result is still pending.</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Track three changes only the fresh reducing-only local divergence input. The KTP state and normalized request remain fixed. The authorization service returns a decision and reason; Envoy, not KTP, creates the HTTP wire effect.</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V3B-1 requires exact readiness, a fixed one-shot sequence, joined evidence, explicit acceptance or rejection, and teardown. A failed or partial attempt remains evidence; retries cannot be silently substituted for the declared run.</a:t>
            </a:r>
          </a:p>
          <a:p xmlns:a="http://schemas.openxmlformats.org/drawingml/2006/main">
            <a:r>
              <a:t/>
            </a:r>
          </a:p>
          <a:p xmlns:a="http://schemas.openxmlformats.org/drawingml/2006/main">
            <a:r>
              <a:t>[Sources]</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ladder makes claim maturity visible: deterministic model checks, historical replay, modeled process contract, pending live local validation, and only then publication promotion. The presentation must never outrun that sequence.</a:t>
            </a:r>
          </a:p>
          <a:p xmlns:a="http://schemas.openxmlformats.org/drawingml/2006/main">
            <a:r>
              <a:t/>
            </a:r>
          </a:p>
          <a:p xmlns:a="http://schemas.openxmlformats.org/drawingml/2006/main">
            <a:r>
              <a:t>[Sources]</a:t>
            </a:r>
          </a:p>
          <a:p xmlns:a="http://schemas.openxmlformats.org/drawingml/2006/main">
            <a:r>
              <a:t>- KIL white paper and model in this repository — docs/whitepaper/kinetic-infrastructure.md ; docs/reference/kil-trust-decay-model.md</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Claims are promoted only when the corresponding immutable evidence satisfies its gate. SHA-256 integrity, negative results, false positives, and latency distributions are part of the record. “Validated” remains a reserved term, not a synonym for modeled or locally reproduced.</a:t>
            </a:r>
          </a:p>
          <a:p xmlns:a="http://schemas.openxmlformats.org/drawingml/2006/main">
            <a:r>
              <a:t/>
            </a:r>
          </a:p>
          <a:p xmlns:a="http://schemas.openxmlformats.org/drawingml/2006/main">
            <a:r>
              <a:t>[Sources]</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proof is intentionally bounded. It must demonstrate the three-track transport effects and target markers under the declared contract, with accepted joined evidence. Any mismatch fails the gate. Success still would not prove the full historical counterfactual or production readiness.</a:t>
            </a:r>
          </a:p>
          <a:p xmlns:a="http://schemas.openxmlformats.org/drawingml/2006/main">
            <a:r>
              <a:t/>
            </a:r>
          </a:p>
          <a:p xmlns:a="http://schemas.openxmlformats.org/drawingml/2006/main">
            <a:r>
              <a:t>[Sources]</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 reframes authorization as a continuously bounded property of consequential traffic. It is a proposed, testable KTP extension profile—not a replacement for KTP and not yet a production claim. Its authority comes from explicit constraints; its credibility comes from evidence.</a:t>
            </a:r>
          </a:p>
          <a:p xmlns:a="http://schemas.openxmlformats.org/drawingml/2006/main">
            <a:r>
              <a:t/>
            </a:r>
          </a:p>
          <a:p xmlns:a="http://schemas.openxmlformats.org/drawingml/2006/main">
            <a:r>
              <a:t>[Sources]</a:t>
            </a:r>
          </a:p>
          <a:p xmlns:a="http://schemas.openxmlformats.org/drawingml/2006/main">
            <a:r>
              <a:t>- Kinetic Trust Protocol v2.0.0 and canonical CITATION.cff — https://github.com/nmcitra/ktp-rfc/tree/v2.0.0 ; https://github.com/nmcitra/ktp-rfc/blob/main/CITATION.cff</a:t>
            </a:r>
          </a:p>
          <a:p xmlns:a="http://schemas.openxmlformats.org/drawingml/2006/main">
            <a:r>
              <a:t>- KIL white paper and model in this repository — docs/whitepaper/kinetic-infrastructure.md ; docs/reference/kil-trust-decay-model.md</a:t>
            </a:r>
          </a:p>
          <a:p xmlns:a="http://schemas.openxmlformats.org/drawingml/2006/main">
            <a:r>
              <a:t>- KIL counterfactual and lab specifications in this repository — docs/specifications/ and docs/demo/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da242e5d164a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e62c7054434abd" /><Relationship Type="http://schemas.openxmlformats.org/officeDocument/2006/relationships/slideLayout" Target="/ppt/slideLayouts/slideLayout1.xml" Id="R73cc097a83b34c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cc097a83b34c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f3361415814e7b" /><Relationship Type="http://schemas.openxmlformats.org/officeDocument/2006/relationships/image" Target="/ppt/media/image.png" Id="Rac6e47282a9b4663" /><Relationship Type="http://schemas.openxmlformats.org/officeDocument/2006/relationships/notesSlide" Target="/ppt/notesSlides/notesSlide1.xml" Id="R3b9c021a3c5143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c3e237be9340fb" /><Relationship Type="http://schemas.openxmlformats.org/officeDocument/2006/relationships/notesSlide" Target="/ppt/notesSlides/notesSlide2.xml" Id="R8ca7e771319043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24d6271c404c85" /><Relationship Type="http://schemas.openxmlformats.org/officeDocument/2006/relationships/notesSlide" Target="/ppt/notesSlides/notesSlide3.xml" Id="R0cfb0376b8884b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5e8c3de27e4700" /><Relationship Type="http://schemas.openxmlformats.org/officeDocument/2006/relationships/image" Target="/ppt/media/image2.png" Id="R677fe2e0b7c440b6" /><Relationship Type="http://schemas.openxmlformats.org/officeDocument/2006/relationships/notesSlide" Target="/ppt/notesSlides/notesSlide4.xml" Id="R6374a15b93104c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4d5727615b4a33" /><Relationship Type="http://schemas.openxmlformats.org/officeDocument/2006/relationships/notesSlide" Target="/ppt/notesSlides/notesSlide5.xml" Id="Rd1b9883604054d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224055b2234896" /><Relationship Type="http://schemas.openxmlformats.org/officeDocument/2006/relationships/notesSlide" Target="/ppt/notesSlides/notesSlide6.xml" Id="R9792a16360a14e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b666c4b74b4c2e" /><Relationship Type="http://schemas.openxmlformats.org/officeDocument/2006/relationships/notesSlide" Target="/ppt/notesSlides/notesSlide7.xml" Id="R6447b21c344c49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658242d27d45e9" /><Relationship Type="http://schemas.openxmlformats.org/officeDocument/2006/relationships/image" Target="/ppt/media/image3.png" Id="Ra488a05e2d84427a" /><Relationship Type="http://schemas.openxmlformats.org/officeDocument/2006/relationships/notesSlide" Target="/ppt/notesSlides/notesSlide8.xml" Id="R91dc76e1fd2449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68b11d78a64958" /><Relationship Type="http://schemas.openxmlformats.org/officeDocument/2006/relationships/notesSlide" Target="/ppt/notesSlides/notesSlide9.xml" Id="R54b26029d2904d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dbfc9523b84476" /><Relationship Type="http://schemas.openxmlformats.org/officeDocument/2006/relationships/notesSlide" Target="/ppt/notesSlides/notesSlide10.xml" Id="Ra1a907634c2a49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448bb343c5144d5" /><Relationship Type="http://schemas.openxmlformats.org/officeDocument/2006/relationships/notesSlide" Target="/ppt/notesSlides/notesSlide11.xml" Id="Re14d05b03cfc44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fc461317ea4857" /><Relationship Type="http://schemas.openxmlformats.org/officeDocument/2006/relationships/notesSlide" Target="/ppt/notesSlides/notesSlide12.xml" Id="R6f50147ef57b45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d2f641e92149ea" /><Relationship Type="http://schemas.openxmlformats.org/officeDocument/2006/relationships/notesSlide" Target="/ppt/notesSlides/notesSlide13.xml" Id="Ra6013561a0d141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eb7f2641b6e424e" /><Relationship Type="http://schemas.openxmlformats.org/officeDocument/2006/relationships/notesSlide" Target="/ppt/notesSlides/notesSlide14.xml" Id="R7dcc5d42ff9b48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ec521510ee44a54" /><Relationship Type="http://schemas.openxmlformats.org/officeDocument/2006/relationships/notesSlide" Target="/ppt/notesSlides/notesSlide15.xml" Id="R8642a540b5de42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b673dd569946b7" /><Relationship Type="http://schemas.openxmlformats.org/officeDocument/2006/relationships/notesSlide" Target="/ppt/notesSlides/notesSlide16.xml" Id="Rc3486a6aa4bf41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28f4f7d5bfb4bf8" /><Relationship Type="http://schemas.openxmlformats.org/officeDocument/2006/relationships/notesSlide" Target="/ppt/notesSlides/notesSlide17.xml" Id="R0fd4f11645854d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07cdbab04a440f8" /><Relationship Type="http://schemas.openxmlformats.org/officeDocument/2006/relationships/notesSlide" Target="/ppt/notesSlides/notesSlide18.xml" Id="Rf586ffd068574b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b89b4bb97c24c13" /><Relationship Type="http://schemas.openxmlformats.org/officeDocument/2006/relationships/notesSlide" Target="/ppt/notesSlides/notesSlide19.xml" Id="R9a511ae7499b46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e6762ed4c204aad" /><Relationship Type="http://schemas.openxmlformats.org/officeDocument/2006/relationships/notesSlide" Target="/ppt/notesSlides/notesSlide20.xml" Id="R3688936d55714e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08368b40bf24233" /><Relationship Type="http://schemas.openxmlformats.org/officeDocument/2006/relationships/image" Target="/ppt/media/image4.png" Id="R2ccdea81afbc44b5" /><Relationship Type="http://schemas.openxmlformats.org/officeDocument/2006/relationships/notesSlide" Target="/ppt/notesSlides/notesSlide21.xml" Id="Rfd0c02e182f74e1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506c8bcfde64e0d" /><Relationship Type="http://schemas.openxmlformats.org/officeDocument/2006/relationships/notesSlide" Target="/ppt/notesSlides/notesSlide22.xml" Id="R849e3e2e53704a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c0a431e2cd54d4e" /><Relationship Type="http://schemas.openxmlformats.org/officeDocument/2006/relationships/notesSlide" Target="/ppt/notesSlides/notesSlide23.xml" Id="Ra1eeab0b14bd4d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ba58d150acc41d3" /><Relationship Type="http://schemas.openxmlformats.org/officeDocument/2006/relationships/notesSlide" Target="/ppt/notesSlides/notesSlide24.xml" Id="R6249dd401cc748d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f243174fce3486d" /><Relationship Type="http://schemas.openxmlformats.org/officeDocument/2006/relationships/notesSlide" Target="/ppt/notesSlides/notesSlide25.xml" Id="R5fc012391033436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c2bff46e33c4b48" /><Relationship Type="http://schemas.openxmlformats.org/officeDocument/2006/relationships/notesSlide" Target="/ppt/notesSlides/notesSlide26.xml" Id="Rba579e5d68f6493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a1dc867215c481f" /><Relationship Type="http://schemas.openxmlformats.org/officeDocument/2006/relationships/image" Target="/ppt/media/image5.png" Id="R69a92e1841054620" /><Relationship Type="http://schemas.openxmlformats.org/officeDocument/2006/relationships/notesSlide" Target="/ppt/notesSlides/notesSlide27.xml" Id="R430234f562874c9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0ed4e9380d04690" /><Relationship Type="http://schemas.openxmlformats.org/officeDocument/2006/relationships/notesSlide" Target="/ppt/notesSlides/notesSlide28.xml" Id="R1e781becb68245f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67c31c489434f8e" /><Relationship Type="http://schemas.openxmlformats.org/officeDocument/2006/relationships/notesSlide" Target="/ppt/notesSlides/notesSlide29.xml" Id="R8b04e18d131a46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070b79d6ff0471f" /><Relationship Type="http://schemas.openxmlformats.org/officeDocument/2006/relationships/notesSlide" Target="/ppt/notesSlides/notesSlide30.xml" Id="R9985b0fa2f7f4d9c" /></Relationships>
</file>

<file path=ppt/slides/slide1.xml><?xml version="1.0" encoding="utf-8"?>
<p:sld xmlns:p="http://schemas.openxmlformats.org/presentationml/2006/main">
  <p:cSld>
    <p:bg>
      <p:bgPr>
        <a:solidFill xmlns:a="http://schemas.openxmlformats.org/drawingml/2006/main">
          <a:srgbClr val="07152B"/>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c6e47282a9b466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812DDF-1685-451A-A95B-04A6DC34C350}"/>
              </a:ext>
            </a:extLst>
          </p:cNvPr>
          <p:cNvSpPr>
            <a:spLocks xmlns:a="http://schemas.openxmlformats.org/drawingml/2006/main" noGrp="1"/>
          </p:cNvSpPr>
          <p:nvPr/>
        </p:nvSpPr>
        <p:spPr>
          <a:xfrm xmlns:a="http://schemas.openxmlformats.org/drawingml/2006/main">
            <a:off x="0" y="0"/>
            <a:ext cx="6953250" cy="6858000"/>
          </a:xfrm>
          <a:prstGeom xmlns:a="http://schemas.openxmlformats.org/drawingml/2006/main" prst="rect">
            <a:avLst/>
          </a:prstGeom>
          <a:solidFill xmlns:a="http://schemas.openxmlformats.org/drawingml/2006/main">
            <a:srgbClr val="07152B">
              <a:alpha val="90980"/>
            </a:srgbClr>
          </a:solidFill>
          <a:ln xmlns:a="http://schemas.openxmlformats.org/drawingml/2006/main" w="14288">
            <a:solidFill>
              <a:srgbClr val="07152B"/>
            </a:solidFill>
          </a:ln>
        </p:spPr>
      </p:sp>
      <p:sp>
        <p:nvSpPr>
          <p:cNvPr id="3" name="">
            <a:extLst xmlns:a="http://schemas.openxmlformats.org/drawingml/2006/main">
              <a:ext uri="{FF2B5EF4-FFF2-40B4-BE49-F238E27FC236}">
                <a16:creationId xmlns:a16="http://schemas.microsoft.com/office/drawing/2014/main" id="{A9EA3A0E-1590-4783-AF19-269BF17103B0}"/>
              </a:ext>
            </a:extLst>
          </p:cNvPr>
          <p:cNvSpPr>
            <a:spLocks xmlns:a="http://schemas.openxmlformats.org/drawingml/2006/main" noGrp="1"/>
          </p:cNvSpPr>
          <p:nvPr/>
        </p:nvSpPr>
        <p:spPr>
          <a:xfrm xmlns:a="http://schemas.openxmlformats.org/drawingml/2006/main">
            <a:off x="647700" y="1381125"/>
            <a:ext cx="571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900" b="1">
                <a:solidFill>
                  <a:srgbClr val="FFFFFF"/>
                </a:solidFill>
              </a:defRPr>
            </a:pPr>
            <a:r>
              <a:rPr sz="3900" b="1">
                <a:solidFill>
                  <a:srgbClr val="FFFFFF"/>
                </a:solidFill>
              </a:rPr>
              <a:t>Ambient Enforcement for Agent-Speed Cybersecurity</a:t>
            </a:r>
          </a:p>
        </p:txBody>
      </p:sp>
      <p:sp>
        <p:nvSpPr>
          <p:cNvPr id="4" name="">
            <a:extLst xmlns:a="http://schemas.openxmlformats.org/drawingml/2006/main">
              <a:ext uri="{FF2B5EF4-FFF2-40B4-BE49-F238E27FC236}">
                <a16:creationId xmlns:a16="http://schemas.microsoft.com/office/drawing/2014/main" id="{5F5ADDF6-FF66-4E0E-85A0-8FB2175B1950}"/>
              </a:ext>
            </a:extLst>
          </p:cNvPr>
          <p:cNvSpPr>
            <a:spLocks xmlns:a="http://schemas.openxmlformats.org/drawingml/2006/main" noGrp="1"/>
          </p:cNvSpPr>
          <p:nvPr/>
        </p:nvSpPr>
        <p:spPr>
          <a:xfrm xmlns:a="http://schemas.openxmlformats.org/drawingml/2006/main">
            <a:off x="685800" y="33337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D7E6FA"/>
                </a:solidFill>
              </a:defRPr>
            </a:pPr>
            <a:r>
              <a:rPr sz="1725" b="0">
                <a:solidFill>
                  <a:srgbClr val="D7E6FA"/>
                </a:solidFill>
              </a:rPr>
              <a:t>Kinetic Infrastructure Layer (KIL) — a proposed KTP extension profile</a:t>
            </a:r>
          </a:p>
        </p:txBody>
      </p:sp>
      <p:sp>
        <p:nvSpPr>
          <p:cNvPr id="5" name="">
            <a:extLst xmlns:a="http://schemas.openxmlformats.org/drawingml/2006/main">
              <a:ext uri="{FF2B5EF4-FFF2-40B4-BE49-F238E27FC236}">
                <a16:creationId xmlns:a16="http://schemas.microsoft.com/office/drawing/2014/main" id="{B180B561-2224-4EF3-8D89-13ACB7F375D6}"/>
              </a:ext>
            </a:extLst>
          </p:cNvPr>
          <p:cNvSpPr>
            <a:spLocks xmlns:a="http://schemas.openxmlformats.org/drawingml/2006/main" noGrp="1"/>
          </p:cNvSpPr>
          <p:nvPr/>
        </p:nvSpPr>
        <p:spPr>
          <a:xfrm xmlns:a="http://schemas.openxmlformats.org/drawingml/2006/main">
            <a:off x="11334750" y="3238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FFFFFF"/>
                </a:solidFill>
              </a:defRPr>
            </a:pPr>
            <a:r>
              <a:rPr sz="1050" b="1">
                <a:solidFill>
                  <a:srgbClr val="FFFFFF"/>
                </a:solidFill>
              </a:rPr>
              <a:t>C</a:t>
            </a:r>
          </a:p>
        </p:txBody>
      </p:sp>
      <p:sp>
        <p:nvSpPr>
          <p:cNvPr id="6" name="">
            <a:extLst xmlns:a="http://schemas.openxmlformats.org/drawingml/2006/main">
              <a:ext uri="{FF2B5EF4-FFF2-40B4-BE49-F238E27FC236}">
                <a16:creationId xmlns:a16="http://schemas.microsoft.com/office/drawing/2014/main" id="{D6B12E17-C329-4B8C-9CFE-761C3CB5F99B}"/>
              </a:ext>
            </a:extLst>
          </p:cNvPr>
          <p:cNvSpPr>
            <a:spLocks xmlns:a="http://schemas.openxmlformats.org/drawingml/2006/main" noGrp="1"/>
          </p:cNvSpPr>
          <p:nvPr/>
        </p:nvSpPr>
        <p:spPr>
          <a:xfrm xmlns:a="http://schemas.openxmlformats.org/drawingml/2006/main">
            <a:off x="685800" y="53816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61A8FF"/>
                </a:solidFill>
              </a:defRPr>
            </a:pPr>
            <a:r>
              <a:rPr sz="900" b="1">
                <a:solidFill>
                  <a:srgbClr val="61A8FF"/>
                </a:solidFill>
              </a:rPr>
              <a:t>AUTHOR &amp; FOUNDER</a:t>
            </a:r>
          </a:p>
        </p:txBody>
      </p:sp>
      <p:sp>
        <p:nvSpPr>
          <p:cNvPr id="7" name="">
            <a:extLst xmlns:a="http://schemas.openxmlformats.org/drawingml/2006/main">
              <a:ext uri="{FF2B5EF4-FFF2-40B4-BE49-F238E27FC236}">
                <a16:creationId xmlns:a16="http://schemas.microsoft.com/office/drawing/2014/main" id="{1E5208AE-41BA-40A8-86C2-DE861456B5E9}"/>
              </a:ext>
            </a:extLst>
          </p:cNvPr>
          <p:cNvSpPr>
            <a:spLocks xmlns:a="http://schemas.openxmlformats.org/drawingml/2006/main" noGrp="1"/>
          </p:cNvSpPr>
          <p:nvPr/>
        </p:nvSpPr>
        <p:spPr>
          <a:xfrm xmlns:a="http://schemas.openxmlformats.org/drawingml/2006/main">
            <a:off x="685800" y="56197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Storm Swendsboe</a:t>
            </a:r>
          </a:p>
        </p:txBody>
      </p:sp>
    </p:spTree>
    <p:extLst>
      <p:ext uri="{BB962C8B-B14F-4D97-AF65-F5344CB8AC3E}">
        <p14:creationId xmlns:p14="http://schemas.microsoft.com/office/powerpoint/2010/main" val="1475246524"/>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2E5AFD1-7426-440C-899C-22CF86F4F58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50B15B63-D432-4405-B1CA-D0623D7F0C2F}"/>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6A2486D4-CA02-4310-B486-2BC9B85CE07E}"/>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5B23C548-3187-4F8A-B2B8-430BE912EEDC}"/>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B97E8677-3913-4D64-9256-69427C236336}"/>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9513D30E-989D-4FD5-88D7-AFFD1F77696C}"/>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5511AE01-A8AD-4097-AFD0-C982F4858355}"/>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0719CF65-5EE3-40AF-817C-B3E00CDD86D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4E133EED-B65C-4C80-990E-473DB414DE76}"/>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470ADC14-7678-451F-8C68-58A1ED2404D1}"/>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15090010-F136-4BD1-A7E0-3C0F1E502B90}"/>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2B7C8523-6706-4A2D-92A7-08C9882A35C0}"/>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525DF03A-DAB0-4F60-B18B-66885B74E4A5}"/>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D1C4632F-B43D-483C-946E-14D52FE9988E}"/>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E4FE95AC-B8AF-4F1F-B6A2-12CB5690BD71}"/>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8834B628-8389-492C-9237-C1DC5982F51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9D6EA2E9-F630-49ED-A21B-421F1272E52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29D63C15-BB12-4BC9-BF48-F1C62AC3312E}"/>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C3644F7F-909A-4F0A-8CC1-9BB72DCF7831}"/>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D45FF100-C1CD-4BB9-9431-A2642C47142F}"/>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1A2BF832-9FAF-4436-83F3-FB124F2564A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92943241-9445-426C-97DD-9FB95DA5FE90}"/>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3CBAAF94-71A6-43D1-BFD9-36ED40BBFB1B}"/>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C807C882-F755-4949-817F-62A3F6102059}"/>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5CFE375B-EE3F-48A4-B0B8-9527387D62FB}"/>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944137E4-65D8-47AB-9F1C-B5538A5A0E97}"/>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B365628F-804F-49D0-A7D1-2A020737F341}"/>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AFA7F7EB-4AE5-4009-BDB8-3A13E32CA998}"/>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D42A958D-1ADE-457E-9CE6-B505808DE3D9}"/>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114DEAE4-649A-4E9C-879D-E0D4425FD306}"/>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3BF534EC-EFE6-4A7E-87D0-B8F7952E3A8C}"/>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BDF28B19-8A57-4378-9933-60332E8CFA28}"/>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30F8028B-EF73-4B3C-8D58-E6FB96D1E8C4}"/>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Cybersecurity has crossed from ambient threat into ambient breach</a:t>
            </a:r>
          </a:p>
        </p:txBody>
      </p:sp>
      <p:sp>
        <p:nvSpPr>
          <p:cNvPr id="34" name="">
            <a:extLst xmlns:a="http://schemas.openxmlformats.org/drawingml/2006/main">
              <a:ext uri="{FF2B5EF4-FFF2-40B4-BE49-F238E27FC236}">
                <a16:creationId xmlns:a16="http://schemas.microsoft.com/office/drawing/2014/main" id="{3D67E89B-73F4-41FF-98DF-6FB51A47ED81}"/>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F1</a:t>
            </a:r>
          </a:p>
        </p:txBody>
      </p:sp>
      <p:sp>
        <p:nvSpPr>
          <p:cNvPr id="35" name="">
            <a:extLst xmlns:a="http://schemas.openxmlformats.org/drawingml/2006/main">
              <a:ext uri="{FF2B5EF4-FFF2-40B4-BE49-F238E27FC236}">
                <a16:creationId xmlns:a16="http://schemas.microsoft.com/office/drawing/2014/main" id="{771881B7-3CE9-4876-9246-D4B74E0E31BA}"/>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6" name="">
            <a:extLst xmlns:a="http://schemas.openxmlformats.org/drawingml/2006/main">
              <a:ext uri="{FF2B5EF4-FFF2-40B4-BE49-F238E27FC236}">
                <a16:creationId xmlns:a16="http://schemas.microsoft.com/office/drawing/2014/main" id="{0CA8552D-CC16-4F9D-9F6E-6E9350E3C530}"/>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FOUNDATION</a:t>
            </a:r>
          </a:p>
        </p:txBody>
      </p:sp>
      <p:sp>
        <p:nvSpPr>
          <p:cNvPr id="37" name="">
            <a:extLst xmlns:a="http://schemas.openxmlformats.org/drawingml/2006/main">
              <a:ext uri="{FF2B5EF4-FFF2-40B4-BE49-F238E27FC236}">
                <a16:creationId xmlns:a16="http://schemas.microsoft.com/office/drawing/2014/main" id="{1FFBCD23-250F-4B2C-8532-5056A18DDC49}"/>
              </a:ext>
            </a:extLst>
          </p:cNvPr>
          <p:cNvSpPr>
            <a:spLocks xmlns:a="http://schemas.openxmlformats.org/drawingml/2006/main" noGrp="1"/>
          </p:cNvSpPr>
          <p:nvPr/>
        </p:nvSpPr>
        <p:spPr>
          <a:xfrm xmlns:a="http://schemas.openxmlformats.org/drawingml/2006/main">
            <a:off x="666750" y="204787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00" b="1">
                <a:solidFill>
                  <a:srgbClr val="91A0B4"/>
                </a:solidFill>
              </a:defRPr>
            </a:pPr>
            <a:r>
              <a:rPr sz="2100" b="1">
                <a:solidFill>
                  <a:srgbClr val="91A0B4"/>
                </a:solidFill>
              </a:rPr>
              <a:t>AMBIENT RISK</a:t>
            </a:r>
          </a:p>
        </p:txBody>
      </p:sp>
      <p:sp>
        <p:nvSpPr>
          <p:cNvPr id="38" name="">
            <a:extLst xmlns:a="http://schemas.openxmlformats.org/drawingml/2006/main">
              <a:ext uri="{FF2B5EF4-FFF2-40B4-BE49-F238E27FC236}">
                <a16:creationId xmlns:a16="http://schemas.microsoft.com/office/drawing/2014/main" id="{CF4C2D2C-B634-40CE-ACD9-760CCAB9E1A3}"/>
              </a:ext>
            </a:extLst>
          </p:cNvPr>
          <p:cNvSpPr>
            <a:spLocks xmlns:a="http://schemas.openxmlformats.org/drawingml/2006/main" noGrp="1"/>
          </p:cNvSpPr>
          <p:nvPr/>
        </p:nvSpPr>
        <p:spPr>
          <a:xfrm xmlns:a="http://schemas.openxmlformats.org/drawingml/2006/main" rot="0">
            <a:off x="3333750" y="2305050"/>
            <a:ext cx="1333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39" name="">
            <a:extLst xmlns:a="http://schemas.openxmlformats.org/drawingml/2006/main">
              <a:ext uri="{FF2B5EF4-FFF2-40B4-BE49-F238E27FC236}">
                <a16:creationId xmlns:a16="http://schemas.microsoft.com/office/drawing/2014/main" id="{957AB020-7706-45CD-8296-5730F8E6A8A1}"/>
              </a:ext>
            </a:extLst>
          </p:cNvPr>
          <p:cNvSpPr>
            <a:spLocks xmlns:a="http://schemas.openxmlformats.org/drawingml/2006/main" noGrp="1"/>
          </p:cNvSpPr>
          <p:nvPr/>
        </p:nvSpPr>
        <p:spPr>
          <a:xfrm xmlns:a="http://schemas.openxmlformats.org/drawingml/2006/main" rot="5400000">
            <a:off x="4572000" y="221932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40" name="">
            <a:extLst xmlns:a="http://schemas.openxmlformats.org/drawingml/2006/main">
              <a:ext uri="{FF2B5EF4-FFF2-40B4-BE49-F238E27FC236}">
                <a16:creationId xmlns:a16="http://schemas.microsoft.com/office/drawing/2014/main" id="{96382EF8-DFDF-4C3F-8A5F-36A36FA45247}"/>
              </a:ext>
            </a:extLst>
          </p:cNvPr>
          <p:cNvSpPr>
            <a:spLocks xmlns:a="http://schemas.openxmlformats.org/drawingml/2006/main" noGrp="1"/>
          </p:cNvSpPr>
          <p:nvPr/>
        </p:nvSpPr>
        <p:spPr>
          <a:xfrm xmlns:a="http://schemas.openxmlformats.org/drawingml/2006/main">
            <a:off x="4762500" y="204787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00" b="1">
                <a:solidFill>
                  <a:srgbClr val="D7473F"/>
                </a:solidFill>
              </a:defRPr>
            </a:pPr>
            <a:r>
              <a:rPr sz="2100" b="1">
                <a:solidFill>
                  <a:srgbClr val="D7473F"/>
                </a:solidFill>
              </a:rPr>
              <a:t>AMBIENT THREAT</a:t>
            </a:r>
          </a:p>
        </p:txBody>
      </p:sp>
      <p:sp>
        <p:nvSpPr>
          <p:cNvPr id="41" name="">
            <a:extLst xmlns:a="http://schemas.openxmlformats.org/drawingml/2006/main">
              <a:ext uri="{FF2B5EF4-FFF2-40B4-BE49-F238E27FC236}">
                <a16:creationId xmlns:a16="http://schemas.microsoft.com/office/drawing/2014/main" id="{2E032B05-FE41-4872-B7B5-095477FE6A94}"/>
              </a:ext>
            </a:extLst>
          </p:cNvPr>
          <p:cNvSpPr>
            <a:spLocks xmlns:a="http://schemas.openxmlformats.org/drawingml/2006/main" noGrp="1"/>
          </p:cNvSpPr>
          <p:nvPr/>
        </p:nvSpPr>
        <p:spPr>
          <a:xfrm xmlns:a="http://schemas.openxmlformats.org/drawingml/2006/main" rot="0">
            <a:off x="7810500" y="2305050"/>
            <a:ext cx="119062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2" name="">
            <a:extLst xmlns:a="http://schemas.openxmlformats.org/drawingml/2006/main">
              <a:ext uri="{FF2B5EF4-FFF2-40B4-BE49-F238E27FC236}">
                <a16:creationId xmlns:a16="http://schemas.microsoft.com/office/drawing/2014/main" id="{80BEA2B7-701F-483D-8126-F9165291EBAE}"/>
              </a:ext>
            </a:extLst>
          </p:cNvPr>
          <p:cNvSpPr>
            <a:spLocks xmlns:a="http://schemas.openxmlformats.org/drawingml/2006/main" noGrp="1"/>
          </p:cNvSpPr>
          <p:nvPr/>
        </p:nvSpPr>
        <p:spPr>
          <a:xfrm xmlns:a="http://schemas.openxmlformats.org/drawingml/2006/main" rot="5400000">
            <a:off x="8905875" y="2219325"/>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3" name="">
            <a:extLst xmlns:a="http://schemas.openxmlformats.org/drawingml/2006/main">
              <a:ext uri="{FF2B5EF4-FFF2-40B4-BE49-F238E27FC236}">
                <a16:creationId xmlns:a16="http://schemas.microsoft.com/office/drawing/2014/main" id="{71D53FBA-750D-449D-8DE2-5E71B6FA7A78}"/>
              </a:ext>
            </a:extLst>
          </p:cNvPr>
          <p:cNvSpPr>
            <a:spLocks xmlns:a="http://schemas.openxmlformats.org/drawingml/2006/main" noGrp="1"/>
          </p:cNvSpPr>
          <p:nvPr/>
        </p:nvSpPr>
        <p:spPr>
          <a:xfrm xmlns:a="http://schemas.openxmlformats.org/drawingml/2006/main">
            <a:off x="9096375" y="19526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250" b="1">
                <a:solidFill>
                  <a:srgbClr val="FFFFFF"/>
                </a:solidFill>
              </a:defRPr>
            </a:pPr>
            <a:r>
              <a:rPr sz="2250" b="1">
                <a:solidFill>
                  <a:srgbClr val="FFFFFF"/>
                </a:solidFill>
              </a:rPr>
              <a:t>AMBIENT BREACH</a:t>
            </a:r>
          </a:p>
        </p:txBody>
      </p:sp>
      <p:sp>
        <p:nvSpPr>
          <p:cNvPr id="44" name="">
            <a:extLst xmlns:a="http://schemas.openxmlformats.org/drawingml/2006/main">
              <a:ext uri="{FF2B5EF4-FFF2-40B4-BE49-F238E27FC236}">
                <a16:creationId xmlns:a16="http://schemas.microsoft.com/office/drawing/2014/main" id="{017A840A-1B7D-45EE-BF78-A3D835C3E331}"/>
              </a:ext>
            </a:extLst>
          </p:cNvPr>
          <p:cNvSpPr>
            <a:spLocks xmlns:a="http://schemas.openxmlformats.org/drawingml/2006/main" noGrp="1"/>
          </p:cNvSpPr>
          <p:nvPr/>
        </p:nvSpPr>
        <p:spPr>
          <a:xfrm xmlns:a="http://schemas.openxmlformats.org/drawingml/2006/main">
            <a:off x="8953500" y="1809750"/>
            <a:ext cx="2714625" cy="90487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5" name="">
            <a:extLst xmlns:a="http://schemas.openxmlformats.org/drawingml/2006/main">
              <a:ext uri="{FF2B5EF4-FFF2-40B4-BE49-F238E27FC236}">
                <a16:creationId xmlns:a16="http://schemas.microsoft.com/office/drawing/2014/main" id="{B816D1C1-735B-417A-BFB5-8CC14385B0BC}"/>
              </a:ext>
            </a:extLst>
          </p:cNvPr>
          <p:cNvSpPr>
            <a:spLocks xmlns:a="http://schemas.openxmlformats.org/drawingml/2006/main" noGrp="1"/>
          </p:cNvSpPr>
          <p:nvPr/>
        </p:nvSpPr>
        <p:spPr>
          <a:xfrm xmlns:a="http://schemas.openxmlformats.org/drawingml/2006/main">
            <a:off x="1143000" y="3381375"/>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625" b="1">
                <a:solidFill>
                  <a:srgbClr val="081426"/>
                </a:solidFill>
              </a:defRPr>
            </a:pPr>
            <a:r>
              <a:rPr sz="2625" b="1">
                <a:solidFill>
                  <a:srgbClr val="081426"/>
                </a:solidFill>
              </a:rPr>
              <a:t>The inability to distinguish service from attack</a:t>
            </a:r>
          </a:p>
        </p:txBody>
      </p:sp>
      <p:sp>
        <p:nvSpPr>
          <p:cNvPr id="46" name="">
            <a:extLst xmlns:a="http://schemas.openxmlformats.org/drawingml/2006/main">
              <a:ext uri="{FF2B5EF4-FFF2-40B4-BE49-F238E27FC236}">
                <a16:creationId xmlns:a16="http://schemas.microsoft.com/office/drawing/2014/main" id="{AFD11C33-EF2F-4874-996A-05C728D3E255}"/>
              </a:ext>
            </a:extLst>
          </p:cNvPr>
          <p:cNvSpPr>
            <a:spLocks xmlns:a="http://schemas.openxmlformats.org/drawingml/2006/main" noGrp="1"/>
          </p:cNvSpPr>
          <p:nvPr/>
        </p:nvSpPr>
        <p:spPr>
          <a:xfrm xmlns:a="http://schemas.openxmlformats.org/drawingml/2006/main">
            <a:off x="1952625" y="4191000"/>
            <a:ext cx="828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725" b="0">
                <a:solidFill>
                  <a:srgbClr val="37465B"/>
                </a:solidFill>
              </a:defRPr>
            </a:pPr>
            <a:r>
              <a:rPr sz="1725" b="0">
                <a:solidFill>
                  <a:srgbClr val="37465B"/>
                </a:solidFill>
              </a:rPr>
              <a:t>Acting without verified trust — epistemic A &gt; E — at autonomous, machine-rate scale.</a:t>
            </a:r>
          </a:p>
        </p:txBody>
      </p:sp>
    </p:spTree>
    <p:extLst>
      <p:ext uri="{BB962C8B-B14F-4D97-AF65-F5344CB8AC3E}">
        <p14:creationId xmlns:p14="http://schemas.microsoft.com/office/powerpoint/2010/main" val="81775982"/>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99F69275-50D5-4567-87F6-715D2715E16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9D1CE6A6-FAD6-437A-A626-A3BB76854B8A}"/>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2D4CB320-485B-4F84-80B5-EC5716E01D77}"/>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DF9C236C-828C-4C69-9E33-B13CFC47BED7}"/>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C04DB17A-B4E8-40FE-8BD4-CA52E55D04E3}"/>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CBCE2A0C-027B-4BBC-883E-EDA6E51B303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F3C3CD56-D03E-4DFC-853A-9688667366D4}"/>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252EC22D-96E4-4135-BF0B-58153A6B62CA}"/>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C8867AD7-E8A4-4DC2-9B23-07B559340C5F}"/>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83E958D3-54E3-437D-AA7C-26E913E1ED88}"/>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ED514A2B-198A-4C13-8636-67CD6001988F}"/>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40D2CC10-78E8-43B0-B348-AB4C77A52BE7}"/>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6C159AAC-61F9-44F8-B734-05EED89C987E}"/>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D40006F4-243A-4089-963A-341AE75119B1}"/>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C719295B-07F4-485D-846F-63E32A4CBAC2}"/>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4BFBFEBE-63A2-4F79-863B-31F08C679E2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7FF0730D-2F83-4A8B-9A6B-2454775924DA}"/>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A03CF6D7-B410-474B-BF1A-9C6AF228190B}"/>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472E84FC-D626-4F60-8FD4-4CBD86043B89}"/>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17FEFA8E-6925-4AD5-8D7B-6E9C371244AE}"/>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7EC55EFA-FC6E-437A-83CF-59EDD269A5E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41FC9370-43C3-4740-B8C0-062064A1A89F}"/>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A0B28DD3-C7A8-4002-8525-7EB686C383BE}"/>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34087775-8A5A-4FAA-B26C-1B4F6A1F0020}"/>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F289BBE9-3C0F-4FF0-A1B0-36E42B5EAD89}"/>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5AF326F3-03A0-4ACA-AC33-56D02B703A14}"/>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59E887ED-141C-40CA-BB29-A4F95ED8B774}"/>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671126D3-B628-4347-92A9-9537AAE53B82}"/>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D9E25C0B-7D21-45F8-8C5D-A8B020546123}"/>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5322BBAB-3CF4-4186-BEEC-80436C97D573}"/>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C36EC4E3-2BD8-4AAB-B35A-F7D5595AFECC}"/>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FBEFC796-6EC3-4444-86E9-0F90626F2BA4}"/>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A9A08389-18C6-4960-96B4-6168E19C9278}"/>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Credential validity cannot establish behavioral legitimacy</a:t>
            </a:r>
          </a:p>
        </p:txBody>
      </p:sp>
      <p:sp>
        <p:nvSpPr>
          <p:cNvPr id="34" name="">
            <a:extLst xmlns:a="http://schemas.openxmlformats.org/drawingml/2006/main">
              <a:ext uri="{FF2B5EF4-FFF2-40B4-BE49-F238E27FC236}">
                <a16:creationId xmlns:a16="http://schemas.microsoft.com/office/drawing/2014/main" id="{42B38127-B401-4E35-8001-3E964099FCC6}"/>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F2</a:t>
            </a:r>
          </a:p>
        </p:txBody>
      </p:sp>
      <p:sp>
        <p:nvSpPr>
          <p:cNvPr id="35" name="">
            <a:extLst xmlns:a="http://schemas.openxmlformats.org/drawingml/2006/main">
              <a:ext uri="{FF2B5EF4-FFF2-40B4-BE49-F238E27FC236}">
                <a16:creationId xmlns:a16="http://schemas.microsoft.com/office/drawing/2014/main" id="{99B7F213-7164-4239-9B32-4D5E73D9B61E}"/>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6" name="">
            <a:extLst xmlns:a="http://schemas.openxmlformats.org/drawingml/2006/main">
              <a:ext uri="{FF2B5EF4-FFF2-40B4-BE49-F238E27FC236}">
                <a16:creationId xmlns:a16="http://schemas.microsoft.com/office/drawing/2014/main" id="{E7802EA9-7997-43C3-9630-ACFF6A86517D}"/>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FOUNDATION</a:t>
            </a:r>
          </a:p>
        </p:txBody>
      </p:sp>
      <p:sp>
        <p:nvSpPr>
          <p:cNvPr id="37" name="">
            <a:extLst xmlns:a="http://schemas.openxmlformats.org/drawingml/2006/main">
              <a:ext uri="{FF2B5EF4-FFF2-40B4-BE49-F238E27FC236}">
                <a16:creationId xmlns:a16="http://schemas.microsoft.com/office/drawing/2014/main" id="{8A5E9925-A02E-44A5-8215-0265F0671504}"/>
              </a:ext>
            </a:extLst>
          </p:cNvPr>
          <p:cNvSpPr>
            <a:spLocks xmlns:a="http://schemas.openxmlformats.org/drawingml/2006/main" noGrp="1"/>
          </p:cNvSpPr>
          <p:nvPr/>
        </p:nvSpPr>
        <p:spPr>
          <a:xfrm xmlns:a="http://schemas.openxmlformats.org/drawingml/2006/main">
            <a:off x="952500" y="2714625"/>
            <a:ext cx="19050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2F9B69"/>
            </a:solidFill>
          </a:ln>
        </p:spPr>
      </p:sp>
      <p:sp>
        <p:nvSpPr>
          <p:cNvPr id="38" name="">
            <a:extLst xmlns:a="http://schemas.openxmlformats.org/drawingml/2006/main">
              <a:ext uri="{FF2B5EF4-FFF2-40B4-BE49-F238E27FC236}">
                <a16:creationId xmlns:a16="http://schemas.microsoft.com/office/drawing/2014/main" id="{585C38E8-C860-4B1E-9D90-F566DA4D4D33}"/>
              </a:ext>
            </a:extLst>
          </p:cNvPr>
          <p:cNvSpPr>
            <a:spLocks xmlns:a="http://schemas.openxmlformats.org/drawingml/2006/main" noGrp="1"/>
          </p:cNvSpPr>
          <p:nvPr/>
        </p:nvSpPr>
        <p:spPr>
          <a:xfrm xmlns:a="http://schemas.openxmlformats.org/drawingml/2006/main">
            <a:off x="952500" y="2714625"/>
            <a:ext cx="66675" cy="85725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39" name="">
            <a:extLst xmlns:a="http://schemas.openxmlformats.org/drawingml/2006/main">
              <a:ext uri="{FF2B5EF4-FFF2-40B4-BE49-F238E27FC236}">
                <a16:creationId xmlns:a16="http://schemas.microsoft.com/office/drawing/2014/main" id="{FABBBC3C-71F5-451B-8A2E-A361D1E130AD}"/>
              </a:ext>
            </a:extLst>
          </p:cNvPr>
          <p:cNvSpPr>
            <a:spLocks xmlns:a="http://schemas.openxmlformats.org/drawingml/2006/main" noGrp="1"/>
          </p:cNvSpPr>
          <p:nvPr/>
        </p:nvSpPr>
        <p:spPr>
          <a:xfrm xmlns:a="http://schemas.openxmlformats.org/drawingml/2006/main">
            <a:off x="1114425" y="2790825"/>
            <a:ext cx="1638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SIGNED TOKEN</a:t>
            </a:r>
          </a:p>
        </p:txBody>
      </p:sp>
      <p:sp>
        <p:nvSpPr>
          <p:cNvPr id="40" name="">
            <a:extLst xmlns:a="http://schemas.openxmlformats.org/drawingml/2006/main">
              <a:ext uri="{FF2B5EF4-FFF2-40B4-BE49-F238E27FC236}">
                <a16:creationId xmlns:a16="http://schemas.microsoft.com/office/drawing/2014/main" id="{35403815-3A86-47D8-B4A6-DCDC3C97F7E0}"/>
              </a:ext>
            </a:extLst>
          </p:cNvPr>
          <p:cNvSpPr>
            <a:spLocks xmlns:a="http://schemas.openxmlformats.org/drawingml/2006/main" noGrp="1"/>
          </p:cNvSpPr>
          <p:nvPr/>
        </p:nvSpPr>
        <p:spPr>
          <a:xfrm xmlns:a="http://schemas.openxmlformats.org/drawingml/2006/main" rot="0">
            <a:off x="2857500" y="3143250"/>
            <a:ext cx="1905000" cy="47625"/>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41" name="">
            <a:extLst xmlns:a="http://schemas.openxmlformats.org/drawingml/2006/main">
              <a:ext uri="{FF2B5EF4-FFF2-40B4-BE49-F238E27FC236}">
                <a16:creationId xmlns:a16="http://schemas.microsoft.com/office/drawing/2014/main" id="{F21D1C63-1C26-4788-AFAC-82B052BDDC48}"/>
              </a:ext>
            </a:extLst>
          </p:cNvPr>
          <p:cNvSpPr>
            <a:spLocks xmlns:a="http://schemas.openxmlformats.org/drawingml/2006/main" noGrp="1"/>
          </p:cNvSpPr>
          <p:nvPr/>
        </p:nvSpPr>
        <p:spPr>
          <a:xfrm xmlns:a="http://schemas.openxmlformats.org/drawingml/2006/main" rot="5400000">
            <a:off x="4667250" y="3057525"/>
            <a:ext cx="190500" cy="171450"/>
          </a:xfrm>
          <a:prstGeom xmlns:a="http://schemas.openxmlformats.org/drawingml/2006/main" prst="triangle">
            <a:avLst/>
          </a:prstGeom>
          <a:solidFill xmlns:a="http://schemas.openxmlformats.org/drawingml/2006/main">
            <a:srgbClr val="2F9B69"/>
          </a:solidFill>
          <a:ln xmlns:a="http://schemas.openxmlformats.org/drawingml/2006/main" w="0">
            <a:solidFill>
              <a:srgbClr val="2F9B69"/>
            </a:solidFill>
          </a:ln>
        </p:spPr>
      </p:sp>
      <p:sp>
        <p:nvSpPr>
          <p:cNvPr id="42" name="">
            <a:extLst xmlns:a="http://schemas.openxmlformats.org/drawingml/2006/main">
              <a:ext uri="{FF2B5EF4-FFF2-40B4-BE49-F238E27FC236}">
                <a16:creationId xmlns:a16="http://schemas.microsoft.com/office/drawing/2014/main" id="{4BBF7CE3-1E3D-4078-84F4-D39ACE95B297}"/>
              </a:ext>
            </a:extLst>
          </p:cNvPr>
          <p:cNvSpPr>
            <a:spLocks xmlns:a="http://schemas.openxmlformats.org/drawingml/2006/main" noGrp="1"/>
          </p:cNvSpPr>
          <p:nvPr/>
        </p:nvSpPr>
        <p:spPr>
          <a:xfrm xmlns:a="http://schemas.openxmlformats.org/drawingml/2006/main">
            <a:off x="4762500" y="2714625"/>
            <a:ext cx="20955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2F9B69"/>
            </a:solidFill>
          </a:ln>
        </p:spPr>
      </p:sp>
      <p:sp>
        <p:nvSpPr>
          <p:cNvPr id="43" name="">
            <a:extLst xmlns:a="http://schemas.openxmlformats.org/drawingml/2006/main">
              <a:ext uri="{FF2B5EF4-FFF2-40B4-BE49-F238E27FC236}">
                <a16:creationId xmlns:a16="http://schemas.microsoft.com/office/drawing/2014/main" id="{74245538-99F2-4097-9CB0-AE3CE21C55AA}"/>
              </a:ext>
            </a:extLst>
          </p:cNvPr>
          <p:cNvSpPr>
            <a:spLocks xmlns:a="http://schemas.openxmlformats.org/drawingml/2006/main" noGrp="1"/>
          </p:cNvSpPr>
          <p:nvPr/>
        </p:nvSpPr>
        <p:spPr>
          <a:xfrm xmlns:a="http://schemas.openxmlformats.org/drawingml/2006/main">
            <a:off x="4762500" y="2714625"/>
            <a:ext cx="66675" cy="85725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44" name="">
            <a:extLst xmlns:a="http://schemas.openxmlformats.org/drawingml/2006/main">
              <a:ext uri="{FF2B5EF4-FFF2-40B4-BE49-F238E27FC236}">
                <a16:creationId xmlns:a16="http://schemas.microsoft.com/office/drawing/2014/main" id="{C451E55C-8254-48CB-B50B-5D7065136BF7}"/>
              </a:ext>
            </a:extLst>
          </p:cNvPr>
          <p:cNvSpPr>
            <a:spLocks xmlns:a="http://schemas.openxmlformats.org/drawingml/2006/main" noGrp="1"/>
          </p:cNvSpPr>
          <p:nvPr/>
        </p:nvSpPr>
        <p:spPr>
          <a:xfrm xmlns:a="http://schemas.openxmlformats.org/drawingml/2006/main">
            <a:off x="4924425" y="2790825"/>
            <a:ext cx="1828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VALID + ALLOWED</a:t>
            </a:r>
          </a:p>
        </p:txBody>
      </p:sp>
      <p:sp>
        <p:nvSpPr>
          <p:cNvPr id="45" name="">
            <a:extLst xmlns:a="http://schemas.openxmlformats.org/drawingml/2006/main">
              <a:ext uri="{FF2B5EF4-FFF2-40B4-BE49-F238E27FC236}">
                <a16:creationId xmlns:a16="http://schemas.microsoft.com/office/drawing/2014/main" id="{F2863D59-D23C-483B-8DF8-83D59F0CE499}"/>
              </a:ext>
            </a:extLst>
          </p:cNvPr>
          <p:cNvSpPr>
            <a:spLocks xmlns:a="http://schemas.openxmlformats.org/drawingml/2006/main" noGrp="1"/>
          </p:cNvSpPr>
          <p:nvPr/>
        </p:nvSpPr>
        <p:spPr>
          <a:xfrm xmlns:a="http://schemas.openxmlformats.org/drawingml/2006/main" rot="0">
            <a:off x="6858000" y="3143250"/>
            <a:ext cx="1714500"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6" name="">
            <a:extLst xmlns:a="http://schemas.openxmlformats.org/drawingml/2006/main">
              <a:ext uri="{FF2B5EF4-FFF2-40B4-BE49-F238E27FC236}">
                <a16:creationId xmlns:a16="http://schemas.microsoft.com/office/drawing/2014/main" id="{19660E19-4703-488F-847A-4527DD577A0E}"/>
              </a:ext>
            </a:extLst>
          </p:cNvPr>
          <p:cNvSpPr>
            <a:spLocks xmlns:a="http://schemas.openxmlformats.org/drawingml/2006/main" noGrp="1"/>
          </p:cNvSpPr>
          <p:nvPr/>
        </p:nvSpPr>
        <p:spPr>
          <a:xfrm xmlns:a="http://schemas.openxmlformats.org/drawingml/2006/main" rot="5400000">
            <a:off x="8477250" y="3057525"/>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7" name="">
            <a:extLst xmlns:a="http://schemas.openxmlformats.org/drawingml/2006/main">
              <a:ext uri="{FF2B5EF4-FFF2-40B4-BE49-F238E27FC236}">
                <a16:creationId xmlns:a16="http://schemas.microsoft.com/office/drawing/2014/main" id="{0619EE8E-40AC-4251-A863-2C6C8F2887CE}"/>
              </a:ext>
            </a:extLst>
          </p:cNvPr>
          <p:cNvSpPr>
            <a:spLocks xmlns:a="http://schemas.openxmlformats.org/drawingml/2006/main" noGrp="1"/>
          </p:cNvSpPr>
          <p:nvPr/>
        </p:nvSpPr>
        <p:spPr>
          <a:xfrm xmlns:a="http://schemas.openxmlformats.org/drawingml/2006/main">
            <a:off x="8572500" y="2524125"/>
            <a:ext cx="23812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4288">
            <a:solidFill>
              <a:srgbClr val="D7473F"/>
            </a:solidFill>
          </a:ln>
        </p:spPr>
      </p:sp>
      <p:sp>
        <p:nvSpPr>
          <p:cNvPr id="48" name="">
            <a:extLst xmlns:a="http://schemas.openxmlformats.org/drawingml/2006/main">
              <a:ext uri="{FF2B5EF4-FFF2-40B4-BE49-F238E27FC236}">
                <a16:creationId xmlns:a16="http://schemas.microsoft.com/office/drawing/2014/main" id="{52B7671A-28B0-437B-A333-E245E0A9D286}"/>
              </a:ext>
            </a:extLst>
          </p:cNvPr>
          <p:cNvSpPr>
            <a:spLocks xmlns:a="http://schemas.openxmlformats.org/drawingml/2006/main" noGrp="1"/>
          </p:cNvSpPr>
          <p:nvPr/>
        </p:nvSpPr>
        <p:spPr>
          <a:xfrm xmlns:a="http://schemas.openxmlformats.org/drawingml/2006/main">
            <a:off x="8572500" y="2524125"/>
            <a:ext cx="66675" cy="123825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9" name="">
            <a:extLst xmlns:a="http://schemas.openxmlformats.org/drawingml/2006/main">
              <a:ext uri="{FF2B5EF4-FFF2-40B4-BE49-F238E27FC236}">
                <a16:creationId xmlns:a16="http://schemas.microsoft.com/office/drawing/2014/main" id="{BC5BD621-4866-4CCC-9FA8-9EA0F9F520CB}"/>
              </a:ext>
            </a:extLst>
          </p:cNvPr>
          <p:cNvSpPr>
            <a:spLocks xmlns:a="http://schemas.openxmlformats.org/drawingml/2006/main" noGrp="1"/>
          </p:cNvSpPr>
          <p:nvPr/>
        </p:nvSpPr>
        <p:spPr>
          <a:xfrm xmlns:a="http://schemas.openxmlformats.org/drawingml/2006/main">
            <a:off x="8734425" y="2600325"/>
            <a:ext cx="2114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NOVEL ACTION</a:t>
            </a:r>
          </a:p>
          <a:p xmlns:a="http://schemas.openxmlformats.org/drawingml/2006/main">
            <a:pPr algn="ctr">
              <a:defRPr sz="1350" b="1">
                <a:solidFill>
                  <a:srgbClr val="081426"/>
                </a:solidFill>
              </a:defRPr>
            </a:pPr>
            <a:r>
              <a:rPr sz="1350" b="1">
                <a:solidFill>
                  <a:srgbClr val="081426"/>
                </a:solidFill>
              </a:rPr>
              <a:t>BRANCHES</a:t>
            </a:r>
          </a:p>
        </p:txBody>
      </p:sp>
      <p:sp>
        <p:nvSpPr>
          <p:cNvPr id="50" name="">
            <a:extLst xmlns:a="http://schemas.openxmlformats.org/drawingml/2006/main">
              <a:ext uri="{FF2B5EF4-FFF2-40B4-BE49-F238E27FC236}">
                <a16:creationId xmlns:a16="http://schemas.microsoft.com/office/drawing/2014/main" id="{7755E507-B09A-43DA-B00C-CB99E5B87305}"/>
              </a:ext>
            </a:extLst>
          </p:cNvPr>
          <p:cNvSpPr>
            <a:spLocks xmlns:a="http://schemas.openxmlformats.org/drawingml/2006/main" noGrp="1"/>
          </p:cNvSpPr>
          <p:nvPr/>
        </p:nvSpPr>
        <p:spPr>
          <a:xfrm xmlns:a="http://schemas.openxmlformats.org/drawingml/2006/main">
            <a:off x="4476750" y="20002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37465B"/>
                </a:solidFill>
              </a:defRPr>
            </a:pPr>
            <a:r>
              <a:rPr sz="1500" b="1">
                <a:solidFill>
                  <a:srgbClr val="37465B"/>
                </a:solidFill>
              </a:rPr>
              <a:t>Binary checkpoint</a:t>
            </a:r>
          </a:p>
        </p:txBody>
      </p:sp>
      <p:sp>
        <p:nvSpPr>
          <p:cNvPr id="51" name="">
            <a:extLst xmlns:a="http://schemas.openxmlformats.org/drawingml/2006/main">
              <a:ext uri="{FF2B5EF4-FFF2-40B4-BE49-F238E27FC236}">
                <a16:creationId xmlns:a16="http://schemas.microsoft.com/office/drawing/2014/main" id="{E0845EF2-F9C4-4D8E-8BAC-565C062C96DB}"/>
              </a:ext>
            </a:extLst>
          </p:cNvPr>
          <p:cNvSpPr>
            <a:spLocks xmlns:a="http://schemas.openxmlformats.org/drawingml/2006/main" noGrp="1"/>
          </p:cNvSpPr>
          <p:nvPr/>
        </p:nvSpPr>
        <p:spPr>
          <a:xfrm xmlns:a="http://schemas.openxmlformats.org/drawingml/2006/main">
            <a:off x="2095500" y="4476750"/>
            <a:ext cx="800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175" b="1">
                <a:solidFill>
                  <a:srgbClr val="081426"/>
                </a:solidFill>
              </a:defRPr>
            </a:pPr>
            <a:r>
              <a:rPr sz="2175" b="1">
                <a:solidFill>
                  <a:srgbClr val="081426"/>
                </a:solidFill>
              </a:rPr>
              <a:t>The signature can be real while the behavior is wrong.</a:t>
            </a:r>
          </a:p>
        </p:txBody>
      </p:sp>
    </p:spTree>
    <p:extLst>
      <p:ext uri="{BB962C8B-B14F-4D97-AF65-F5344CB8AC3E}">
        <p14:creationId xmlns:p14="http://schemas.microsoft.com/office/powerpoint/2010/main" val="1141554733"/>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E8A62371-9AD2-4EEF-A9E0-76497A0CC0E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335773B0-391F-4644-92E5-AAEE40A57255}"/>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0F509490-542F-410D-9635-8FC06A3FD9ED}"/>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DB45C84A-A2A6-48EF-A89A-2B21C81E61DF}"/>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DEF6C911-46F1-4974-9F59-FB673990D22A}"/>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B1D121A6-26C2-49B4-B1B6-DA680EDE74AD}"/>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0CE48E18-763D-4E5D-892B-5A160F504EAB}"/>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75464E29-EAC6-482D-962E-9215079FDB2B}"/>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C41489CC-4CB6-4048-B401-396C023B4F6E}"/>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54105A17-CEE5-4E23-AC37-74F54CD35073}"/>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9F431A3C-39BE-41E3-88F5-0A4A0EDEBA7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A3BA303E-2499-460A-8DE6-F34D0C1ED071}"/>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B8EB5E94-49C2-466B-B972-B7A896C1BDFF}"/>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A667D307-AFF3-4FD1-A12F-D48A5D4926D2}"/>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C95B5272-E0A3-4AE6-83CF-9B3A3A620237}"/>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5490AF0C-1D3A-44AA-8DFA-4AB6FAB3F6C8}"/>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F2B518E7-68A0-47F5-8E63-E4F036336987}"/>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80505DA0-0A02-453B-9411-FA8807BCA0B6}"/>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4D5D4ED0-2E82-4AF1-947A-67E9BD48D5D1}"/>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01F3AE2E-22AA-47EF-88D0-4468AD73F71B}"/>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10C42C33-6AEC-4708-B6AA-DD415F79CDB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4C58037A-F1B4-43C5-AB87-C28EB29503F2}"/>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696EEE22-9553-47C8-9AB2-B09C7A7E48F0}"/>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FEF775E7-9E53-4865-BD42-64F6506BFD8D}"/>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4A074388-25CC-4CDE-87BD-A308A3F7A426}"/>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202D017A-659F-4751-82C5-80C0E20491A2}"/>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01ADC6DD-1FBB-404D-A39F-3AE6B44FFF92}"/>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2C1A1BCE-E73E-486F-9E37-02106CA62770}"/>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CB9A8A36-CDAE-480D-980F-F54CFDC7B80B}"/>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19A2F731-6156-4DEC-B290-135C68B04466}"/>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7DF4F3CD-D82A-4C88-94CB-524371B1B25D}"/>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7B5443C1-3A7E-4C7D-8353-242975403257}"/>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8FE44CD8-50A6-49D5-9F2A-CE8D5B66991B}"/>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KIL makes fresh authority enforceable where actions become consequences</a:t>
            </a:r>
          </a:p>
        </p:txBody>
      </p:sp>
      <p:sp>
        <p:nvSpPr>
          <p:cNvPr id="34" name="">
            <a:extLst xmlns:a="http://schemas.openxmlformats.org/drawingml/2006/main">
              <a:ext uri="{FF2B5EF4-FFF2-40B4-BE49-F238E27FC236}">
                <a16:creationId xmlns:a16="http://schemas.microsoft.com/office/drawing/2014/main" id="{6F310CB9-501C-4A67-BD65-52C77A5EA29C}"/>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F3</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677fe2e0b7c440b6"/>
          <a:srcRect xmlns:a="http://schemas.openxmlformats.org/drawingml/2006/main" l="0" t="10438" r="0" b="10438"/>
          <a:stretch xmlns:a="http://schemas.openxmlformats.org/drawingml/2006/main">
            <a:fillRect l="0" t="0" r="0" b="0"/>
          </a:stretch>
        </p:blipFill>
        <p:spPr>
          <a:xfrm xmlns:a="http://schemas.openxmlformats.org/drawingml/2006/main">
            <a:off x="0" y="1428750"/>
            <a:ext cx="12192000" cy="542925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1427591A-3F99-4477-A9DE-BF171C52C875}"/>
              </a:ext>
            </a:extLst>
          </p:cNvPr>
          <p:cNvSpPr>
            <a:spLocks xmlns:a="http://schemas.openxmlformats.org/drawingml/2006/main" noGrp="1"/>
          </p:cNvSpPr>
          <p:nvPr/>
        </p:nvSpPr>
        <p:spPr>
          <a:xfrm xmlns:a="http://schemas.openxmlformats.org/drawingml/2006/main">
            <a:off x="0" y="1428750"/>
            <a:ext cx="12192000" cy="5429250"/>
          </a:xfrm>
          <a:prstGeom xmlns:a="http://schemas.openxmlformats.org/drawingml/2006/main" prst="rect">
            <a:avLst/>
          </a:prstGeom>
          <a:solidFill xmlns:a="http://schemas.openxmlformats.org/drawingml/2006/main">
            <a:srgbClr val="07152B">
              <a:alpha val="13333"/>
            </a:srgbClr>
          </a:solidFill>
          <a:ln xmlns:a="http://schemas.openxmlformats.org/drawingml/2006/main" w="14288">
            <a:solidFill>
              <a:srgbClr val="07152B">
                <a:alpha val="0"/>
              </a:srgbClr>
            </a:solidFill>
          </a:ln>
        </p:spPr>
      </p:sp>
      <p:sp>
        <p:nvSpPr>
          <p:cNvPr id="37" name="">
            <a:extLst xmlns:a="http://schemas.openxmlformats.org/drawingml/2006/main">
              <a:ext uri="{FF2B5EF4-FFF2-40B4-BE49-F238E27FC236}">
                <a16:creationId xmlns:a16="http://schemas.microsoft.com/office/drawing/2014/main" id="{93B69D25-8C54-4D86-98EC-839F0BE24866}"/>
              </a:ext>
            </a:extLst>
          </p:cNvPr>
          <p:cNvSpPr>
            <a:spLocks xmlns:a="http://schemas.openxmlformats.org/drawingml/2006/main" noGrp="1"/>
          </p:cNvSpPr>
          <p:nvPr/>
        </p:nvSpPr>
        <p:spPr>
          <a:xfrm xmlns:a="http://schemas.openxmlformats.org/drawingml/2006/main">
            <a:off x="1047750" y="55721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2276E3"/>
                </a:solidFill>
              </a:defRPr>
            </a:pPr>
            <a:r>
              <a:rPr sz="1350" b="1">
                <a:solidFill>
                  <a:srgbClr val="2276E3"/>
                </a:solidFill>
              </a:rPr>
              <a:t>DERIVE</a:t>
            </a:r>
          </a:p>
        </p:txBody>
      </p:sp>
      <p:sp>
        <p:nvSpPr>
          <p:cNvPr id="38" name="">
            <a:extLst xmlns:a="http://schemas.openxmlformats.org/drawingml/2006/main">
              <a:ext uri="{FF2B5EF4-FFF2-40B4-BE49-F238E27FC236}">
                <a16:creationId xmlns:a16="http://schemas.microsoft.com/office/drawing/2014/main" id="{6B6192F8-4C69-4C4E-95BE-DC465CAAD303}"/>
              </a:ext>
            </a:extLst>
          </p:cNvPr>
          <p:cNvSpPr>
            <a:spLocks xmlns:a="http://schemas.openxmlformats.org/drawingml/2006/main" noGrp="1"/>
          </p:cNvSpPr>
          <p:nvPr/>
        </p:nvSpPr>
        <p:spPr>
          <a:xfrm xmlns:a="http://schemas.openxmlformats.org/drawingml/2006/main">
            <a:off x="5095875" y="55721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2276E3"/>
                </a:solidFill>
              </a:defRPr>
            </a:pPr>
            <a:r>
              <a:rPr sz="1350" b="1">
                <a:solidFill>
                  <a:srgbClr val="2276E3"/>
                </a:solidFill>
              </a:rPr>
              <a:t>VERIFY</a:t>
            </a:r>
          </a:p>
        </p:txBody>
      </p:sp>
      <p:sp>
        <p:nvSpPr>
          <p:cNvPr id="39" name="">
            <a:extLst xmlns:a="http://schemas.openxmlformats.org/drawingml/2006/main">
              <a:ext uri="{FF2B5EF4-FFF2-40B4-BE49-F238E27FC236}">
                <a16:creationId xmlns:a16="http://schemas.microsoft.com/office/drawing/2014/main" id="{967B63FA-3A91-4D86-83AF-E4D1B5170874}"/>
              </a:ext>
            </a:extLst>
          </p:cNvPr>
          <p:cNvSpPr>
            <a:spLocks xmlns:a="http://schemas.openxmlformats.org/drawingml/2006/main" noGrp="1"/>
          </p:cNvSpPr>
          <p:nvPr/>
        </p:nvSpPr>
        <p:spPr>
          <a:xfrm xmlns:a="http://schemas.openxmlformats.org/drawingml/2006/main">
            <a:off x="9191625" y="55721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2F9B69"/>
                </a:solidFill>
              </a:defRPr>
            </a:pPr>
            <a:r>
              <a:rPr sz="1350" b="1">
                <a:solidFill>
                  <a:srgbClr val="2F9B69"/>
                </a:solidFill>
              </a:rPr>
              <a:t>ENFORCE</a:t>
            </a:r>
          </a:p>
        </p:txBody>
      </p:sp>
    </p:spTree>
    <p:extLst>
      <p:ext uri="{BB962C8B-B14F-4D97-AF65-F5344CB8AC3E}">
        <p14:creationId xmlns:p14="http://schemas.microsoft.com/office/powerpoint/2010/main" val="330080678"/>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16B9388E-DDAD-418B-AF90-AF08E3B398E0}"/>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05B3087C-29A0-4B00-88E0-BE24B2C6C03E}"/>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662A8E9C-D77F-448C-B587-5A0DDDBDC500}"/>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F2E60303-9F68-47DF-BEDB-6B172BB1E0D6}"/>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A23BB0AA-40A3-48C6-BFA3-92192D2AC702}"/>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957803A0-BB28-4A00-A7BB-555867F25C45}"/>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49ED1723-5208-48DB-9669-B9BF875283BF}"/>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59B03382-D9E1-4637-AC08-C6D69C04F99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08F02B5A-005F-4DD9-A238-D65CD0EF68EE}"/>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D64174DE-1078-4B4A-B3CA-8F79AA5F4825}"/>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6C931459-A3CB-4278-BD29-27A45AB4781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9FE09128-99B3-418B-A4F0-68F236361137}"/>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1E7D9C61-CE59-4C8E-BCD9-2756E2EFB196}"/>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E72BC0E3-5EAD-4CDF-8A3D-EA7A36125D0D}"/>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34F569C3-9E97-46EB-A1B1-BC63D0833591}"/>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863140CB-DE1D-427A-8DFD-3CA9D35D6F5A}"/>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E9141664-4EDC-4990-AC6F-8DA3EE22354A}"/>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EAEDE7FC-98D1-47B6-A6B2-7E1EAF440B6F}"/>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DC0E0560-82A7-46A7-A385-E0DCF0A9A215}"/>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B3901197-26CC-44D9-A535-B5366CBAEBAD}"/>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CBEA9A25-7EF3-4E6F-A624-E6F586752F39}"/>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890C99AD-28B8-4607-9FC7-B25EAEEAC62B}"/>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5D8F71C6-26EB-45E7-8197-680ABF9ED292}"/>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DBD606A7-EEB7-45FE-AAFE-A46EC0D45600}"/>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79DDE9CA-C164-4A7A-A90E-E399FD88EFC3}"/>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381086D7-29AA-4FD8-B7CB-87315003E47B}"/>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DDB9BB4B-B025-4822-8F57-4FBDF2DCF8CD}"/>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0F0D7C55-6DC8-4022-9668-F5259A8431F4}"/>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719E2103-8060-4C4C-8C22-69DB78F78492}"/>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D2B8DEA9-17D7-4FD2-B0D0-3109B25C5F16}"/>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7DB8451C-9A80-4620-9670-838BC88DD19E}"/>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F76069F2-63AB-4F0F-B513-5259A38DB91A}"/>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AA3072B9-F676-4B9C-A9A8-30358558B1A5}"/>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KIL is a proposed KTP extension profile—not a replacement trust system</a:t>
            </a:r>
          </a:p>
        </p:txBody>
      </p:sp>
      <p:sp>
        <p:nvSpPr>
          <p:cNvPr id="34" name="">
            <a:extLst xmlns:a="http://schemas.openxmlformats.org/drawingml/2006/main">
              <a:ext uri="{FF2B5EF4-FFF2-40B4-BE49-F238E27FC236}">
                <a16:creationId xmlns:a16="http://schemas.microsoft.com/office/drawing/2014/main" id="{F40E8CBB-6DB8-4A2D-B47F-8D59D0FF5749}"/>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F3A</a:t>
            </a:r>
          </a:p>
        </p:txBody>
      </p:sp>
      <p:sp>
        <p:nvSpPr>
          <p:cNvPr id="35" name="">
            <a:extLst xmlns:a="http://schemas.openxmlformats.org/drawingml/2006/main">
              <a:ext uri="{FF2B5EF4-FFF2-40B4-BE49-F238E27FC236}">
                <a16:creationId xmlns:a16="http://schemas.microsoft.com/office/drawing/2014/main" id="{EE5F4442-71D2-465E-B8B7-1CDA18145356}"/>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4B79F0E5-3E36-4813-B88A-50DCCBA2E585}"/>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B6B0856A-01CA-48B1-A44D-F7D9B2044B3C}"/>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PROPOSED EXTENSION</a:t>
            </a:r>
          </a:p>
        </p:txBody>
      </p:sp>
      <p:sp>
        <p:nvSpPr>
          <p:cNvPr id="38" name="">
            <a:extLst xmlns:a="http://schemas.openxmlformats.org/drawingml/2006/main">
              <a:ext uri="{FF2B5EF4-FFF2-40B4-BE49-F238E27FC236}">
                <a16:creationId xmlns:a16="http://schemas.microsoft.com/office/drawing/2014/main" id="{5137927C-9753-4194-9ED5-DD2FBEDAC4A1}"/>
              </a:ext>
            </a:extLst>
          </p:cNvPr>
          <p:cNvSpPr>
            <a:spLocks xmlns:a="http://schemas.openxmlformats.org/drawingml/2006/main" noGrp="1"/>
          </p:cNvSpPr>
          <p:nvPr/>
        </p:nvSpPr>
        <p:spPr>
          <a:xfrm xmlns:a="http://schemas.openxmlformats.org/drawingml/2006/main">
            <a:off x="857250" y="2714625"/>
            <a:ext cx="2095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4288">
            <a:solidFill>
              <a:srgbClr val="2276E3"/>
            </a:solidFill>
          </a:ln>
        </p:spPr>
      </p:sp>
      <p:sp>
        <p:nvSpPr>
          <p:cNvPr id="39" name="">
            <a:extLst xmlns:a="http://schemas.openxmlformats.org/drawingml/2006/main">
              <a:ext uri="{FF2B5EF4-FFF2-40B4-BE49-F238E27FC236}">
                <a16:creationId xmlns:a16="http://schemas.microsoft.com/office/drawing/2014/main" id="{13E6054E-12EC-44A6-985B-0170E64D3524}"/>
              </a:ext>
            </a:extLst>
          </p:cNvPr>
          <p:cNvSpPr>
            <a:spLocks xmlns:a="http://schemas.openxmlformats.org/drawingml/2006/main" noGrp="1"/>
          </p:cNvSpPr>
          <p:nvPr/>
        </p:nvSpPr>
        <p:spPr>
          <a:xfrm xmlns:a="http://schemas.openxmlformats.org/drawingml/2006/main">
            <a:off x="857250" y="2714625"/>
            <a:ext cx="66675" cy="104775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0" name="">
            <a:extLst xmlns:a="http://schemas.openxmlformats.org/drawingml/2006/main">
              <a:ext uri="{FF2B5EF4-FFF2-40B4-BE49-F238E27FC236}">
                <a16:creationId xmlns:a16="http://schemas.microsoft.com/office/drawing/2014/main" id="{6D68D931-AA27-4CC0-9CD3-63E1603DC35D}"/>
              </a:ext>
            </a:extLst>
          </p:cNvPr>
          <p:cNvSpPr>
            <a:spLocks xmlns:a="http://schemas.openxmlformats.org/drawingml/2006/main" noGrp="1"/>
          </p:cNvSpPr>
          <p:nvPr/>
        </p:nvSpPr>
        <p:spPr>
          <a:xfrm xmlns:a="http://schemas.openxmlformats.org/drawingml/2006/main">
            <a:off x="1019175" y="2790825"/>
            <a:ext cx="1828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KTP</a:t>
            </a:r>
          </a:p>
          <a:p xmlns:a="http://schemas.openxmlformats.org/drawingml/2006/main">
            <a:pPr algn="ctr">
              <a:defRPr sz="1350" b="1">
                <a:solidFill>
                  <a:srgbClr val="081426"/>
                </a:solidFill>
              </a:defRPr>
            </a:pPr>
            <a:r>
              <a:rPr sz="1350" b="1">
                <a:solidFill>
                  <a:srgbClr val="081426"/>
                </a:solidFill>
              </a:rPr>
              <a:t>constructs</a:t>
            </a:r>
          </a:p>
        </p:txBody>
      </p:sp>
      <p:sp>
        <p:nvSpPr>
          <p:cNvPr id="41" name="">
            <a:extLst xmlns:a="http://schemas.openxmlformats.org/drawingml/2006/main">
              <a:ext uri="{FF2B5EF4-FFF2-40B4-BE49-F238E27FC236}">
                <a16:creationId xmlns:a16="http://schemas.microsoft.com/office/drawing/2014/main" id="{C50A93F5-6B77-45C0-B841-A5F927A0C8FC}"/>
              </a:ext>
            </a:extLst>
          </p:cNvPr>
          <p:cNvSpPr>
            <a:spLocks xmlns:a="http://schemas.openxmlformats.org/drawingml/2006/main" noGrp="1"/>
          </p:cNvSpPr>
          <p:nvPr/>
        </p:nvSpPr>
        <p:spPr>
          <a:xfrm xmlns:a="http://schemas.openxmlformats.org/drawingml/2006/main" rot="0">
            <a:off x="2952750" y="3238500"/>
            <a:ext cx="1571625"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2" name="">
            <a:extLst xmlns:a="http://schemas.openxmlformats.org/drawingml/2006/main">
              <a:ext uri="{FF2B5EF4-FFF2-40B4-BE49-F238E27FC236}">
                <a16:creationId xmlns:a16="http://schemas.microsoft.com/office/drawing/2014/main" id="{722F5E0B-4A14-4FF6-B467-8392B6C45DD3}"/>
              </a:ext>
            </a:extLst>
          </p:cNvPr>
          <p:cNvSpPr>
            <a:spLocks xmlns:a="http://schemas.openxmlformats.org/drawingml/2006/main" noGrp="1"/>
          </p:cNvSpPr>
          <p:nvPr/>
        </p:nvSpPr>
        <p:spPr>
          <a:xfrm xmlns:a="http://schemas.openxmlformats.org/drawingml/2006/main" rot="5400000">
            <a:off x="4429125" y="315277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3" name="">
            <a:extLst xmlns:a="http://schemas.openxmlformats.org/drawingml/2006/main">
              <a:ext uri="{FF2B5EF4-FFF2-40B4-BE49-F238E27FC236}">
                <a16:creationId xmlns:a16="http://schemas.microsoft.com/office/drawing/2014/main" id="{D00BAB0D-A064-4795-BEA4-B66DD0ADA588}"/>
              </a:ext>
            </a:extLst>
          </p:cNvPr>
          <p:cNvSpPr>
            <a:spLocks xmlns:a="http://schemas.openxmlformats.org/drawingml/2006/main" noGrp="1"/>
          </p:cNvSpPr>
          <p:nvPr/>
        </p:nvSpPr>
        <p:spPr>
          <a:xfrm xmlns:a="http://schemas.openxmlformats.org/drawingml/2006/main">
            <a:off x="4524375" y="2619375"/>
            <a:ext cx="31432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4288">
            <a:solidFill>
              <a:srgbClr val="2276E3"/>
            </a:solidFill>
          </a:ln>
        </p:spPr>
      </p:sp>
      <p:sp>
        <p:nvSpPr>
          <p:cNvPr id="44" name="">
            <a:extLst xmlns:a="http://schemas.openxmlformats.org/drawingml/2006/main">
              <a:ext uri="{FF2B5EF4-FFF2-40B4-BE49-F238E27FC236}">
                <a16:creationId xmlns:a16="http://schemas.microsoft.com/office/drawing/2014/main" id="{ACE468CA-D03C-4099-B640-C102E5EFCF36}"/>
              </a:ext>
            </a:extLst>
          </p:cNvPr>
          <p:cNvSpPr>
            <a:spLocks xmlns:a="http://schemas.openxmlformats.org/drawingml/2006/main" noGrp="1"/>
          </p:cNvSpPr>
          <p:nvPr/>
        </p:nvSpPr>
        <p:spPr>
          <a:xfrm xmlns:a="http://schemas.openxmlformats.org/drawingml/2006/main">
            <a:off x="4524375" y="2619375"/>
            <a:ext cx="66675" cy="123825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5" name="">
            <a:extLst xmlns:a="http://schemas.openxmlformats.org/drawingml/2006/main">
              <a:ext uri="{FF2B5EF4-FFF2-40B4-BE49-F238E27FC236}">
                <a16:creationId xmlns:a16="http://schemas.microsoft.com/office/drawing/2014/main" id="{F6A34E67-31EA-41D3-AB8C-DD194590D4A5}"/>
              </a:ext>
            </a:extLst>
          </p:cNvPr>
          <p:cNvSpPr>
            <a:spLocks xmlns:a="http://schemas.openxmlformats.org/drawingml/2006/main" noGrp="1"/>
          </p:cNvSpPr>
          <p:nvPr/>
        </p:nvSpPr>
        <p:spPr>
          <a:xfrm xmlns:a="http://schemas.openxmlformats.org/drawingml/2006/main">
            <a:off x="4686300" y="2695575"/>
            <a:ext cx="2876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SIGNED, SHORT-LIVED</a:t>
            </a:r>
          </a:p>
          <a:p xmlns:a="http://schemas.openxmlformats.org/drawingml/2006/main">
            <a:pPr algn="ctr">
              <a:defRPr sz="1350" b="1">
                <a:solidFill>
                  <a:srgbClr val="081426"/>
                </a:solidFill>
              </a:defRPr>
            </a:pPr>
            <a:r>
              <a:rPr sz="1350" b="1">
                <a:solidFill>
                  <a:srgbClr val="081426"/>
                </a:solidFill>
              </a:rPr>
              <a:t>COMPOSITE STATE</a:t>
            </a:r>
          </a:p>
        </p:txBody>
      </p:sp>
      <p:sp>
        <p:nvSpPr>
          <p:cNvPr id="46" name="">
            <a:extLst xmlns:a="http://schemas.openxmlformats.org/drawingml/2006/main">
              <a:ext uri="{FF2B5EF4-FFF2-40B4-BE49-F238E27FC236}">
                <a16:creationId xmlns:a16="http://schemas.microsoft.com/office/drawing/2014/main" id="{C4F20D2C-9699-4C04-9529-4577C312C8A2}"/>
              </a:ext>
            </a:extLst>
          </p:cNvPr>
          <p:cNvSpPr>
            <a:spLocks xmlns:a="http://schemas.openxmlformats.org/drawingml/2006/main" noGrp="1"/>
          </p:cNvSpPr>
          <p:nvPr/>
        </p:nvSpPr>
        <p:spPr>
          <a:xfrm xmlns:a="http://schemas.openxmlformats.org/drawingml/2006/main" rot="0">
            <a:off x="7667625" y="3238500"/>
            <a:ext cx="1571625"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7" name="">
            <a:extLst xmlns:a="http://schemas.openxmlformats.org/drawingml/2006/main">
              <a:ext uri="{FF2B5EF4-FFF2-40B4-BE49-F238E27FC236}">
                <a16:creationId xmlns:a16="http://schemas.microsoft.com/office/drawing/2014/main" id="{CA6C6C2E-200C-4A96-9FCB-1BB1DB6FDAA3}"/>
              </a:ext>
            </a:extLst>
          </p:cNvPr>
          <p:cNvSpPr>
            <a:spLocks xmlns:a="http://schemas.openxmlformats.org/drawingml/2006/main" noGrp="1"/>
          </p:cNvSpPr>
          <p:nvPr/>
        </p:nvSpPr>
        <p:spPr>
          <a:xfrm xmlns:a="http://schemas.openxmlformats.org/drawingml/2006/main" rot="5400000">
            <a:off x="9144000" y="315277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8" name="">
            <a:extLst xmlns:a="http://schemas.openxmlformats.org/drawingml/2006/main">
              <a:ext uri="{FF2B5EF4-FFF2-40B4-BE49-F238E27FC236}">
                <a16:creationId xmlns:a16="http://schemas.microsoft.com/office/drawing/2014/main" id="{BE570616-1054-4568-B606-56AA35FE4FF1}"/>
              </a:ext>
            </a:extLst>
          </p:cNvPr>
          <p:cNvSpPr>
            <a:spLocks xmlns:a="http://schemas.openxmlformats.org/drawingml/2006/main" noGrp="1"/>
          </p:cNvSpPr>
          <p:nvPr/>
        </p:nvSpPr>
        <p:spPr>
          <a:xfrm xmlns:a="http://schemas.openxmlformats.org/drawingml/2006/main">
            <a:off x="9239250" y="2714625"/>
            <a:ext cx="2095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4288">
            <a:solidFill>
              <a:srgbClr val="2F9B69"/>
            </a:solidFill>
          </a:ln>
        </p:spPr>
      </p:sp>
      <p:sp>
        <p:nvSpPr>
          <p:cNvPr id="49" name="">
            <a:extLst xmlns:a="http://schemas.openxmlformats.org/drawingml/2006/main">
              <a:ext uri="{FF2B5EF4-FFF2-40B4-BE49-F238E27FC236}">
                <a16:creationId xmlns:a16="http://schemas.microsoft.com/office/drawing/2014/main" id="{74824C3D-C683-403A-8A44-8430DC65AE4F}"/>
              </a:ext>
            </a:extLst>
          </p:cNvPr>
          <p:cNvSpPr>
            <a:spLocks xmlns:a="http://schemas.openxmlformats.org/drawingml/2006/main" noGrp="1"/>
          </p:cNvSpPr>
          <p:nvPr/>
        </p:nvSpPr>
        <p:spPr>
          <a:xfrm xmlns:a="http://schemas.openxmlformats.org/drawingml/2006/main">
            <a:off x="9239250" y="2714625"/>
            <a:ext cx="66675" cy="104775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0" name="">
            <a:extLst xmlns:a="http://schemas.openxmlformats.org/drawingml/2006/main">
              <a:ext uri="{FF2B5EF4-FFF2-40B4-BE49-F238E27FC236}">
                <a16:creationId xmlns:a16="http://schemas.microsoft.com/office/drawing/2014/main" id="{F95BDADF-627F-4CC5-9B61-346F96792E24}"/>
              </a:ext>
            </a:extLst>
          </p:cNvPr>
          <p:cNvSpPr>
            <a:spLocks xmlns:a="http://schemas.openxmlformats.org/drawingml/2006/main" noGrp="1"/>
          </p:cNvSpPr>
          <p:nvPr/>
        </p:nvSpPr>
        <p:spPr>
          <a:xfrm xmlns:a="http://schemas.openxmlformats.org/drawingml/2006/main">
            <a:off x="9401175" y="2790825"/>
            <a:ext cx="1828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KIL</a:t>
            </a:r>
          </a:p>
          <a:p xmlns:a="http://schemas.openxmlformats.org/drawingml/2006/main">
            <a:pPr algn="ctr">
              <a:defRPr sz="1350" b="1">
                <a:solidFill>
                  <a:srgbClr val="081426"/>
                </a:solidFill>
              </a:defRPr>
            </a:pPr>
            <a:r>
              <a:rPr sz="1350" b="1">
                <a:solidFill>
                  <a:srgbClr val="081426"/>
                </a:solidFill>
              </a:rPr>
              <a:t>consumer profile</a:t>
            </a:r>
          </a:p>
        </p:txBody>
      </p:sp>
      <p:sp>
        <p:nvSpPr>
          <p:cNvPr id="51" name="">
            <a:extLst xmlns:a="http://schemas.openxmlformats.org/drawingml/2006/main">
              <a:ext uri="{FF2B5EF4-FFF2-40B4-BE49-F238E27FC236}">
                <a16:creationId xmlns:a16="http://schemas.microsoft.com/office/drawing/2014/main" id="{FDDFD232-4CE0-435A-95C8-5B1D3F06A960}"/>
              </a:ext>
            </a:extLst>
          </p:cNvPr>
          <p:cNvSpPr>
            <a:spLocks xmlns:a="http://schemas.openxmlformats.org/drawingml/2006/main" noGrp="1"/>
          </p:cNvSpPr>
          <p:nvPr/>
        </p:nvSpPr>
        <p:spPr>
          <a:xfrm xmlns:a="http://schemas.openxmlformats.org/drawingml/2006/main">
            <a:off x="809625" y="4095750"/>
            <a:ext cx="2238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37465B"/>
                </a:solidFill>
              </a:defRPr>
            </a:pPr>
            <a:r>
              <a:rPr sz="1275" b="1">
                <a:solidFill>
                  <a:srgbClr val="37465B"/>
                </a:solidFill>
              </a:rPr>
              <a:t>KTP 2.0 foundation</a:t>
            </a:r>
          </a:p>
        </p:txBody>
      </p:sp>
      <p:sp>
        <p:nvSpPr>
          <p:cNvPr id="52" name="">
            <a:extLst xmlns:a="http://schemas.openxmlformats.org/drawingml/2006/main">
              <a:ext uri="{FF2B5EF4-FFF2-40B4-BE49-F238E27FC236}">
                <a16:creationId xmlns:a16="http://schemas.microsoft.com/office/drawing/2014/main" id="{4D4F9590-8A77-402D-BA5E-CE41B1BB9DF6}"/>
              </a:ext>
            </a:extLst>
          </p:cNvPr>
          <p:cNvSpPr>
            <a:spLocks xmlns:a="http://schemas.openxmlformats.org/drawingml/2006/main" noGrp="1"/>
          </p:cNvSpPr>
          <p:nvPr/>
        </p:nvSpPr>
        <p:spPr>
          <a:xfrm xmlns:a="http://schemas.openxmlformats.org/drawingml/2006/main">
            <a:off x="8239125" y="40957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37465B"/>
                </a:solidFill>
              </a:defRPr>
            </a:pPr>
            <a:r>
              <a:rPr sz="1275" b="1">
                <a:solidFill>
                  <a:srgbClr val="37465B"/>
                </a:solidFill>
              </a:rPr>
              <a:t>candidate 2.1 / 3.0 governance path</a:t>
            </a:r>
          </a:p>
        </p:txBody>
      </p:sp>
      <p:sp>
        <p:nvSpPr>
          <p:cNvPr id="53" name="">
            <a:extLst xmlns:a="http://schemas.openxmlformats.org/drawingml/2006/main">
              <a:ext uri="{FF2B5EF4-FFF2-40B4-BE49-F238E27FC236}">
                <a16:creationId xmlns:a16="http://schemas.microsoft.com/office/drawing/2014/main" id="{489CDF6A-8E2D-4FB1-B182-027B8E85F236}"/>
              </a:ext>
            </a:extLst>
          </p:cNvPr>
          <p:cNvSpPr>
            <a:spLocks xmlns:a="http://schemas.openxmlformats.org/drawingml/2006/main" noGrp="1"/>
          </p:cNvSpPr>
          <p:nvPr/>
        </p:nvSpPr>
        <p:spPr>
          <a:xfrm xmlns:a="http://schemas.openxmlformats.org/drawingml/2006/main">
            <a:off x="2333625" y="4953000"/>
            <a:ext cx="752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025" b="1">
                <a:solidFill>
                  <a:srgbClr val="081426"/>
                </a:solidFill>
              </a:defRPr>
            </a:pPr>
            <a:r>
              <a:rPr sz="2025" b="1">
                <a:solidFill>
                  <a:srgbClr val="081426"/>
                </a:solidFill>
              </a:rPr>
              <a:t>KIL never creates authority that KTP did not authorize.</a:t>
            </a:r>
          </a:p>
        </p:txBody>
      </p:sp>
    </p:spTree>
    <p:extLst>
      <p:ext uri="{BB962C8B-B14F-4D97-AF65-F5344CB8AC3E}">
        <p14:creationId xmlns:p14="http://schemas.microsoft.com/office/powerpoint/2010/main" val="1881720398"/>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7AF7070F-E218-4CCC-BA4F-0231C9615696}"/>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1EE304E1-7640-482C-A744-C98210CFDF74}"/>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562DFD31-7C12-44F3-94BD-EEA3B1E8EDB6}"/>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B24526B1-F25A-4E84-96A8-E067FDC324B1}"/>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491AB50D-F0AB-4959-911C-EAB5BFD67350}"/>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4E3EAD16-20E8-4C91-85D5-D9551531824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E10AE566-A678-4366-9B09-9BCB63CC1501}"/>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9736B7AE-8FD2-4FA4-941F-E882F3333F72}"/>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75743248-78C0-41F5-8A58-9F99169A7C5A}"/>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B7629940-D839-4AD8-A525-D188681BD2C1}"/>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9943E345-D342-4A1C-96AE-09DA367AEDE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FD02004C-2643-46C8-BDB3-645B96DF07FB}"/>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BF63AF3B-6E1E-4F52-8801-5A044E25B5F8}"/>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43126E16-5DAA-4F1E-A5A7-668523F5BCA6}"/>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D4999E03-F629-4F8B-9D70-E8946C9B4E9D}"/>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818CD5ED-88A1-44D0-B418-1AEDA723AC3E}"/>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5B427532-3B3B-489D-9E0F-6570CC0D8460}"/>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AFF31C53-8A3A-44A0-9EB4-DC360DB57921}"/>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09A16B69-282B-42D1-91EA-8B0760E50429}"/>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8C0F9504-4F45-42E5-8041-23FC1E075F7A}"/>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55DBBF6C-13EF-4682-8138-E36E67662F52}"/>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36F45157-5E40-4E1A-935D-2F929DCA3625}"/>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7EB939ED-BC6A-41AE-80C9-BFE28A6E33F1}"/>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E074F63A-9D59-4953-BF1A-EC7BE6DA6333}"/>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95E70C17-1737-432A-845D-9121C1CD21C2}"/>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4C35A521-0F95-445E-AA4B-0EAB6500D144}"/>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9B2363CA-DE5D-47B0-A150-22647522901C}"/>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29AF289A-27D3-4620-8ECA-F1D24AD35322}"/>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825E8F80-0564-49DF-92D4-4062F12A4ADA}"/>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BF7A0E28-B604-4F96-8974-3E6513DA0F67}"/>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AE98ADAB-A9FB-4C5D-9A2C-79E164F6DCF2}"/>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AE052239-BAD2-4E7C-9537-40610B6C387F}"/>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AB21A453-FD37-4DC6-BAD2-BFE804BC1923}"/>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KIL separates authoritative state derivation from fast enforcement</a:t>
            </a:r>
          </a:p>
        </p:txBody>
      </p:sp>
      <p:sp>
        <p:nvSpPr>
          <p:cNvPr id="34" name="">
            <a:extLst xmlns:a="http://schemas.openxmlformats.org/drawingml/2006/main">
              <a:ext uri="{FF2B5EF4-FFF2-40B4-BE49-F238E27FC236}">
                <a16:creationId xmlns:a16="http://schemas.microsoft.com/office/drawing/2014/main" id="{9DCD3A36-1F55-4853-B32B-9ED152C7EBC4}"/>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F4</a:t>
            </a:r>
          </a:p>
        </p:txBody>
      </p:sp>
      <p:sp>
        <p:nvSpPr>
          <p:cNvPr id="35" name="">
            <a:extLst xmlns:a="http://schemas.openxmlformats.org/drawingml/2006/main">
              <a:ext uri="{FF2B5EF4-FFF2-40B4-BE49-F238E27FC236}">
                <a16:creationId xmlns:a16="http://schemas.microsoft.com/office/drawing/2014/main" id="{3702D785-323A-4ED2-A11E-20A88B7EBCF0}"/>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6" name="">
            <a:extLst xmlns:a="http://schemas.openxmlformats.org/drawingml/2006/main">
              <a:ext uri="{FF2B5EF4-FFF2-40B4-BE49-F238E27FC236}">
                <a16:creationId xmlns:a16="http://schemas.microsoft.com/office/drawing/2014/main" id="{A6CBB8CA-D165-4D15-85C0-130FC4D145F5}"/>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HYBRID TWO-TIMESCALE</a:t>
            </a:r>
          </a:p>
        </p:txBody>
      </p:sp>
      <p:sp>
        <p:nvSpPr>
          <p:cNvPr id="37" name="">
            <a:extLst xmlns:a="http://schemas.openxmlformats.org/drawingml/2006/main">
              <a:ext uri="{FF2B5EF4-FFF2-40B4-BE49-F238E27FC236}">
                <a16:creationId xmlns:a16="http://schemas.microsoft.com/office/drawing/2014/main" id="{A0E9565F-FF58-43C3-B036-A6B836CABBAA}"/>
              </a:ext>
            </a:extLst>
          </p:cNvPr>
          <p:cNvSpPr>
            <a:spLocks xmlns:a="http://schemas.openxmlformats.org/drawingml/2006/main" noGrp="1"/>
          </p:cNvSpPr>
          <p:nvPr/>
        </p:nvSpPr>
        <p:spPr>
          <a:xfrm xmlns:a="http://schemas.openxmlformats.org/drawingml/2006/main">
            <a:off x="1809750" y="1714500"/>
            <a:ext cx="8572500" cy="1428750"/>
          </a:xfrm>
          <a:prstGeom xmlns:a="http://schemas.openxmlformats.org/drawingml/2006/main" prst="rect">
            <a:avLst/>
          </a:prstGeom>
          <a:solidFill xmlns:a="http://schemas.openxmlformats.org/drawingml/2006/main">
            <a:srgbClr val="EAF2FD"/>
          </a:solidFill>
          <a:ln xmlns:a="http://schemas.openxmlformats.org/drawingml/2006/main" w="14288">
            <a:solidFill>
              <a:srgbClr val="2276E3"/>
            </a:solidFill>
          </a:ln>
        </p:spPr>
      </p:sp>
      <p:sp>
        <p:nvSpPr>
          <p:cNvPr id="38" name="">
            <a:extLst xmlns:a="http://schemas.openxmlformats.org/drawingml/2006/main">
              <a:ext uri="{FF2B5EF4-FFF2-40B4-BE49-F238E27FC236}">
                <a16:creationId xmlns:a16="http://schemas.microsoft.com/office/drawing/2014/main" id="{3468BAB6-2EE0-4AD5-BC80-85D02CFF7A93}"/>
              </a:ext>
            </a:extLst>
          </p:cNvPr>
          <p:cNvSpPr>
            <a:spLocks xmlns:a="http://schemas.openxmlformats.org/drawingml/2006/main" noGrp="1"/>
          </p:cNvSpPr>
          <p:nvPr/>
        </p:nvSpPr>
        <p:spPr>
          <a:xfrm xmlns:a="http://schemas.openxmlformats.org/drawingml/2006/main">
            <a:off x="2238375" y="18573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2276E3"/>
                </a:solidFill>
              </a:defRPr>
            </a:pPr>
            <a:r>
              <a:rPr sz="1650" b="1">
                <a:solidFill>
                  <a:srgbClr val="2276E3"/>
                </a:solidFill>
              </a:rPr>
              <a:t>AUTHORITATIVE LOOP — SLOW</a:t>
            </a:r>
          </a:p>
        </p:txBody>
      </p:sp>
      <p:sp>
        <p:nvSpPr>
          <p:cNvPr id="39" name="">
            <a:extLst xmlns:a="http://schemas.openxmlformats.org/drawingml/2006/main">
              <a:ext uri="{FF2B5EF4-FFF2-40B4-BE49-F238E27FC236}">
                <a16:creationId xmlns:a16="http://schemas.microsoft.com/office/drawing/2014/main" id="{F6ECAFE3-4793-4C95-839E-27436112DDC9}"/>
              </a:ext>
            </a:extLst>
          </p:cNvPr>
          <p:cNvSpPr>
            <a:spLocks xmlns:a="http://schemas.openxmlformats.org/drawingml/2006/main" noGrp="1"/>
          </p:cNvSpPr>
          <p:nvPr/>
        </p:nvSpPr>
        <p:spPr>
          <a:xfrm xmlns:a="http://schemas.openxmlformats.org/drawingml/2006/main">
            <a:off x="2238375" y="233362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081426"/>
                </a:solidFill>
              </a:defRPr>
            </a:pPr>
            <a:r>
              <a:rPr sz="1725" b="0">
                <a:solidFill>
                  <a:srgbClr val="081426"/>
                </a:solidFill>
              </a:rPr>
              <a:t>KTP constructs → composite state → signature → expiry</a:t>
            </a:r>
          </a:p>
        </p:txBody>
      </p:sp>
      <p:sp>
        <p:nvSpPr>
          <p:cNvPr id="40" name="">
            <a:extLst xmlns:a="http://schemas.openxmlformats.org/drawingml/2006/main">
              <a:ext uri="{FF2B5EF4-FFF2-40B4-BE49-F238E27FC236}">
                <a16:creationId xmlns:a16="http://schemas.microsoft.com/office/drawing/2014/main" id="{72DB4C95-601B-4098-AFBB-EDBBE153800C}"/>
              </a:ext>
            </a:extLst>
          </p:cNvPr>
          <p:cNvSpPr>
            <a:spLocks xmlns:a="http://schemas.openxmlformats.org/drawingml/2006/main" noGrp="1"/>
          </p:cNvSpPr>
          <p:nvPr/>
        </p:nvSpPr>
        <p:spPr>
          <a:xfrm xmlns:a="http://schemas.openxmlformats.org/drawingml/2006/main" rot="5400000">
            <a:off x="6096000" y="3143250"/>
            <a:ext cx="1143000"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1" name="">
            <a:extLst xmlns:a="http://schemas.openxmlformats.org/drawingml/2006/main">
              <a:ext uri="{FF2B5EF4-FFF2-40B4-BE49-F238E27FC236}">
                <a16:creationId xmlns:a16="http://schemas.microsoft.com/office/drawing/2014/main" id="{FF4DDBA0-2F2D-48BE-89D4-430470523733}"/>
              </a:ext>
            </a:extLst>
          </p:cNvPr>
          <p:cNvSpPr>
            <a:spLocks xmlns:a="http://schemas.openxmlformats.org/drawingml/2006/main" noGrp="1"/>
          </p:cNvSpPr>
          <p:nvPr/>
        </p:nvSpPr>
        <p:spPr>
          <a:xfrm xmlns:a="http://schemas.openxmlformats.org/drawingml/2006/main" rot="10800000">
            <a:off x="6000750" y="420052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2" name="">
            <a:extLst xmlns:a="http://schemas.openxmlformats.org/drawingml/2006/main">
              <a:ext uri="{FF2B5EF4-FFF2-40B4-BE49-F238E27FC236}">
                <a16:creationId xmlns:a16="http://schemas.microsoft.com/office/drawing/2014/main" id="{8E8392B2-1D1B-4092-924C-A230295F1D45}"/>
              </a:ext>
            </a:extLst>
          </p:cNvPr>
          <p:cNvSpPr>
            <a:spLocks xmlns:a="http://schemas.openxmlformats.org/drawingml/2006/main" noGrp="1"/>
          </p:cNvSpPr>
          <p:nvPr/>
        </p:nvSpPr>
        <p:spPr>
          <a:xfrm xmlns:a="http://schemas.openxmlformats.org/drawingml/2006/main">
            <a:off x="1047750" y="4286250"/>
            <a:ext cx="10096500" cy="1333500"/>
          </a:xfrm>
          <a:prstGeom xmlns:a="http://schemas.openxmlformats.org/drawingml/2006/main" prst="rect">
            <a:avLst/>
          </a:prstGeom>
          <a:solidFill xmlns:a="http://schemas.openxmlformats.org/drawingml/2006/main">
            <a:srgbClr val="0D2344"/>
          </a:solidFill>
          <a:ln xmlns:a="http://schemas.openxmlformats.org/drawingml/2006/main" w="14288">
            <a:solidFill>
              <a:srgbClr val="0D2344"/>
            </a:solidFill>
          </a:ln>
        </p:spPr>
      </p:sp>
      <p:sp>
        <p:nvSpPr>
          <p:cNvPr id="43" name="">
            <a:extLst xmlns:a="http://schemas.openxmlformats.org/drawingml/2006/main">
              <a:ext uri="{FF2B5EF4-FFF2-40B4-BE49-F238E27FC236}">
                <a16:creationId xmlns:a16="http://schemas.microsoft.com/office/drawing/2014/main" id="{558959F3-054B-4639-9A0E-BAF0C692F16F}"/>
              </a:ext>
            </a:extLst>
          </p:cNvPr>
          <p:cNvSpPr>
            <a:spLocks xmlns:a="http://schemas.openxmlformats.org/drawingml/2006/main" noGrp="1"/>
          </p:cNvSpPr>
          <p:nvPr/>
        </p:nvSpPr>
        <p:spPr>
          <a:xfrm xmlns:a="http://schemas.openxmlformats.org/drawingml/2006/main">
            <a:off x="1524000" y="44767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61A8FF"/>
                </a:solidFill>
              </a:defRPr>
            </a:pPr>
            <a:r>
              <a:rPr sz="1650" b="1">
                <a:solidFill>
                  <a:srgbClr val="61A8FF"/>
                </a:solidFill>
              </a:rPr>
              <a:t>ENFORCEMENT LOOP — FAST</a:t>
            </a:r>
          </a:p>
        </p:txBody>
      </p:sp>
      <p:sp>
        <p:nvSpPr>
          <p:cNvPr id="44" name="">
            <a:extLst xmlns:a="http://schemas.openxmlformats.org/drawingml/2006/main">
              <a:ext uri="{FF2B5EF4-FFF2-40B4-BE49-F238E27FC236}">
                <a16:creationId xmlns:a16="http://schemas.microsoft.com/office/drawing/2014/main" id="{6A5B5670-A305-4792-829B-C1E13E435147}"/>
              </a:ext>
            </a:extLst>
          </p:cNvPr>
          <p:cNvSpPr>
            <a:spLocks xmlns:a="http://schemas.openxmlformats.org/drawingml/2006/main" noGrp="1"/>
          </p:cNvSpPr>
          <p:nvPr/>
        </p:nvSpPr>
        <p:spPr>
          <a:xfrm xmlns:a="http://schemas.openxmlformats.org/drawingml/2006/main">
            <a:off x="1524000" y="49530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verify • bind • veto • envelope • threshold • record</a:t>
            </a:r>
          </a:p>
        </p:txBody>
      </p:sp>
      <p:sp>
        <p:nvSpPr>
          <p:cNvPr id="45" name="">
            <a:extLst xmlns:a="http://schemas.openxmlformats.org/drawingml/2006/main">
              <a:ext uri="{FF2B5EF4-FFF2-40B4-BE49-F238E27FC236}">
                <a16:creationId xmlns:a16="http://schemas.microsoft.com/office/drawing/2014/main" id="{BD8A8D18-24F6-4F08-A14F-28A5798AAB64}"/>
              </a:ext>
            </a:extLst>
          </p:cNvPr>
          <p:cNvSpPr>
            <a:spLocks xmlns:a="http://schemas.openxmlformats.org/drawingml/2006/main" noGrp="1"/>
          </p:cNvSpPr>
          <p:nvPr/>
        </p:nvSpPr>
        <p:spPr>
          <a:xfrm xmlns:a="http://schemas.openxmlformats.org/drawingml/2006/main">
            <a:off x="8572500" y="57626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00" b="1">
                <a:solidFill>
                  <a:srgbClr val="37465B"/>
                </a:solidFill>
              </a:defRPr>
            </a:pPr>
            <a:r>
              <a:rPr sz="1200" b="1">
                <a:solidFill>
                  <a:srgbClr val="37465B"/>
                </a:solidFill>
              </a:rPr>
              <a:t>Infrastructure boundary</a:t>
            </a:r>
          </a:p>
        </p:txBody>
      </p:sp>
    </p:spTree>
    <p:extLst>
      <p:ext uri="{BB962C8B-B14F-4D97-AF65-F5344CB8AC3E}">
        <p14:creationId xmlns:p14="http://schemas.microsoft.com/office/powerpoint/2010/main" val="602104704"/>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9112AF68-274E-47E8-B235-20AE432CE818}"/>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587869C1-AA0E-4A2F-A261-BA040D94BBA3}"/>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5B12628C-5BC2-4592-8AD7-A82CD0529882}"/>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F66FE52F-4BDC-48A4-A04B-E78F6C8FF51A}"/>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FE77A93C-BFDD-4A53-9696-10B7DE1C6BFF}"/>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3F07AD57-EE62-46B6-B4F4-13E24FFBBF3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939A1FAD-0752-4909-89F1-A74620825E86}"/>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477F2874-2075-4811-83C4-29A83461E9A2}"/>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DE75B10A-6576-4ADB-BF01-F58EA9DA7D80}"/>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515C8A3F-0B54-4B35-A5B8-BBC28C304F8A}"/>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D245C009-1348-428F-A8EB-D9CB9F717415}"/>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8F2FB172-FF0F-40D3-941E-57ECA636942E}"/>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4500B4F1-7EA0-4057-BD40-5FE4DFA2E2CC}"/>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04E7A77B-484A-44F6-828B-1A87EC6B4097}"/>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D975004C-8360-4A35-A44E-263BD575E797}"/>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813660AB-B31C-4238-AD23-C58F25E64D08}"/>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27846B4F-23D3-4617-8ADE-28498B1EA213}"/>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F2AE0F0F-92E9-4C7E-BF94-5A3899F15110}"/>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6DD8816B-7F95-44E8-9FE6-E713DE41E0DC}"/>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C5C8943E-6DF0-4D22-8497-2491970FE3A9}"/>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C45DB2B3-CD1A-4D00-B4C7-1262EB6B853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2967BD89-CFAF-480D-A9AE-91EEB29E28C7}"/>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6D1DE61E-E8D6-4DEE-859B-FCBEEC33A38C}"/>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FFE7203A-FF68-48FD-8CCA-FCC6730BFF7D}"/>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1C1EE87E-882B-4F03-A4C5-881FD5CEF5A5}"/>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9086F7F5-9DBD-4B73-A6C0-C68C5D53EE6A}"/>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B963839A-6CA1-420B-9F21-EF3187FD6554}"/>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8947D8B8-5ACE-42F5-B735-ED13BF26E9C3}"/>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9F2F6248-1A3E-4438-A2B7-7483FF6C3E9C}"/>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CF507225-DA85-4CA8-AF26-E804240209B6}"/>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44D3CBBD-6449-4E32-9578-03D6E397DFFD}"/>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68A659A0-E839-4E38-BA38-19F43BAD1B03}"/>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BF86E52F-83AB-4628-B936-BB2EBA89DEFE}"/>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Authority is class-bound, earned slowly, decays, and can be lost quickly</a:t>
            </a:r>
          </a:p>
        </p:txBody>
      </p:sp>
      <p:sp>
        <p:nvSpPr>
          <p:cNvPr id="34" name="">
            <a:extLst xmlns:a="http://schemas.openxmlformats.org/drawingml/2006/main">
              <a:ext uri="{FF2B5EF4-FFF2-40B4-BE49-F238E27FC236}">
                <a16:creationId xmlns:a16="http://schemas.microsoft.com/office/drawing/2014/main" id="{E880176B-7E3E-4595-9DCE-29997F4E08A9}"/>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F4A</a:t>
            </a:r>
          </a:p>
        </p:txBody>
      </p:sp>
      <p:sp>
        <p:nvSpPr>
          <p:cNvPr id="35" name="">
            <a:extLst xmlns:a="http://schemas.openxmlformats.org/drawingml/2006/main">
              <a:ext uri="{FF2B5EF4-FFF2-40B4-BE49-F238E27FC236}">
                <a16:creationId xmlns:a16="http://schemas.microsoft.com/office/drawing/2014/main" id="{D91CCC55-36DC-4F1B-9533-3305F9486640}"/>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910A7650-479B-4A83-AE21-4068F80AC5EE}"/>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7" name="">
            <a:extLst xmlns:a="http://schemas.openxmlformats.org/drawingml/2006/main">
              <a:ext uri="{FF2B5EF4-FFF2-40B4-BE49-F238E27FC236}">
                <a16:creationId xmlns:a16="http://schemas.microsoft.com/office/drawing/2014/main" id="{001AC2F0-E5C1-4FD7-AFEC-734B94E6B1DC}"/>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MODELED PROFILE</a:t>
            </a:r>
          </a:p>
        </p:txBody>
      </p:sp>
      <p:sp>
        <p:nvSpPr>
          <p:cNvPr id="38" name="">
            <a:extLst xmlns:a="http://schemas.openxmlformats.org/drawingml/2006/main">
              <a:ext uri="{FF2B5EF4-FFF2-40B4-BE49-F238E27FC236}">
                <a16:creationId xmlns:a16="http://schemas.microsoft.com/office/drawing/2014/main" id="{01E136AF-2200-4097-B066-672E21F22BAB}"/>
              </a:ext>
            </a:extLst>
          </p:cNvPr>
          <p:cNvSpPr>
            <a:spLocks xmlns:a="http://schemas.openxmlformats.org/drawingml/2006/main" noGrp="1"/>
          </p:cNvSpPr>
          <p:nvPr/>
        </p:nvSpPr>
        <p:spPr>
          <a:xfrm xmlns:a="http://schemas.openxmlformats.org/drawingml/2006/main">
            <a:off x="1095375" y="5381625"/>
            <a:ext cx="9810750" cy="2857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39" name="">
            <a:extLst xmlns:a="http://schemas.openxmlformats.org/drawingml/2006/main">
              <a:ext uri="{FF2B5EF4-FFF2-40B4-BE49-F238E27FC236}">
                <a16:creationId xmlns:a16="http://schemas.microsoft.com/office/drawing/2014/main" id="{14C956CD-E289-4450-BA14-E6A384B50418}"/>
              </a:ext>
            </a:extLst>
          </p:cNvPr>
          <p:cNvSpPr>
            <a:spLocks xmlns:a="http://schemas.openxmlformats.org/drawingml/2006/main" noGrp="1"/>
          </p:cNvSpPr>
          <p:nvPr/>
        </p:nvSpPr>
        <p:spPr>
          <a:xfrm xmlns:a="http://schemas.openxmlformats.org/drawingml/2006/main">
            <a:off x="1095375" y="1952625"/>
            <a:ext cx="28575" cy="345757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0" name="">
            <a:extLst xmlns:a="http://schemas.openxmlformats.org/drawingml/2006/main">
              <a:ext uri="{FF2B5EF4-FFF2-40B4-BE49-F238E27FC236}">
                <a16:creationId xmlns:a16="http://schemas.microsoft.com/office/drawing/2014/main" id="{C72CEEEA-5A91-430B-9D00-A819CCB2BCE4}"/>
              </a:ext>
            </a:extLst>
          </p:cNvPr>
          <p:cNvSpPr>
            <a:spLocks xmlns:a="http://schemas.openxmlformats.org/drawingml/2006/main" noGrp="1"/>
          </p:cNvSpPr>
          <p:nvPr/>
        </p:nvSpPr>
        <p:spPr>
          <a:xfrm xmlns:a="http://schemas.openxmlformats.org/drawingml/2006/main" rot="-1233363">
            <a:off x="1190625" y="5000625"/>
            <a:ext cx="1220725"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1" name="">
            <a:extLst xmlns:a="http://schemas.openxmlformats.org/drawingml/2006/main">
              <a:ext uri="{FF2B5EF4-FFF2-40B4-BE49-F238E27FC236}">
                <a16:creationId xmlns:a16="http://schemas.microsoft.com/office/drawing/2014/main" id="{8264B661-CF1C-471B-A4FF-821196A9FBE2}"/>
              </a:ext>
            </a:extLst>
          </p:cNvPr>
          <p:cNvSpPr>
            <a:spLocks xmlns:a="http://schemas.openxmlformats.org/drawingml/2006/main" noGrp="1"/>
          </p:cNvSpPr>
          <p:nvPr/>
        </p:nvSpPr>
        <p:spPr>
          <a:xfrm xmlns:a="http://schemas.openxmlformats.org/drawingml/2006/main" rot="4166637">
            <a:off x="2238375" y="448627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2" name="">
            <a:extLst xmlns:a="http://schemas.openxmlformats.org/drawingml/2006/main">
              <a:ext uri="{FF2B5EF4-FFF2-40B4-BE49-F238E27FC236}">
                <a16:creationId xmlns:a16="http://schemas.microsoft.com/office/drawing/2014/main" id="{E07215F1-3688-4B20-8883-3FEC668B19BC}"/>
              </a:ext>
            </a:extLst>
          </p:cNvPr>
          <p:cNvSpPr>
            <a:spLocks xmlns:a="http://schemas.openxmlformats.org/drawingml/2006/main" noGrp="1"/>
          </p:cNvSpPr>
          <p:nvPr/>
        </p:nvSpPr>
        <p:spPr>
          <a:xfrm xmlns:a="http://schemas.openxmlformats.org/drawingml/2006/main" rot="-1593903">
            <a:off x="2333625" y="4572000"/>
            <a:ext cx="1277913"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B68FB0F1-D6F5-42C6-98EE-0D77E5CE5391}"/>
              </a:ext>
            </a:extLst>
          </p:cNvPr>
          <p:cNvSpPr>
            <a:spLocks xmlns:a="http://schemas.openxmlformats.org/drawingml/2006/main" noGrp="1"/>
          </p:cNvSpPr>
          <p:nvPr/>
        </p:nvSpPr>
        <p:spPr>
          <a:xfrm xmlns:a="http://schemas.openxmlformats.org/drawingml/2006/main" rot="3806097">
            <a:off x="3381375" y="391477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4" name="">
            <a:extLst xmlns:a="http://schemas.openxmlformats.org/drawingml/2006/main">
              <a:ext uri="{FF2B5EF4-FFF2-40B4-BE49-F238E27FC236}">
                <a16:creationId xmlns:a16="http://schemas.microsoft.com/office/drawing/2014/main" id="{5E476B9F-D9FA-4664-85AE-A518C1C5941F}"/>
              </a:ext>
            </a:extLst>
          </p:cNvPr>
          <p:cNvSpPr>
            <a:spLocks xmlns:a="http://schemas.openxmlformats.org/drawingml/2006/main" noGrp="1"/>
          </p:cNvSpPr>
          <p:nvPr/>
        </p:nvSpPr>
        <p:spPr>
          <a:xfrm xmlns:a="http://schemas.openxmlformats.org/drawingml/2006/main" rot="-1706576">
            <a:off x="3476625" y="4000500"/>
            <a:ext cx="1299910"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5" name="">
            <a:extLst xmlns:a="http://schemas.openxmlformats.org/drawingml/2006/main">
              <a:ext uri="{FF2B5EF4-FFF2-40B4-BE49-F238E27FC236}">
                <a16:creationId xmlns:a16="http://schemas.microsoft.com/office/drawing/2014/main" id="{C7ECA29D-1B4F-4922-BA0B-E5699AF1DB21}"/>
              </a:ext>
            </a:extLst>
          </p:cNvPr>
          <p:cNvSpPr>
            <a:spLocks xmlns:a="http://schemas.openxmlformats.org/drawingml/2006/main" noGrp="1"/>
          </p:cNvSpPr>
          <p:nvPr/>
        </p:nvSpPr>
        <p:spPr>
          <a:xfrm xmlns:a="http://schemas.openxmlformats.org/drawingml/2006/main" rot="3693424">
            <a:off x="4524375" y="3295650"/>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6" name="">
            <a:extLst xmlns:a="http://schemas.openxmlformats.org/drawingml/2006/main">
              <a:ext uri="{FF2B5EF4-FFF2-40B4-BE49-F238E27FC236}">
                <a16:creationId xmlns:a16="http://schemas.microsoft.com/office/drawing/2014/main" id="{EDAE7BE6-EC2E-4949-8D43-4426F8D92108}"/>
              </a:ext>
            </a:extLst>
          </p:cNvPr>
          <p:cNvSpPr>
            <a:spLocks xmlns:a="http://schemas.openxmlformats.org/drawingml/2006/main" noGrp="1"/>
          </p:cNvSpPr>
          <p:nvPr/>
        </p:nvSpPr>
        <p:spPr>
          <a:xfrm xmlns:a="http://schemas.openxmlformats.org/drawingml/2006/main" rot="-1706576">
            <a:off x="4619625" y="3381375"/>
            <a:ext cx="1299910"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7" name="">
            <a:extLst xmlns:a="http://schemas.openxmlformats.org/drawingml/2006/main">
              <a:ext uri="{FF2B5EF4-FFF2-40B4-BE49-F238E27FC236}">
                <a16:creationId xmlns:a16="http://schemas.microsoft.com/office/drawing/2014/main" id="{A0CA719D-A080-45B0-8A1A-5369A3376F17}"/>
              </a:ext>
            </a:extLst>
          </p:cNvPr>
          <p:cNvSpPr>
            <a:spLocks xmlns:a="http://schemas.openxmlformats.org/drawingml/2006/main" noGrp="1"/>
          </p:cNvSpPr>
          <p:nvPr/>
        </p:nvSpPr>
        <p:spPr>
          <a:xfrm xmlns:a="http://schemas.openxmlformats.org/drawingml/2006/main" rot="3693424">
            <a:off x="5667375" y="267652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8" name="">
            <a:extLst xmlns:a="http://schemas.openxmlformats.org/drawingml/2006/main">
              <a:ext uri="{FF2B5EF4-FFF2-40B4-BE49-F238E27FC236}">
                <a16:creationId xmlns:a16="http://schemas.microsoft.com/office/drawing/2014/main" id="{D156D3FE-DD2E-4BCB-94EA-EF543F137517}"/>
              </a:ext>
            </a:extLst>
          </p:cNvPr>
          <p:cNvSpPr>
            <a:spLocks xmlns:a="http://schemas.openxmlformats.org/drawingml/2006/main" noGrp="1"/>
          </p:cNvSpPr>
          <p:nvPr/>
        </p:nvSpPr>
        <p:spPr>
          <a:xfrm xmlns:a="http://schemas.openxmlformats.org/drawingml/2006/main" rot="-1106097">
            <a:off x="5762625" y="2762250"/>
            <a:ext cx="1204828"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9" name="">
            <a:extLst xmlns:a="http://schemas.openxmlformats.org/drawingml/2006/main">
              <a:ext uri="{FF2B5EF4-FFF2-40B4-BE49-F238E27FC236}">
                <a16:creationId xmlns:a16="http://schemas.microsoft.com/office/drawing/2014/main" id="{A66A0F7F-098E-4734-97F0-FAE1D6A614B0}"/>
              </a:ext>
            </a:extLst>
          </p:cNvPr>
          <p:cNvSpPr>
            <a:spLocks xmlns:a="http://schemas.openxmlformats.org/drawingml/2006/main" noGrp="1"/>
          </p:cNvSpPr>
          <p:nvPr/>
        </p:nvSpPr>
        <p:spPr>
          <a:xfrm xmlns:a="http://schemas.openxmlformats.org/drawingml/2006/main" rot="4293903">
            <a:off x="6810375" y="229552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50" name="">
            <a:extLst xmlns:a="http://schemas.openxmlformats.org/drawingml/2006/main">
              <a:ext uri="{FF2B5EF4-FFF2-40B4-BE49-F238E27FC236}">
                <a16:creationId xmlns:a16="http://schemas.microsoft.com/office/drawing/2014/main" id="{8E67A145-6149-4EC0-8938-42F9209A292D}"/>
              </a:ext>
            </a:extLst>
          </p:cNvPr>
          <p:cNvSpPr>
            <a:spLocks xmlns:a="http://schemas.openxmlformats.org/drawingml/2006/main" noGrp="1"/>
          </p:cNvSpPr>
          <p:nvPr/>
        </p:nvSpPr>
        <p:spPr>
          <a:xfrm xmlns:a="http://schemas.openxmlformats.org/drawingml/2006/main" rot="1948272">
            <a:off x="6905625" y="2381250"/>
            <a:ext cx="1241908"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1" name="">
            <a:extLst xmlns:a="http://schemas.openxmlformats.org/drawingml/2006/main">
              <a:ext uri="{FF2B5EF4-FFF2-40B4-BE49-F238E27FC236}">
                <a16:creationId xmlns:a16="http://schemas.microsoft.com/office/drawing/2014/main" id="{E24B5B38-5EAC-44AD-976F-51A806D0818D}"/>
              </a:ext>
            </a:extLst>
          </p:cNvPr>
          <p:cNvSpPr>
            <a:spLocks xmlns:a="http://schemas.openxmlformats.org/drawingml/2006/main" noGrp="1"/>
          </p:cNvSpPr>
          <p:nvPr/>
        </p:nvSpPr>
        <p:spPr>
          <a:xfrm xmlns:a="http://schemas.openxmlformats.org/drawingml/2006/main" rot="7348272">
            <a:off x="7858125" y="296227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52" name="">
            <a:extLst xmlns:a="http://schemas.openxmlformats.org/drawingml/2006/main">
              <a:ext uri="{FF2B5EF4-FFF2-40B4-BE49-F238E27FC236}">
                <a16:creationId xmlns:a16="http://schemas.microsoft.com/office/drawing/2014/main" id="{841F1D52-AA61-45C0-B45A-D3D306F53185}"/>
              </a:ext>
            </a:extLst>
          </p:cNvPr>
          <p:cNvSpPr>
            <a:spLocks xmlns:a="http://schemas.openxmlformats.org/drawingml/2006/main" noGrp="1"/>
          </p:cNvSpPr>
          <p:nvPr/>
        </p:nvSpPr>
        <p:spPr>
          <a:xfrm xmlns:a="http://schemas.openxmlformats.org/drawingml/2006/main" rot="1784693">
            <a:off x="7953375" y="3048000"/>
            <a:ext cx="1151895"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3" name="">
            <a:extLst xmlns:a="http://schemas.openxmlformats.org/drawingml/2006/main">
              <a:ext uri="{FF2B5EF4-FFF2-40B4-BE49-F238E27FC236}">
                <a16:creationId xmlns:a16="http://schemas.microsoft.com/office/drawing/2014/main" id="{AC5318C9-CFCD-4BB9-80E4-5B1E6EF83F97}"/>
              </a:ext>
            </a:extLst>
          </p:cNvPr>
          <p:cNvSpPr>
            <a:spLocks xmlns:a="http://schemas.openxmlformats.org/drawingml/2006/main" noGrp="1"/>
          </p:cNvSpPr>
          <p:nvPr/>
        </p:nvSpPr>
        <p:spPr>
          <a:xfrm xmlns:a="http://schemas.openxmlformats.org/drawingml/2006/main" rot="7184693">
            <a:off x="8858250" y="353377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54" name="">
            <a:extLst xmlns:a="http://schemas.openxmlformats.org/drawingml/2006/main">
              <a:ext uri="{FF2B5EF4-FFF2-40B4-BE49-F238E27FC236}">
                <a16:creationId xmlns:a16="http://schemas.microsoft.com/office/drawing/2014/main" id="{FBA5CF56-E0B0-4A61-9606-37020FCCA026}"/>
              </a:ext>
            </a:extLst>
          </p:cNvPr>
          <p:cNvSpPr>
            <a:spLocks xmlns:a="http://schemas.openxmlformats.org/drawingml/2006/main" noGrp="1"/>
          </p:cNvSpPr>
          <p:nvPr/>
        </p:nvSpPr>
        <p:spPr>
          <a:xfrm xmlns:a="http://schemas.openxmlformats.org/drawingml/2006/main" rot="3982237">
            <a:off x="8953500" y="3619500"/>
            <a:ext cx="1663470"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55" name="">
            <a:extLst xmlns:a="http://schemas.openxmlformats.org/drawingml/2006/main">
              <a:ext uri="{FF2B5EF4-FFF2-40B4-BE49-F238E27FC236}">
                <a16:creationId xmlns:a16="http://schemas.microsoft.com/office/drawing/2014/main" id="{54646B41-7CB5-4295-BC40-5F8F1C84BE7A}"/>
              </a:ext>
            </a:extLst>
          </p:cNvPr>
          <p:cNvSpPr>
            <a:spLocks xmlns:a="http://schemas.openxmlformats.org/drawingml/2006/main" noGrp="1"/>
          </p:cNvSpPr>
          <p:nvPr/>
        </p:nvSpPr>
        <p:spPr>
          <a:xfrm xmlns:a="http://schemas.openxmlformats.org/drawingml/2006/main" rot="9382237">
            <a:off x="9525000" y="5057775"/>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56" name="">
            <a:extLst xmlns:a="http://schemas.openxmlformats.org/drawingml/2006/main">
              <a:ext uri="{FF2B5EF4-FFF2-40B4-BE49-F238E27FC236}">
                <a16:creationId xmlns:a16="http://schemas.microsoft.com/office/drawing/2014/main" id="{7A32D195-11AE-4A8C-BA31-E72CBF6EC9C8}"/>
              </a:ext>
            </a:extLst>
          </p:cNvPr>
          <p:cNvSpPr>
            <a:spLocks xmlns:a="http://schemas.openxmlformats.org/drawingml/2006/main" noGrp="1"/>
          </p:cNvSpPr>
          <p:nvPr/>
        </p:nvSpPr>
        <p:spPr>
          <a:xfrm xmlns:a="http://schemas.openxmlformats.org/drawingml/2006/main">
            <a:off x="9620250" y="2476500"/>
            <a:ext cx="76200" cy="29051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57" name="">
            <a:extLst xmlns:a="http://schemas.openxmlformats.org/drawingml/2006/main">
              <a:ext uri="{FF2B5EF4-FFF2-40B4-BE49-F238E27FC236}">
                <a16:creationId xmlns:a16="http://schemas.microsoft.com/office/drawing/2014/main" id="{71242AF2-A502-41CD-99CB-50FDFFDBA7AE}"/>
              </a:ext>
            </a:extLst>
          </p:cNvPr>
          <p:cNvSpPr>
            <a:spLocks xmlns:a="http://schemas.openxmlformats.org/drawingml/2006/main" noGrp="1"/>
          </p:cNvSpPr>
          <p:nvPr/>
        </p:nvSpPr>
        <p:spPr>
          <a:xfrm xmlns:a="http://schemas.openxmlformats.org/drawingml/2006/main">
            <a:off x="2381250" y="5476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2276E3"/>
                </a:solidFill>
              </a:defRPr>
            </a:pPr>
            <a:r>
              <a:rPr sz="1350" b="1">
                <a:solidFill>
                  <a:srgbClr val="2276E3"/>
                </a:solidFill>
              </a:rPr>
              <a:t>EARN SLOWLY</a:t>
            </a:r>
          </a:p>
        </p:txBody>
      </p:sp>
      <p:sp>
        <p:nvSpPr>
          <p:cNvPr id="58" name="">
            <a:extLst xmlns:a="http://schemas.openxmlformats.org/drawingml/2006/main">
              <a:ext uri="{FF2B5EF4-FFF2-40B4-BE49-F238E27FC236}">
                <a16:creationId xmlns:a16="http://schemas.microsoft.com/office/drawing/2014/main" id="{EA84B5CE-94C8-4C35-B1DE-8E5AD847BBD6}"/>
              </a:ext>
            </a:extLst>
          </p:cNvPr>
          <p:cNvSpPr>
            <a:spLocks xmlns:a="http://schemas.openxmlformats.org/drawingml/2006/main" noGrp="1"/>
          </p:cNvSpPr>
          <p:nvPr/>
        </p:nvSpPr>
        <p:spPr>
          <a:xfrm xmlns:a="http://schemas.openxmlformats.org/drawingml/2006/main">
            <a:off x="6762750" y="5476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37465B"/>
                </a:solidFill>
              </a:defRPr>
            </a:pPr>
            <a:r>
              <a:rPr sz="1350" b="1">
                <a:solidFill>
                  <a:srgbClr val="37465B"/>
                </a:solidFill>
              </a:rPr>
              <a:t>PASSIVE DECAY</a:t>
            </a:r>
          </a:p>
        </p:txBody>
      </p:sp>
      <p:sp>
        <p:nvSpPr>
          <p:cNvPr id="59" name="">
            <a:extLst xmlns:a="http://schemas.openxmlformats.org/drawingml/2006/main">
              <a:ext uri="{FF2B5EF4-FFF2-40B4-BE49-F238E27FC236}">
                <a16:creationId xmlns:a16="http://schemas.microsoft.com/office/drawing/2014/main" id="{1730370B-0F17-4572-A098-A54D1B1C0B42}"/>
              </a:ext>
            </a:extLst>
          </p:cNvPr>
          <p:cNvSpPr>
            <a:spLocks xmlns:a="http://schemas.openxmlformats.org/drawingml/2006/main" noGrp="1"/>
          </p:cNvSpPr>
          <p:nvPr/>
        </p:nvSpPr>
        <p:spPr>
          <a:xfrm xmlns:a="http://schemas.openxmlformats.org/drawingml/2006/main">
            <a:off x="9191625" y="54768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D7473F"/>
                </a:solidFill>
              </a:defRPr>
            </a:pPr>
            <a:r>
              <a:rPr sz="1350" b="1">
                <a:solidFill>
                  <a:srgbClr val="D7473F"/>
                </a:solidFill>
              </a:rPr>
              <a:t>LOSE QUICKLY</a:t>
            </a:r>
          </a:p>
        </p:txBody>
      </p:sp>
    </p:spTree>
    <p:extLst>
      <p:ext uri="{BB962C8B-B14F-4D97-AF65-F5344CB8AC3E}">
        <p14:creationId xmlns:p14="http://schemas.microsoft.com/office/powerpoint/2010/main" val="1957498701"/>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9189922-C296-41A5-88DB-02DFF248B15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2EA346F5-4314-419D-8E42-B6D23639041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179487DD-8DA9-4455-B2C5-73CE45350B6F}"/>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A1E3D868-B53C-4388-AFFE-8F252DED9226}"/>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97EBA622-8C9E-41A9-9960-E5E677072A03}"/>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3ECCE877-E12D-4404-AB26-FFA3E4F33E5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2D7E7CF8-DB23-4AB5-A6FC-A6B28E6F1329}"/>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0BAE643F-654E-4027-8ACD-3891E8AF6B2E}"/>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3CACEABD-1E35-414A-8E53-BF9D52431AB9}"/>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9D3CED87-7E20-4523-9BB3-C52A451022A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7536EEEA-6681-46D4-8485-10AAC2F90B2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A2431942-5299-4B5D-9CE9-2573D80F2D25}"/>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3132BFF5-DED4-4C6F-A720-D3AB4B2FD1DE}"/>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3E376661-E72E-40F6-A3F0-E777BEC995EE}"/>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D544C5E1-E78A-4A29-9A5E-65828F782BE9}"/>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763BFF9E-5911-41C6-9AAE-99C771B8243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12000B60-7FE9-4BF9-97CF-B2062C55623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A1256579-1E9B-4C45-8ADE-C44EFB6073AA}"/>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B941F2D9-E67A-4614-9A1B-19DF30024A80}"/>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7BA1C563-72DD-4586-9E9A-97C209B9BB46}"/>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015686C2-06DB-42F8-B24F-08C815308964}"/>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0A95A2D3-AAAE-4E73-BA12-BF74A2C34ADB}"/>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8302AE73-E27A-48C0-98C6-855046E2FBDB}"/>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F21AD90D-54E5-41EB-8562-ACA2CC77CC25}"/>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67978433-FA8B-4048-87C6-E500648AED9E}"/>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93C064B0-0BB0-456F-86B0-CAC7B53BB4F4}"/>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40B677C4-3EC8-4935-A37F-743D67E45113}"/>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BACC6262-8165-4546-85C8-032C296AA8E1}"/>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A466DD50-161F-4DD2-B8C8-E759142D4E31}"/>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C9E9927C-C2AD-4B33-8D52-AB280F5D71F1}"/>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A90E2F0A-EFF2-4B4A-9546-60D916DD5482}"/>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A43EDDFA-33C6-4C82-A8E8-5EF9E8051932}"/>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9EC2148B-54BD-44D3-AE7F-90BDFAD4371C}"/>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The disclosed incident turns ambient breach into a concrete sequence</a:t>
            </a:r>
          </a:p>
        </p:txBody>
      </p:sp>
      <p:sp>
        <p:nvSpPr>
          <p:cNvPr id="34" name="">
            <a:extLst xmlns:a="http://schemas.openxmlformats.org/drawingml/2006/main">
              <a:ext uri="{FF2B5EF4-FFF2-40B4-BE49-F238E27FC236}">
                <a16:creationId xmlns:a16="http://schemas.microsoft.com/office/drawing/2014/main" id="{048345AB-35EC-456B-B4E9-5259975EA382}"/>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1</a:t>
            </a:r>
          </a:p>
        </p:txBody>
      </p:sp>
      <p:sp>
        <p:nvSpPr>
          <p:cNvPr id="35" name="">
            <a:extLst xmlns:a="http://schemas.openxmlformats.org/drawingml/2006/main">
              <a:ext uri="{FF2B5EF4-FFF2-40B4-BE49-F238E27FC236}">
                <a16:creationId xmlns:a16="http://schemas.microsoft.com/office/drawing/2014/main" id="{13A8F888-3520-4D6A-96E6-ADD70B3C1D3E}"/>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7473F"/>
            </a:solidFill>
          </a:ln>
        </p:spPr>
      </p:sp>
      <p:sp>
        <p:nvSpPr>
          <p:cNvPr id="36" name="">
            <a:extLst xmlns:a="http://schemas.openxmlformats.org/drawingml/2006/main">
              <a:ext uri="{FF2B5EF4-FFF2-40B4-BE49-F238E27FC236}">
                <a16:creationId xmlns:a16="http://schemas.microsoft.com/office/drawing/2014/main" id="{1D151574-82E4-4A3B-97DE-C22835272949}"/>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7473F"/>
                </a:solidFill>
              </a:defRPr>
            </a:pPr>
            <a:r>
              <a:rPr sz="900" b="1">
                <a:solidFill>
                  <a:srgbClr val="D7473F"/>
                </a:solidFill>
              </a:rPr>
              <a:t>OBSERVED INCIDENT</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a488a05e2d84427a"/>
          <a:srcRect xmlns:a="http://schemas.openxmlformats.org/drawingml/2006/main" l="0" t="10438" r="0" b="10438"/>
          <a:stretch xmlns:a="http://schemas.openxmlformats.org/drawingml/2006/main">
            <a:fillRect l="0" t="0" r="0" b="0"/>
          </a:stretch>
        </p:blipFill>
        <p:spPr>
          <a:xfrm xmlns:a="http://schemas.openxmlformats.org/drawingml/2006/main">
            <a:off x="0" y="1428750"/>
            <a:ext cx="12192000" cy="54292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BE1DC561-782C-4D8A-8EAC-3B23F65A9457}"/>
              </a:ext>
            </a:extLst>
          </p:cNvPr>
          <p:cNvSpPr>
            <a:spLocks xmlns:a="http://schemas.openxmlformats.org/drawingml/2006/main" noGrp="1"/>
          </p:cNvSpPr>
          <p:nvPr/>
        </p:nvSpPr>
        <p:spPr>
          <a:xfrm xmlns:a="http://schemas.openxmlformats.org/drawingml/2006/main">
            <a:off x="666750" y="5810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1">
                <a:solidFill>
                  <a:srgbClr val="D7473F"/>
                </a:solidFill>
              </a:defRPr>
            </a:pPr>
            <a:r>
              <a:rPr sz="1200" b="1">
                <a:solidFill>
                  <a:srgbClr val="D7473F"/>
                </a:solidFill>
              </a:rPr>
              <a:t>DISCLOSED PATH</a:t>
            </a:r>
          </a:p>
        </p:txBody>
      </p:sp>
      <p:sp>
        <p:nvSpPr>
          <p:cNvPr id="39" name="">
            <a:extLst xmlns:a="http://schemas.openxmlformats.org/drawingml/2006/main">
              <a:ext uri="{FF2B5EF4-FFF2-40B4-BE49-F238E27FC236}">
                <a16:creationId xmlns:a16="http://schemas.microsoft.com/office/drawing/2014/main" id="{B11B22C7-C834-4823-8ED2-57E94A88C782}"/>
              </a:ext>
            </a:extLst>
          </p:cNvPr>
          <p:cNvSpPr>
            <a:spLocks xmlns:a="http://schemas.openxmlformats.org/drawingml/2006/main" noGrp="1"/>
          </p:cNvSpPr>
          <p:nvPr/>
        </p:nvSpPr>
        <p:spPr>
          <a:xfrm xmlns:a="http://schemas.openxmlformats.org/drawingml/2006/main">
            <a:off x="7667625" y="58102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00" b="1">
                <a:solidFill>
                  <a:srgbClr val="2276E3"/>
                </a:solidFill>
              </a:defRPr>
            </a:pPr>
            <a:r>
              <a:rPr sz="1200" b="1">
                <a:solidFill>
                  <a:srgbClr val="2276E3"/>
                </a:solidFill>
              </a:rPr>
              <a:t>BOUNDED KIL COUNTERFACTUAL</a:t>
            </a:r>
          </a:p>
        </p:txBody>
      </p:sp>
    </p:spTree>
    <p:extLst>
      <p:ext uri="{BB962C8B-B14F-4D97-AF65-F5344CB8AC3E}">
        <p14:creationId xmlns:p14="http://schemas.microsoft.com/office/powerpoint/2010/main" val="1967476035"/>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E9AE08D7-E5D9-465F-BE5C-96B67F2A475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6B00851C-7643-4FE1-9DE3-6C81F7AC679B}"/>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D33BF705-9D03-46B7-BDF6-B21FD6DECFED}"/>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AA8298D4-757C-4F2E-B8EE-8E669E6E14BC}"/>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8A80BE49-0E52-42EB-A030-42AAEDCC02DD}"/>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E885AB4A-0295-487F-A18E-CCEDA3A105AA}"/>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854050B8-79F5-42F7-8C80-EA4AB3F70533}"/>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1690BE0A-4550-42FC-83B7-01F0E4B22F6D}"/>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1C86F304-5DD5-4DE1-B728-D45A3E70D3E1}"/>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313B1946-543A-4C8A-A9C6-EE40DAAD6EB4}"/>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EF620FB5-4DA1-455F-A233-5DB7AB58B98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95B3223C-2888-4C37-BD5A-68C9B7437679}"/>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1109EEFF-C155-4221-B858-C0192B78C8AE}"/>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A1DCF21F-DE43-4D9F-BA69-D8E2E6B1EFD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BDA3C19A-7AF5-4E2E-A794-A2CDAF840B00}"/>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5E3578EF-7590-4640-9AC6-3BEBCC8B6255}"/>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6B37AF8E-BF66-4E3E-B0E7-9DB01F762E50}"/>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DB535421-F30B-4067-BB4C-4BDFB42D8305}"/>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59366735-5E54-4949-829E-7105EC19CD73}"/>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DF767401-99E3-4651-B768-414C7F1901AC}"/>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AEADE27B-D232-42F3-84E9-26046D54C522}"/>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973DF97D-099A-4946-A629-9700DE72DF43}"/>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11C78F9A-B990-4EE6-8288-2926D26900F5}"/>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1878F585-0342-42D3-AD5A-7AF937BDAAB1}"/>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7B9CA052-68AB-419C-AF0D-6EEF83A1221E}"/>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929EAA6C-3FA1-4CDA-9B9C-577E8B0E7C8A}"/>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78D44432-0CA5-46EB-9D84-F60DF70FDBCB}"/>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97D8D6EF-CD41-44CB-83F4-062CA2E58FA4}"/>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B3576836-C703-4ADE-8EC4-9EECCEF30AE5}"/>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1DC4B42D-DB70-40C3-94B5-E880300AAEF0}"/>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07DD513C-2C0E-4156-A2E3-D591E505CAEF}"/>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3D3F09CB-2919-4D36-A771-A2B987A91477}"/>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9597DF92-BB2B-48D7-BF43-DFD55E443A02}"/>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Observed facts, modeled inputs, and pending validation remain separate</a:t>
            </a:r>
          </a:p>
        </p:txBody>
      </p:sp>
      <p:sp>
        <p:nvSpPr>
          <p:cNvPr id="34" name="">
            <a:extLst xmlns:a="http://schemas.openxmlformats.org/drawingml/2006/main">
              <a:ext uri="{FF2B5EF4-FFF2-40B4-BE49-F238E27FC236}">
                <a16:creationId xmlns:a16="http://schemas.microsoft.com/office/drawing/2014/main" id="{32C5DECE-2787-4FA2-9914-AE3DC885F236}"/>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1A</a:t>
            </a:r>
          </a:p>
        </p:txBody>
      </p:sp>
      <p:sp>
        <p:nvSpPr>
          <p:cNvPr id="35" name="">
            <a:extLst xmlns:a="http://schemas.openxmlformats.org/drawingml/2006/main">
              <a:ext uri="{FF2B5EF4-FFF2-40B4-BE49-F238E27FC236}">
                <a16:creationId xmlns:a16="http://schemas.microsoft.com/office/drawing/2014/main" id="{8F064E82-1E5D-4D73-B256-F128FAD1F994}"/>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44C7EF44-7867-49DD-A916-0008C598A576}"/>
              </a:ext>
            </a:extLst>
          </p:cNvPr>
          <p:cNvSpPr>
            <a:spLocks xmlns:a="http://schemas.openxmlformats.org/drawingml/2006/main" noGrp="1"/>
          </p:cNvSpPr>
          <p:nvPr/>
        </p:nvSpPr>
        <p:spPr>
          <a:xfrm xmlns:a="http://schemas.openxmlformats.org/drawingml/2006/main">
            <a:off x="857250" y="1809750"/>
            <a:ext cx="152400" cy="6477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37" name="">
            <a:extLst xmlns:a="http://schemas.openxmlformats.org/drawingml/2006/main">
              <a:ext uri="{FF2B5EF4-FFF2-40B4-BE49-F238E27FC236}">
                <a16:creationId xmlns:a16="http://schemas.microsoft.com/office/drawing/2014/main" id="{FD8394A9-E66D-44A4-B6BE-CEF4E19F78DC}"/>
              </a:ext>
            </a:extLst>
          </p:cNvPr>
          <p:cNvSpPr>
            <a:spLocks xmlns:a="http://schemas.openxmlformats.org/drawingml/2006/main" noGrp="1"/>
          </p:cNvSpPr>
          <p:nvPr/>
        </p:nvSpPr>
        <p:spPr>
          <a:xfrm xmlns:a="http://schemas.openxmlformats.org/drawingml/2006/main">
            <a:off x="1238250" y="1809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D7473F"/>
                </a:solidFill>
              </a:defRPr>
            </a:pPr>
            <a:r>
              <a:rPr sz="1500" b="1">
                <a:solidFill>
                  <a:srgbClr val="D7473F"/>
                </a:solidFill>
              </a:rPr>
              <a:t>OBSERVED</a:t>
            </a:r>
          </a:p>
        </p:txBody>
      </p:sp>
      <p:sp>
        <p:nvSpPr>
          <p:cNvPr id="38" name="">
            <a:extLst xmlns:a="http://schemas.openxmlformats.org/drawingml/2006/main">
              <a:ext uri="{FF2B5EF4-FFF2-40B4-BE49-F238E27FC236}">
                <a16:creationId xmlns:a16="http://schemas.microsoft.com/office/drawing/2014/main" id="{91763067-4BF6-425A-842A-ED3CA8DA6158}"/>
              </a:ext>
            </a:extLst>
          </p:cNvPr>
          <p:cNvSpPr>
            <a:spLocks xmlns:a="http://schemas.openxmlformats.org/drawingml/2006/main" noGrp="1"/>
          </p:cNvSpPr>
          <p:nvPr/>
        </p:nvSpPr>
        <p:spPr>
          <a:xfrm xmlns:a="http://schemas.openxmlformats.org/drawingml/2006/main">
            <a:off x="4095750" y="180975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0">
                <a:solidFill>
                  <a:srgbClr val="081426"/>
                </a:solidFill>
              </a:defRPr>
            </a:pPr>
            <a:r>
              <a:rPr sz="1650" b="0">
                <a:solidFill>
                  <a:srgbClr val="081426"/>
                </a:solidFill>
              </a:rPr>
              <a:t>Published incident facts</a:t>
            </a:r>
          </a:p>
        </p:txBody>
      </p:sp>
      <p:sp>
        <p:nvSpPr>
          <p:cNvPr id="39" name="">
            <a:extLst xmlns:a="http://schemas.openxmlformats.org/drawingml/2006/main">
              <a:ext uri="{FF2B5EF4-FFF2-40B4-BE49-F238E27FC236}">
                <a16:creationId xmlns:a16="http://schemas.microsoft.com/office/drawing/2014/main" id="{5FC6FF6A-9BE1-4C23-A116-24FBADD5D376}"/>
              </a:ext>
            </a:extLst>
          </p:cNvPr>
          <p:cNvSpPr>
            <a:spLocks xmlns:a="http://schemas.openxmlformats.org/drawingml/2006/main" noGrp="1"/>
          </p:cNvSpPr>
          <p:nvPr/>
        </p:nvSpPr>
        <p:spPr>
          <a:xfrm xmlns:a="http://schemas.openxmlformats.org/drawingml/2006/main">
            <a:off x="857250" y="2762250"/>
            <a:ext cx="152400" cy="6477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0" name="">
            <a:extLst xmlns:a="http://schemas.openxmlformats.org/drawingml/2006/main">
              <a:ext uri="{FF2B5EF4-FFF2-40B4-BE49-F238E27FC236}">
                <a16:creationId xmlns:a16="http://schemas.microsoft.com/office/drawing/2014/main" id="{1F9BBD38-72E3-40A5-AB1B-DA2EBC0B0FEA}"/>
              </a:ext>
            </a:extLst>
          </p:cNvPr>
          <p:cNvSpPr>
            <a:spLocks xmlns:a="http://schemas.openxmlformats.org/drawingml/2006/main" noGrp="1"/>
          </p:cNvSpPr>
          <p:nvPr/>
        </p:nvSpPr>
        <p:spPr>
          <a:xfrm xmlns:a="http://schemas.openxmlformats.org/drawingml/2006/main">
            <a:off x="1238250" y="2762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2276E3"/>
                </a:solidFill>
              </a:defRPr>
            </a:pPr>
            <a:r>
              <a:rPr sz="1500" b="1">
                <a:solidFill>
                  <a:srgbClr val="2276E3"/>
                </a:solidFill>
              </a:rPr>
              <a:t>MODELED</a:t>
            </a:r>
          </a:p>
        </p:txBody>
      </p:sp>
      <p:sp>
        <p:nvSpPr>
          <p:cNvPr id="41" name="">
            <a:extLst xmlns:a="http://schemas.openxmlformats.org/drawingml/2006/main">
              <a:ext uri="{FF2B5EF4-FFF2-40B4-BE49-F238E27FC236}">
                <a16:creationId xmlns:a16="http://schemas.microsoft.com/office/drawing/2014/main" id="{431F195C-5467-45C7-BF56-9881277204C0}"/>
              </a:ext>
            </a:extLst>
          </p:cNvPr>
          <p:cNvSpPr>
            <a:spLocks xmlns:a="http://schemas.openxmlformats.org/drawingml/2006/main" noGrp="1"/>
          </p:cNvSpPr>
          <p:nvPr/>
        </p:nvSpPr>
        <p:spPr>
          <a:xfrm xmlns:a="http://schemas.openxmlformats.org/drawingml/2006/main">
            <a:off x="4095750" y="276225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0">
                <a:solidFill>
                  <a:srgbClr val="081426"/>
                </a:solidFill>
              </a:defRPr>
            </a:pPr>
            <a:r>
              <a:rPr sz="1650" b="0">
                <a:solidFill>
                  <a:srgbClr val="081426"/>
                </a:solidFill>
              </a:rPr>
              <a:t>Declared KIL inputs and counterfactual</a:t>
            </a:r>
          </a:p>
        </p:txBody>
      </p:sp>
      <p:sp>
        <p:nvSpPr>
          <p:cNvPr id="42" name="">
            <a:extLst xmlns:a="http://schemas.openxmlformats.org/drawingml/2006/main">
              <a:ext uri="{FF2B5EF4-FFF2-40B4-BE49-F238E27FC236}">
                <a16:creationId xmlns:a16="http://schemas.microsoft.com/office/drawing/2014/main" id="{EE0FB9F9-B700-41A2-AD97-F7460C30833D}"/>
              </a:ext>
            </a:extLst>
          </p:cNvPr>
          <p:cNvSpPr>
            <a:spLocks xmlns:a="http://schemas.openxmlformats.org/drawingml/2006/main" noGrp="1"/>
          </p:cNvSpPr>
          <p:nvPr/>
        </p:nvSpPr>
        <p:spPr>
          <a:xfrm xmlns:a="http://schemas.openxmlformats.org/drawingml/2006/main">
            <a:off x="857250" y="3714750"/>
            <a:ext cx="152400" cy="64770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43" name="">
            <a:extLst xmlns:a="http://schemas.openxmlformats.org/drawingml/2006/main">
              <a:ext uri="{FF2B5EF4-FFF2-40B4-BE49-F238E27FC236}">
                <a16:creationId xmlns:a16="http://schemas.microsoft.com/office/drawing/2014/main" id="{17176B77-0FC6-4ACB-A638-0066C3E31FC0}"/>
              </a:ext>
            </a:extLst>
          </p:cNvPr>
          <p:cNvSpPr>
            <a:spLocks xmlns:a="http://schemas.openxmlformats.org/drawingml/2006/main" noGrp="1"/>
          </p:cNvSpPr>
          <p:nvPr/>
        </p:nvSpPr>
        <p:spPr>
          <a:xfrm xmlns:a="http://schemas.openxmlformats.org/drawingml/2006/main">
            <a:off x="1238250" y="3714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2F9B69"/>
                </a:solidFill>
              </a:defRPr>
            </a:pPr>
            <a:r>
              <a:rPr sz="1500" b="1">
                <a:solidFill>
                  <a:srgbClr val="2F9B69"/>
                </a:solidFill>
              </a:rPr>
              <a:t>LOCALLY REPRODUCED</a:t>
            </a:r>
          </a:p>
        </p:txBody>
      </p:sp>
      <p:sp>
        <p:nvSpPr>
          <p:cNvPr id="44" name="">
            <a:extLst xmlns:a="http://schemas.openxmlformats.org/drawingml/2006/main">
              <a:ext uri="{FF2B5EF4-FFF2-40B4-BE49-F238E27FC236}">
                <a16:creationId xmlns:a16="http://schemas.microsoft.com/office/drawing/2014/main" id="{972B8B35-95B5-4AC7-B091-3B674FA5EDBD}"/>
              </a:ext>
            </a:extLst>
          </p:cNvPr>
          <p:cNvSpPr>
            <a:spLocks xmlns:a="http://schemas.openxmlformats.org/drawingml/2006/main" noGrp="1"/>
          </p:cNvSpPr>
          <p:nvPr/>
        </p:nvSpPr>
        <p:spPr>
          <a:xfrm xmlns:a="http://schemas.openxmlformats.org/drawingml/2006/main">
            <a:off x="4095750" y="371475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0">
                <a:solidFill>
                  <a:srgbClr val="081426"/>
                </a:solidFill>
              </a:defRPr>
            </a:pPr>
            <a:r>
              <a:rPr sz="1650" b="0">
                <a:solidFill>
                  <a:srgbClr val="081426"/>
                </a:solidFill>
              </a:rPr>
              <a:t>Reference behavior reproduced</a:t>
            </a:r>
          </a:p>
        </p:txBody>
      </p:sp>
      <p:sp>
        <p:nvSpPr>
          <p:cNvPr id="45" name="">
            <a:extLst xmlns:a="http://schemas.openxmlformats.org/drawingml/2006/main">
              <a:ext uri="{FF2B5EF4-FFF2-40B4-BE49-F238E27FC236}">
                <a16:creationId xmlns:a16="http://schemas.microsoft.com/office/drawing/2014/main" id="{0484362E-3487-4F55-9598-A010D4990C69}"/>
              </a:ext>
            </a:extLst>
          </p:cNvPr>
          <p:cNvSpPr>
            <a:spLocks xmlns:a="http://schemas.openxmlformats.org/drawingml/2006/main" noGrp="1"/>
          </p:cNvSpPr>
          <p:nvPr/>
        </p:nvSpPr>
        <p:spPr>
          <a:xfrm xmlns:a="http://schemas.openxmlformats.org/drawingml/2006/main">
            <a:off x="857250" y="4667250"/>
            <a:ext cx="152400" cy="647700"/>
          </a:xfrm>
          <a:prstGeom xmlns:a="http://schemas.openxmlformats.org/drawingml/2006/main" prst="rect">
            <a:avLst/>
          </a:prstGeom>
          <a:solidFill xmlns:a="http://schemas.openxmlformats.org/drawingml/2006/main">
            <a:srgbClr val="D49A2A"/>
          </a:solidFill>
          <a:ln xmlns:a="http://schemas.openxmlformats.org/drawingml/2006/main" w="14288">
            <a:solidFill>
              <a:srgbClr val="D49A2A"/>
            </a:solidFill>
          </a:ln>
        </p:spPr>
      </p:sp>
      <p:sp>
        <p:nvSpPr>
          <p:cNvPr id="46" name="">
            <a:extLst xmlns:a="http://schemas.openxmlformats.org/drawingml/2006/main">
              <a:ext uri="{FF2B5EF4-FFF2-40B4-BE49-F238E27FC236}">
                <a16:creationId xmlns:a16="http://schemas.microsoft.com/office/drawing/2014/main" id="{C18EF3C9-AD00-4244-B564-89D54B65F857}"/>
              </a:ext>
            </a:extLst>
          </p:cNvPr>
          <p:cNvSpPr>
            <a:spLocks xmlns:a="http://schemas.openxmlformats.org/drawingml/2006/main" noGrp="1"/>
          </p:cNvSpPr>
          <p:nvPr/>
        </p:nvSpPr>
        <p:spPr>
          <a:xfrm xmlns:a="http://schemas.openxmlformats.org/drawingml/2006/main">
            <a:off x="1238250" y="4667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D49A2A"/>
                </a:solidFill>
              </a:defRPr>
            </a:pPr>
            <a:r>
              <a:rPr sz="1500" b="1">
                <a:solidFill>
                  <a:srgbClr val="D49A2A"/>
                </a:solidFill>
              </a:rPr>
              <a:t>PENDING</a:t>
            </a:r>
          </a:p>
        </p:txBody>
      </p:sp>
      <p:sp>
        <p:nvSpPr>
          <p:cNvPr id="47" name="">
            <a:extLst xmlns:a="http://schemas.openxmlformats.org/drawingml/2006/main">
              <a:ext uri="{FF2B5EF4-FFF2-40B4-BE49-F238E27FC236}">
                <a16:creationId xmlns:a16="http://schemas.microsoft.com/office/drawing/2014/main" id="{3921151A-9895-4E8C-B3D7-5858405D18A1}"/>
              </a:ext>
            </a:extLst>
          </p:cNvPr>
          <p:cNvSpPr>
            <a:spLocks xmlns:a="http://schemas.openxmlformats.org/drawingml/2006/main" noGrp="1"/>
          </p:cNvSpPr>
          <p:nvPr/>
        </p:nvSpPr>
        <p:spPr>
          <a:xfrm xmlns:a="http://schemas.openxmlformats.org/drawingml/2006/main">
            <a:off x="4095750" y="466725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0">
                <a:solidFill>
                  <a:srgbClr val="081426"/>
                </a:solidFill>
              </a:defRPr>
            </a:pPr>
            <a:r>
              <a:rPr sz="1650" b="0">
                <a:solidFill>
                  <a:srgbClr val="081426"/>
                </a:solidFill>
              </a:rPr>
              <a:t>Live acceptance gate not yet satisfied</a:t>
            </a:r>
          </a:p>
        </p:txBody>
      </p:sp>
    </p:spTree>
    <p:extLst>
      <p:ext uri="{BB962C8B-B14F-4D97-AF65-F5344CB8AC3E}">
        <p14:creationId xmlns:p14="http://schemas.microsoft.com/office/powerpoint/2010/main" val="2130991868"/>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1BE736FE-4592-40FD-B171-38E4B8681F3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4A1D449F-61F1-4487-9DD9-E110E516780B}"/>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4AF505FE-3784-46AE-9317-9211DE227850}"/>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7FE1C13B-249C-457B-A144-AF9940E60297}"/>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DB20EBE9-61E7-4403-B933-98DFD1257D92}"/>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46B7A61D-333A-4E42-9E5A-E037852DA91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1C49450E-D8F8-40BC-BEB4-83AAA10158FF}"/>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C646EF44-158A-4DB6-B1AE-49023B731199}"/>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0997140A-0EF0-487F-8C48-80CE86E3F483}"/>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5CAA5668-5C00-4436-8E3A-1D2A6CDEF11D}"/>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27AA7319-6DA7-42FB-9D1D-29ED69AD2F1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FEE326DD-2E3B-4698-B56D-F231B61CE729}"/>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F207C31D-0EB2-49C4-A9C2-E9CA3E8652B4}"/>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EBFEAF8E-0780-4845-889E-A4E040FF1EA0}"/>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EFB1E820-B6F7-4E64-99E9-4AF94C66F78F}"/>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4ACCED21-7878-4685-9C7C-3885BEB54051}"/>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1A4C7899-7420-4F13-A7AE-A8E4F748608D}"/>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284C84A6-1A27-44DE-AAFA-CF6CE8C3BAE6}"/>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B08A8986-4DF3-4B75-8FA4-961A9F47B044}"/>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D596419A-8D37-41AC-96C7-8F205157209C}"/>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842FA5C7-156F-4231-9E5B-45E05CE59A6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A8AC15EE-EF69-41C2-9C71-046D0810278E}"/>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4DCBD4A3-BD91-4927-97C8-D2EE3ED238B7}"/>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90C814EB-4F4D-4471-8A3E-4DD5133F2963}"/>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4D11D8F6-C880-4BA9-A4A4-E04A3EED9AD1}"/>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1F50C78E-6015-4CF7-9B29-E32A7E209E59}"/>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D1A82C99-4054-41FD-8B4F-3682DD0C6043}"/>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1E751D67-FF2A-4222-AD0C-F83BFF948A96}"/>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0D469FCB-F6BF-48DE-93BA-E1E04123A293}"/>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E33B9AAA-02AF-4C5B-B9BA-942A54150CD7}"/>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C6C106EB-327A-46D4-8C7D-F95659DE4712}"/>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44D48CDE-E87B-401E-9FB8-2C4F9B98914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54D03C6B-A361-4979-962A-79A27924329D}"/>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A trusted worker became the foothold before the tested transport boundary</a:t>
            </a:r>
          </a:p>
        </p:txBody>
      </p:sp>
      <p:sp>
        <p:nvSpPr>
          <p:cNvPr id="34" name="">
            <a:extLst xmlns:a="http://schemas.openxmlformats.org/drawingml/2006/main">
              <a:ext uri="{FF2B5EF4-FFF2-40B4-BE49-F238E27FC236}">
                <a16:creationId xmlns:a16="http://schemas.microsoft.com/office/drawing/2014/main" id="{6A4FA59B-72CF-47A5-858F-60BFB57269D3}"/>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2</a:t>
            </a:r>
          </a:p>
        </p:txBody>
      </p:sp>
      <p:sp>
        <p:nvSpPr>
          <p:cNvPr id="35" name="">
            <a:extLst xmlns:a="http://schemas.openxmlformats.org/drawingml/2006/main">
              <a:ext uri="{FF2B5EF4-FFF2-40B4-BE49-F238E27FC236}">
                <a16:creationId xmlns:a16="http://schemas.microsoft.com/office/drawing/2014/main" id="{34324E29-A237-4C75-9CF9-6029E0B8E9D8}"/>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7473F"/>
            </a:solidFill>
          </a:ln>
        </p:spPr>
      </p:sp>
      <p:sp>
        <p:nvSpPr>
          <p:cNvPr id="36" name="">
            <a:extLst xmlns:a="http://schemas.openxmlformats.org/drawingml/2006/main">
              <a:ext uri="{FF2B5EF4-FFF2-40B4-BE49-F238E27FC236}">
                <a16:creationId xmlns:a16="http://schemas.microsoft.com/office/drawing/2014/main" id="{EDFE1C54-BD02-4B55-AAAA-F36255C7450B}"/>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7473F"/>
                </a:solidFill>
              </a:defRPr>
            </a:pPr>
            <a:r>
              <a:rPr sz="900" b="1">
                <a:solidFill>
                  <a:srgbClr val="D7473F"/>
                </a:solidFill>
              </a:rPr>
              <a:t>OBSERVED INCIDENT</a:t>
            </a:r>
          </a:p>
        </p:txBody>
      </p:sp>
      <p:sp>
        <p:nvSpPr>
          <p:cNvPr id="37" name="">
            <a:extLst xmlns:a="http://schemas.openxmlformats.org/drawingml/2006/main">
              <a:ext uri="{FF2B5EF4-FFF2-40B4-BE49-F238E27FC236}">
                <a16:creationId xmlns:a16="http://schemas.microsoft.com/office/drawing/2014/main" id="{199FD48E-7999-42B1-BE4D-1BCA24ED3257}"/>
              </a:ext>
            </a:extLst>
          </p:cNvPr>
          <p:cNvSpPr>
            <a:spLocks xmlns:a="http://schemas.openxmlformats.org/drawingml/2006/main" noGrp="1"/>
          </p:cNvSpPr>
          <p:nvPr/>
        </p:nvSpPr>
        <p:spPr>
          <a:xfrm xmlns:a="http://schemas.openxmlformats.org/drawingml/2006/main">
            <a:off x="857250" y="2809875"/>
            <a:ext cx="20955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7473F"/>
            </a:solidFill>
          </a:ln>
        </p:spPr>
      </p:sp>
      <p:sp>
        <p:nvSpPr>
          <p:cNvPr id="38" name="">
            <a:extLst xmlns:a="http://schemas.openxmlformats.org/drawingml/2006/main">
              <a:ext uri="{FF2B5EF4-FFF2-40B4-BE49-F238E27FC236}">
                <a16:creationId xmlns:a16="http://schemas.microsoft.com/office/drawing/2014/main" id="{36DCD5D1-ACB2-4C84-AA23-908453878302}"/>
              </a:ext>
            </a:extLst>
          </p:cNvPr>
          <p:cNvSpPr>
            <a:spLocks xmlns:a="http://schemas.openxmlformats.org/drawingml/2006/main" noGrp="1"/>
          </p:cNvSpPr>
          <p:nvPr/>
        </p:nvSpPr>
        <p:spPr>
          <a:xfrm xmlns:a="http://schemas.openxmlformats.org/drawingml/2006/main">
            <a:off x="857250" y="2809875"/>
            <a:ext cx="66675" cy="9525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39" name="">
            <a:extLst xmlns:a="http://schemas.openxmlformats.org/drawingml/2006/main">
              <a:ext uri="{FF2B5EF4-FFF2-40B4-BE49-F238E27FC236}">
                <a16:creationId xmlns:a16="http://schemas.microsoft.com/office/drawing/2014/main" id="{155C0854-0933-4CEC-9F28-57877DD026D1}"/>
              </a:ext>
            </a:extLst>
          </p:cNvPr>
          <p:cNvSpPr>
            <a:spLocks xmlns:a="http://schemas.openxmlformats.org/drawingml/2006/main" noGrp="1"/>
          </p:cNvSpPr>
          <p:nvPr/>
        </p:nvSpPr>
        <p:spPr>
          <a:xfrm xmlns:a="http://schemas.openxmlformats.org/drawingml/2006/main">
            <a:off x="1019175" y="2886075"/>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DATASET</a:t>
            </a:r>
          </a:p>
          <a:p xmlns:a="http://schemas.openxmlformats.org/drawingml/2006/main">
            <a:pPr algn="ctr">
              <a:defRPr sz="1350" b="1">
                <a:solidFill>
                  <a:srgbClr val="081426"/>
                </a:solidFill>
              </a:defRPr>
            </a:pPr>
            <a:r>
              <a:rPr sz="1350" b="1">
                <a:solidFill>
                  <a:srgbClr val="081426"/>
                </a:solidFill>
              </a:rPr>
              <a:t>RENDERER</a:t>
            </a:r>
          </a:p>
        </p:txBody>
      </p:sp>
      <p:sp>
        <p:nvSpPr>
          <p:cNvPr id="40" name="">
            <a:extLst xmlns:a="http://schemas.openxmlformats.org/drawingml/2006/main">
              <a:ext uri="{FF2B5EF4-FFF2-40B4-BE49-F238E27FC236}">
                <a16:creationId xmlns:a16="http://schemas.microsoft.com/office/drawing/2014/main" id="{8662DDF9-AA26-4FFD-B0F0-3D6C3B83F4D5}"/>
              </a:ext>
            </a:extLst>
          </p:cNvPr>
          <p:cNvSpPr>
            <a:spLocks xmlns:a="http://schemas.openxmlformats.org/drawingml/2006/main" noGrp="1"/>
          </p:cNvSpPr>
          <p:nvPr/>
        </p:nvSpPr>
        <p:spPr>
          <a:xfrm xmlns:a="http://schemas.openxmlformats.org/drawingml/2006/main" rot="0">
            <a:off x="2952750" y="3286125"/>
            <a:ext cx="1809750"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1" name="">
            <a:extLst xmlns:a="http://schemas.openxmlformats.org/drawingml/2006/main">
              <a:ext uri="{FF2B5EF4-FFF2-40B4-BE49-F238E27FC236}">
                <a16:creationId xmlns:a16="http://schemas.microsoft.com/office/drawing/2014/main" id="{5F276A6B-1239-460F-B2B5-B6F94C45AFD5}"/>
              </a:ext>
            </a:extLst>
          </p:cNvPr>
          <p:cNvSpPr>
            <a:spLocks xmlns:a="http://schemas.openxmlformats.org/drawingml/2006/main" noGrp="1"/>
          </p:cNvSpPr>
          <p:nvPr/>
        </p:nvSpPr>
        <p:spPr>
          <a:xfrm xmlns:a="http://schemas.openxmlformats.org/drawingml/2006/main" rot="5400000">
            <a:off x="4667250" y="32004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2" name="">
            <a:extLst xmlns:a="http://schemas.openxmlformats.org/drawingml/2006/main">
              <a:ext uri="{FF2B5EF4-FFF2-40B4-BE49-F238E27FC236}">
                <a16:creationId xmlns:a16="http://schemas.microsoft.com/office/drawing/2014/main" id="{E7D1DF6D-F585-43ED-8380-4BDD3067AE8D}"/>
              </a:ext>
            </a:extLst>
          </p:cNvPr>
          <p:cNvSpPr>
            <a:spLocks xmlns:a="http://schemas.openxmlformats.org/drawingml/2006/main" noGrp="1"/>
          </p:cNvSpPr>
          <p:nvPr/>
        </p:nvSpPr>
        <p:spPr>
          <a:xfrm xmlns:a="http://schemas.openxmlformats.org/drawingml/2006/main">
            <a:off x="4762500" y="2714625"/>
            <a:ext cx="22860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D7473F"/>
            </a:solidFill>
          </a:ln>
        </p:spPr>
      </p:sp>
      <p:sp>
        <p:nvSpPr>
          <p:cNvPr id="43" name="">
            <a:extLst xmlns:a="http://schemas.openxmlformats.org/drawingml/2006/main">
              <a:ext uri="{FF2B5EF4-FFF2-40B4-BE49-F238E27FC236}">
                <a16:creationId xmlns:a16="http://schemas.microsoft.com/office/drawing/2014/main" id="{E6C6AD00-883E-4FC4-A840-43AC152A72A0}"/>
              </a:ext>
            </a:extLst>
          </p:cNvPr>
          <p:cNvSpPr>
            <a:spLocks xmlns:a="http://schemas.openxmlformats.org/drawingml/2006/main" noGrp="1"/>
          </p:cNvSpPr>
          <p:nvPr/>
        </p:nvSpPr>
        <p:spPr>
          <a:xfrm xmlns:a="http://schemas.openxmlformats.org/drawingml/2006/main">
            <a:off x="4762500" y="2714625"/>
            <a:ext cx="66675" cy="11430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4" name="">
            <a:extLst xmlns:a="http://schemas.openxmlformats.org/drawingml/2006/main">
              <a:ext uri="{FF2B5EF4-FFF2-40B4-BE49-F238E27FC236}">
                <a16:creationId xmlns:a16="http://schemas.microsoft.com/office/drawing/2014/main" id="{4AAB636D-78DB-4694-9339-12D52C80DB88}"/>
              </a:ext>
            </a:extLst>
          </p:cNvPr>
          <p:cNvSpPr>
            <a:spLocks xmlns:a="http://schemas.openxmlformats.org/drawingml/2006/main" noGrp="1"/>
          </p:cNvSpPr>
          <p:nvPr/>
        </p:nvSpPr>
        <p:spPr>
          <a:xfrm xmlns:a="http://schemas.openxmlformats.org/drawingml/2006/main">
            <a:off x="4924425" y="2790825"/>
            <a:ext cx="2019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WORKER</a:t>
            </a:r>
          </a:p>
          <a:p xmlns:a="http://schemas.openxmlformats.org/drawingml/2006/main">
            <a:pPr algn="ctr">
              <a:defRPr sz="1350" b="1">
                <a:solidFill>
                  <a:srgbClr val="081426"/>
                </a:solidFill>
              </a:defRPr>
            </a:pPr>
            <a:r>
              <a:rPr sz="1350" b="1">
                <a:solidFill>
                  <a:srgbClr val="081426"/>
                </a:solidFill>
              </a:rPr>
              <a:t>FOOTHOLD</a:t>
            </a:r>
          </a:p>
        </p:txBody>
      </p:sp>
      <p:sp>
        <p:nvSpPr>
          <p:cNvPr id="45" name="">
            <a:extLst xmlns:a="http://schemas.openxmlformats.org/drawingml/2006/main">
              <a:ext uri="{FF2B5EF4-FFF2-40B4-BE49-F238E27FC236}">
                <a16:creationId xmlns:a16="http://schemas.microsoft.com/office/drawing/2014/main" id="{12A2E7BA-9BA3-489A-9B3A-4D8C6D15F73A}"/>
              </a:ext>
            </a:extLst>
          </p:cNvPr>
          <p:cNvSpPr>
            <a:spLocks xmlns:a="http://schemas.openxmlformats.org/drawingml/2006/main" noGrp="1"/>
          </p:cNvSpPr>
          <p:nvPr/>
        </p:nvSpPr>
        <p:spPr>
          <a:xfrm xmlns:a="http://schemas.openxmlformats.org/drawingml/2006/main" rot="0">
            <a:off x="7048500" y="3286125"/>
            <a:ext cx="200025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6" name="">
            <a:extLst xmlns:a="http://schemas.openxmlformats.org/drawingml/2006/main">
              <a:ext uri="{FF2B5EF4-FFF2-40B4-BE49-F238E27FC236}">
                <a16:creationId xmlns:a16="http://schemas.microsoft.com/office/drawing/2014/main" id="{422C4161-E5F7-4BAB-81FD-9ED652593D5D}"/>
              </a:ext>
            </a:extLst>
          </p:cNvPr>
          <p:cNvSpPr>
            <a:spLocks xmlns:a="http://schemas.openxmlformats.org/drawingml/2006/main" noGrp="1"/>
          </p:cNvSpPr>
          <p:nvPr/>
        </p:nvSpPr>
        <p:spPr>
          <a:xfrm xmlns:a="http://schemas.openxmlformats.org/drawingml/2006/main" rot="5400000">
            <a:off x="8953500" y="320040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47" name="">
            <a:extLst xmlns:a="http://schemas.openxmlformats.org/drawingml/2006/main">
              <a:ext uri="{FF2B5EF4-FFF2-40B4-BE49-F238E27FC236}">
                <a16:creationId xmlns:a16="http://schemas.microsoft.com/office/drawing/2014/main" id="{20AF7FE0-7E3C-4776-8556-4DCF9CD430C5}"/>
              </a:ext>
            </a:extLst>
          </p:cNvPr>
          <p:cNvSpPr>
            <a:spLocks xmlns:a="http://schemas.openxmlformats.org/drawingml/2006/main" noGrp="1"/>
          </p:cNvSpPr>
          <p:nvPr/>
        </p:nvSpPr>
        <p:spPr>
          <a:xfrm xmlns:a="http://schemas.openxmlformats.org/drawingml/2006/main">
            <a:off x="9048750" y="2809875"/>
            <a:ext cx="20955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2276E3"/>
            </a:solidFill>
          </a:ln>
        </p:spPr>
      </p:sp>
      <p:sp>
        <p:nvSpPr>
          <p:cNvPr id="48" name="">
            <a:extLst xmlns:a="http://schemas.openxmlformats.org/drawingml/2006/main">
              <a:ext uri="{FF2B5EF4-FFF2-40B4-BE49-F238E27FC236}">
                <a16:creationId xmlns:a16="http://schemas.microsoft.com/office/drawing/2014/main" id="{4EF06E77-7A13-4B0F-8514-01F9731BA557}"/>
              </a:ext>
            </a:extLst>
          </p:cNvPr>
          <p:cNvSpPr>
            <a:spLocks xmlns:a="http://schemas.openxmlformats.org/drawingml/2006/main" noGrp="1"/>
          </p:cNvSpPr>
          <p:nvPr/>
        </p:nvSpPr>
        <p:spPr>
          <a:xfrm xmlns:a="http://schemas.openxmlformats.org/drawingml/2006/main">
            <a:off x="9048750" y="2809875"/>
            <a:ext cx="66675" cy="9525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9" name="">
            <a:extLst xmlns:a="http://schemas.openxmlformats.org/drawingml/2006/main">
              <a:ext uri="{FF2B5EF4-FFF2-40B4-BE49-F238E27FC236}">
                <a16:creationId xmlns:a16="http://schemas.microsoft.com/office/drawing/2014/main" id="{85FA65B2-D607-4BA9-B27B-D3212D8BF15B}"/>
              </a:ext>
            </a:extLst>
          </p:cNvPr>
          <p:cNvSpPr>
            <a:spLocks xmlns:a="http://schemas.openxmlformats.org/drawingml/2006/main" noGrp="1"/>
          </p:cNvSpPr>
          <p:nvPr/>
        </p:nvSpPr>
        <p:spPr>
          <a:xfrm xmlns:a="http://schemas.openxmlformats.org/drawingml/2006/main">
            <a:off x="9210675" y="2886075"/>
            <a:ext cx="1828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MEDIATED</a:t>
            </a:r>
          </a:p>
          <a:p xmlns:a="http://schemas.openxmlformats.org/drawingml/2006/main">
            <a:pPr algn="ctr">
              <a:defRPr sz="1350" b="1">
                <a:solidFill>
                  <a:srgbClr val="081426"/>
                </a:solidFill>
              </a:defRPr>
            </a:pPr>
            <a:r>
              <a:rPr sz="1350" b="1">
                <a:solidFill>
                  <a:srgbClr val="081426"/>
                </a:solidFill>
              </a:rPr>
              <a:t>EGRESS</a:t>
            </a:r>
          </a:p>
        </p:txBody>
      </p:sp>
      <p:sp>
        <p:nvSpPr>
          <p:cNvPr id="50" name="">
            <a:extLst xmlns:a="http://schemas.openxmlformats.org/drawingml/2006/main">
              <a:ext uri="{FF2B5EF4-FFF2-40B4-BE49-F238E27FC236}">
                <a16:creationId xmlns:a16="http://schemas.microsoft.com/office/drawing/2014/main" id="{A71106C8-C176-4A0D-AA0F-0CA6AD94E87F}"/>
              </a:ext>
            </a:extLst>
          </p:cNvPr>
          <p:cNvSpPr>
            <a:spLocks xmlns:a="http://schemas.openxmlformats.org/drawingml/2006/main" noGrp="1"/>
          </p:cNvSpPr>
          <p:nvPr/>
        </p:nvSpPr>
        <p:spPr>
          <a:xfrm xmlns:a="http://schemas.openxmlformats.org/drawingml/2006/main">
            <a:off x="952500" y="409575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0">
                <a:solidFill>
                  <a:srgbClr val="37465B"/>
                </a:solidFill>
              </a:defRPr>
            </a:pPr>
            <a:r>
              <a:rPr sz="1350" b="0">
                <a:solidFill>
                  <a:srgbClr val="37465B"/>
                </a:solidFill>
              </a:rPr>
              <a:t>outside current Envoy lab</a:t>
            </a:r>
          </a:p>
        </p:txBody>
      </p:sp>
      <p:sp>
        <p:nvSpPr>
          <p:cNvPr id="51" name="">
            <a:extLst xmlns:a="http://schemas.openxmlformats.org/drawingml/2006/main">
              <a:ext uri="{FF2B5EF4-FFF2-40B4-BE49-F238E27FC236}">
                <a16:creationId xmlns:a16="http://schemas.microsoft.com/office/drawing/2014/main" id="{B134D200-25B6-42D7-920C-13CCE75D893C}"/>
              </a:ext>
            </a:extLst>
          </p:cNvPr>
          <p:cNvSpPr>
            <a:spLocks xmlns:a="http://schemas.openxmlformats.org/drawingml/2006/main" noGrp="1"/>
          </p:cNvSpPr>
          <p:nvPr/>
        </p:nvSpPr>
        <p:spPr>
          <a:xfrm xmlns:a="http://schemas.openxmlformats.org/drawingml/2006/main">
            <a:off x="8620125" y="40957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2276E3"/>
                </a:solidFill>
              </a:defRPr>
            </a:pPr>
            <a:r>
              <a:rPr sz="1350" b="1">
                <a:solidFill>
                  <a:srgbClr val="2276E3"/>
                </a:solidFill>
              </a:rPr>
              <a:t>tested boundary begins here</a:t>
            </a:r>
          </a:p>
        </p:txBody>
      </p:sp>
    </p:spTree>
    <p:extLst>
      <p:ext uri="{BB962C8B-B14F-4D97-AF65-F5344CB8AC3E}">
        <p14:creationId xmlns:p14="http://schemas.microsoft.com/office/powerpoint/2010/main" val="556190294"/>
      </p:ext>
    </p:extLst>
  </p:cSld>
</p:sld>
</file>

<file path=ppt/slides/slide1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16DA9062-91A2-4DDA-A975-48CDE52832A5}"/>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20C2A5D9-EF9A-47AB-A29C-191D119AE740}"/>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86DC0C3A-E67A-47A1-8ED7-E399F73A4CBF}"/>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EF7EA694-9132-4177-97BB-C682471E9EF9}"/>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CD2D0CB2-5949-49B3-B46D-6BC0528C148F}"/>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4D9F900C-837C-4EA9-B01B-48701B684F0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BDD29953-73E7-4AE5-9161-B6224DEFE9A0}"/>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D26B8F1B-3688-4AF8-B1CE-4C346C5C174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9CBC83C0-6929-4B1F-AFFF-0D56E4DAB321}"/>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8B093133-48B2-45DD-AB28-AADBD1CBFAC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88542578-5F8E-4829-A71C-828F9C96716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41307570-015B-459B-AC78-D8F8357E7AD5}"/>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40854603-BB3F-40B5-9BB7-2085C83A0446}"/>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4609987F-31F1-4CAC-856E-2AE9D81D6D62}"/>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09AF1598-3EBB-4D6C-A1DB-D62E664AEBAC}"/>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AED4C72F-AE38-4143-8B7B-7A9452E883AC}"/>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0D61BD26-864E-4DDE-9691-13636CA358FF}"/>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A5B4A708-CDD3-4224-BE09-8185344B1D99}"/>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BB93EED0-0363-47F8-9D87-0ADE85C19B96}"/>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AB0BC7BD-F7E1-4DDD-9FA7-C8F4A1E5D28D}"/>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0B460C09-F55A-413B-9D5B-DC504DFB26FE}"/>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942D6B69-2A10-48F3-B94A-7659FACE4A9B}"/>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3AB9B8C9-46CF-4702-BAC1-73461368DF7D}"/>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34D253D6-2E04-4935-9D05-AE8C1A81CE8C}"/>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F0608412-A8A5-4279-8F7E-CB48286739DA}"/>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46186ED4-C99A-4775-AF77-14372939D864}"/>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A9F4E01C-C51D-4F9D-8E2D-2C82F27E3036}"/>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D9D8EFFE-CE9E-4D7E-BFE4-72057D7DE024}"/>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7D91E23D-212B-4680-9A61-C3F72DA21E47}"/>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4F94A616-A35C-41D3-8CB9-29F3D274EFFD}"/>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6AAE878E-4EB4-45BB-97D9-AE9E52AF1D24}"/>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D634EE7F-281D-4D8A-95E4-170BE5E14BA3}"/>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8C044E25-8FD2-4FDB-81F6-8F0BF1EC9AE5}"/>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Enforcement placement determines which actions KIL can observe or stop</a:t>
            </a:r>
          </a:p>
        </p:txBody>
      </p:sp>
      <p:sp>
        <p:nvSpPr>
          <p:cNvPr id="34" name="">
            <a:extLst xmlns:a="http://schemas.openxmlformats.org/drawingml/2006/main">
              <a:ext uri="{FF2B5EF4-FFF2-40B4-BE49-F238E27FC236}">
                <a16:creationId xmlns:a16="http://schemas.microsoft.com/office/drawing/2014/main" id="{616E40AD-E957-4521-93E9-92E2B85594B6}"/>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2A</a:t>
            </a:r>
          </a:p>
        </p:txBody>
      </p:sp>
      <p:sp>
        <p:nvSpPr>
          <p:cNvPr id="35" name="">
            <a:extLst xmlns:a="http://schemas.openxmlformats.org/drawingml/2006/main">
              <a:ext uri="{FF2B5EF4-FFF2-40B4-BE49-F238E27FC236}">
                <a16:creationId xmlns:a16="http://schemas.microsoft.com/office/drawing/2014/main" id="{C07FA335-8167-4FAB-B690-144B1D7EA2E6}"/>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E6CF66E8-2DF2-4400-8C6F-2DEF9E26066E}"/>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4B84261E-0621-44DD-A4E3-7A0F2D2A5C90}"/>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ARCHITECTURE BOUNDARY</a:t>
            </a:r>
          </a:p>
        </p:txBody>
      </p:sp>
      <p:sp>
        <p:nvSpPr>
          <p:cNvPr id="38" name="">
            <a:extLst xmlns:a="http://schemas.openxmlformats.org/drawingml/2006/main">
              <a:ext uri="{FF2B5EF4-FFF2-40B4-BE49-F238E27FC236}">
                <a16:creationId xmlns:a16="http://schemas.microsoft.com/office/drawing/2014/main" id="{D3CD208B-51D6-4468-AC9F-F4645B3B3C43}"/>
              </a:ext>
            </a:extLst>
          </p:cNvPr>
          <p:cNvSpPr>
            <a:spLocks xmlns:a="http://schemas.openxmlformats.org/drawingml/2006/main" noGrp="1"/>
          </p:cNvSpPr>
          <p:nvPr/>
        </p:nvSpPr>
        <p:spPr>
          <a:xfrm xmlns:a="http://schemas.openxmlformats.org/drawingml/2006/main">
            <a:off x="80962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00" b="1">
                <a:solidFill>
                  <a:srgbClr val="D7473F"/>
                </a:solidFill>
              </a:defRPr>
            </a:pPr>
            <a:r>
              <a:rPr sz="1800" b="1">
                <a:solidFill>
                  <a:srgbClr val="D7473F"/>
                </a:solidFill>
              </a:rPr>
              <a:t>EARLIER VISIBILITY</a:t>
            </a:r>
          </a:p>
        </p:txBody>
      </p:sp>
      <p:sp>
        <p:nvSpPr>
          <p:cNvPr id="39" name="">
            <a:extLst xmlns:a="http://schemas.openxmlformats.org/drawingml/2006/main">
              <a:ext uri="{FF2B5EF4-FFF2-40B4-BE49-F238E27FC236}">
                <a16:creationId xmlns:a16="http://schemas.microsoft.com/office/drawing/2014/main" id="{5AF17BB9-CEEE-4049-B27A-673D1356C4C5}"/>
              </a:ext>
            </a:extLst>
          </p:cNvPr>
          <p:cNvSpPr>
            <a:spLocks xmlns:a="http://schemas.openxmlformats.org/drawingml/2006/main" noGrp="1"/>
          </p:cNvSpPr>
          <p:nvPr/>
        </p:nvSpPr>
        <p:spPr>
          <a:xfrm xmlns:a="http://schemas.openxmlformats.org/drawingml/2006/main">
            <a:off x="66198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00" b="1">
                <a:solidFill>
                  <a:srgbClr val="2276E3"/>
                </a:solidFill>
              </a:defRPr>
            </a:pPr>
            <a:r>
              <a:rPr sz="1800" b="1">
                <a:solidFill>
                  <a:srgbClr val="2276E3"/>
                </a:solidFill>
              </a:rPr>
              <a:t>CURRENT LAB</a:t>
            </a:r>
          </a:p>
        </p:txBody>
      </p:sp>
      <p:sp>
        <p:nvSpPr>
          <p:cNvPr id="40" name="">
            <a:extLst xmlns:a="http://schemas.openxmlformats.org/drawingml/2006/main">
              <a:ext uri="{FF2B5EF4-FFF2-40B4-BE49-F238E27FC236}">
                <a16:creationId xmlns:a16="http://schemas.microsoft.com/office/drawing/2014/main" id="{35B9432B-ABBD-471F-B0C6-7B7822CE03A6}"/>
              </a:ext>
            </a:extLst>
          </p:cNvPr>
          <p:cNvSpPr>
            <a:spLocks xmlns:a="http://schemas.openxmlformats.org/drawingml/2006/main" noGrp="1"/>
          </p:cNvSpPr>
          <p:nvPr/>
        </p:nvSpPr>
        <p:spPr>
          <a:xfrm xmlns:a="http://schemas.openxmlformats.org/drawingml/2006/main">
            <a:off x="6096000" y="1571625"/>
            <a:ext cx="19050" cy="381000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1" name="">
            <a:extLst xmlns:a="http://schemas.openxmlformats.org/drawingml/2006/main">
              <a:ext uri="{FF2B5EF4-FFF2-40B4-BE49-F238E27FC236}">
                <a16:creationId xmlns:a16="http://schemas.microsoft.com/office/drawing/2014/main" id="{0BD76FC3-7040-46B8-A531-5B523168C6B2}"/>
              </a:ext>
            </a:extLst>
          </p:cNvPr>
          <p:cNvSpPr>
            <a:spLocks xmlns:a="http://schemas.openxmlformats.org/drawingml/2006/main" noGrp="1"/>
          </p:cNvSpPr>
          <p:nvPr/>
        </p:nvSpPr>
        <p:spPr>
          <a:xfrm xmlns:a="http://schemas.openxmlformats.org/drawingml/2006/main">
            <a:off x="809625" y="233362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D7473F"/>
            </a:solidFill>
          </a:ln>
        </p:spPr>
      </p:sp>
      <p:sp>
        <p:nvSpPr>
          <p:cNvPr id="42" name="">
            <a:extLst xmlns:a="http://schemas.openxmlformats.org/drawingml/2006/main">
              <a:ext uri="{FF2B5EF4-FFF2-40B4-BE49-F238E27FC236}">
                <a16:creationId xmlns:a16="http://schemas.microsoft.com/office/drawing/2014/main" id="{CAB3930E-B146-49F3-A038-D25C439B244D}"/>
              </a:ext>
            </a:extLst>
          </p:cNvPr>
          <p:cNvSpPr>
            <a:spLocks xmlns:a="http://schemas.openxmlformats.org/drawingml/2006/main" noGrp="1"/>
          </p:cNvSpPr>
          <p:nvPr/>
        </p:nvSpPr>
        <p:spPr>
          <a:xfrm xmlns:a="http://schemas.openxmlformats.org/drawingml/2006/main">
            <a:off x="809625" y="2333625"/>
            <a:ext cx="66675" cy="6477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3" name="">
            <a:extLst xmlns:a="http://schemas.openxmlformats.org/drawingml/2006/main">
              <a:ext uri="{FF2B5EF4-FFF2-40B4-BE49-F238E27FC236}">
                <a16:creationId xmlns:a16="http://schemas.microsoft.com/office/drawing/2014/main" id="{F968B30E-D8FE-4473-B4E8-199E9FFBEA57}"/>
              </a:ext>
            </a:extLst>
          </p:cNvPr>
          <p:cNvSpPr>
            <a:spLocks xmlns:a="http://schemas.openxmlformats.org/drawingml/2006/main" noGrp="1"/>
          </p:cNvSpPr>
          <p:nvPr/>
        </p:nvSpPr>
        <p:spPr>
          <a:xfrm xmlns:a="http://schemas.openxmlformats.org/drawingml/2006/main">
            <a:off x="971550" y="240982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application-aware adapter</a:t>
            </a:r>
          </a:p>
        </p:txBody>
      </p:sp>
      <p:sp>
        <p:nvSpPr>
          <p:cNvPr id="44" name="">
            <a:extLst xmlns:a="http://schemas.openxmlformats.org/drawingml/2006/main">
              <a:ext uri="{FF2B5EF4-FFF2-40B4-BE49-F238E27FC236}">
                <a16:creationId xmlns:a16="http://schemas.microsoft.com/office/drawing/2014/main" id="{AAA4E7D9-0AEC-48B1-8FDB-EB6DC8F4A5AD}"/>
              </a:ext>
            </a:extLst>
          </p:cNvPr>
          <p:cNvSpPr>
            <a:spLocks xmlns:a="http://schemas.openxmlformats.org/drawingml/2006/main" noGrp="1"/>
          </p:cNvSpPr>
          <p:nvPr/>
        </p:nvSpPr>
        <p:spPr>
          <a:xfrm xmlns:a="http://schemas.openxmlformats.org/drawingml/2006/main">
            <a:off x="809625" y="3238500"/>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D7473F"/>
            </a:solidFill>
          </a:ln>
        </p:spPr>
      </p:sp>
      <p:sp>
        <p:nvSpPr>
          <p:cNvPr id="45" name="">
            <a:extLst xmlns:a="http://schemas.openxmlformats.org/drawingml/2006/main">
              <a:ext uri="{FF2B5EF4-FFF2-40B4-BE49-F238E27FC236}">
                <a16:creationId xmlns:a16="http://schemas.microsoft.com/office/drawing/2014/main" id="{DACE3E7A-CED5-45EC-A939-0C16FBBF5EE6}"/>
              </a:ext>
            </a:extLst>
          </p:cNvPr>
          <p:cNvSpPr>
            <a:spLocks xmlns:a="http://schemas.openxmlformats.org/drawingml/2006/main" noGrp="1"/>
          </p:cNvSpPr>
          <p:nvPr/>
        </p:nvSpPr>
        <p:spPr>
          <a:xfrm xmlns:a="http://schemas.openxmlformats.org/drawingml/2006/main">
            <a:off x="809625" y="3238500"/>
            <a:ext cx="66675" cy="6477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6" name="">
            <a:extLst xmlns:a="http://schemas.openxmlformats.org/drawingml/2006/main">
              <a:ext uri="{FF2B5EF4-FFF2-40B4-BE49-F238E27FC236}">
                <a16:creationId xmlns:a16="http://schemas.microsoft.com/office/drawing/2014/main" id="{530A61D2-C022-4C4E-A660-86AF03E53687}"/>
              </a:ext>
            </a:extLst>
          </p:cNvPr>
          <p:cNvSpPr>
            <a:spLocks xmlns:a="http://schemas.openxmlformats.org/drawingml/2006/main" noGrp="1"/>
          </p:cNvSpPr>
          <p:nvPr/>
        </p:nvSpPr>
        <p:spPr>
          <a:xfrm xmlns:a="http://schemas.openxmlformats.org/drawingml/2006/main">
            <a:off x="971550" y="3314700"/>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kernel-aware adapter</a:t>
            </a:r>
          </a:p>
        </p:txBody>
      </p:sp>
      <p:sp>
        <p:nvSpPr>
          <p:cNvPr id="47" name="">
            <a:extLst xmlns:a="http://schemas.openxmlformats.org/drawingml/2006/main">
              <a:ext uri="{FF2B5EF4-FFF2-40B4-BE49-F238E27FC236}">
                <a16:creationId xmlns:a16="http://schemas.microsoft.com/office/drawing/2014/main" id="{353C2411-535C-4BB7-AC15-28F2C644D4DF}"/>
              </a:ext>
            </a:extLst>
          </p:cNvPr>
          <p:cNvSpPr>
            <a:spLocks xmlns:a="http://schemas.openxmlformats.org/drawingml/2006/main" noGrp="1"/>
          </p:cNvSpPr>
          <p:nvPr/>
        </p:nvSpPr>
        <p:spPr>
          <a:xfrm xmlns:a="http://schemas.openxmlformats.org/drawingml/2006/main">
            <a:off x="809625" y="414337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D7473F"/>
            </a:solidFill>
          </a:ln>
        </p:spPr>
      </p:sp>
      <p:sp>
        <p:nvSpPr>
          <p:cNvPr id="48" name="">
            <a:extLst xmlns:a="http://schemas.openxmlformats.org/drawingml/2006/main">
              <a:ext uri="{FF2B5EF4-FFF2-40B4-BE49-F238E27FC236}">
                <a16:creationId xmlns:a16="http://schemas.microsoft.com/office/drawing/2014/main" id="{E1ED0361-019F-4F2A-B754-2284BF020713}"/>
              </a:ext>
            </a:extLst>
          </p:cNvPr>
          <p:cNvSpPr>
            <a:spLocks xmlns:a="http://schemas.openxmlformats.org/drawingml/2006/main" noGrp="1"/>
          </p:cNvSpPr>
          <p:nvPr/>
        </p:nvSpPr>
        <p:spPr>
          <a:xfrm xmlns:a="http://schemas.openxmlformats.org/drawingml/2006/main">
            <a:off x="809625" y="4143375"/>
            <a:ext cx="66675" cy="6477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9" name="">
            <a:extLst xmlns:a="http://schemas.openxmlformats.org/drawingml/2006/main">
              <a:ext uri="{FF2B5EF4-FFF2-40B4-BE49-F238E27FC236}">
                <a16:creationId xmlns:a16="http://schemas.microsoft.com/office/drawing/2014/main" id="{241083B0-C4ED-4D12-A04C-6EE541DC0CF4}"/>
              </a:ext>
            </a:extLst>
          </p:cNvPr>
          <p:cNvSpPr>
            <a:spLocks xmlns:a="http://schemas.openxmlformats.org/drawingml/2006/main" noGrp="1"/>
          </p:cNvSpPr>
          <p:nvPr/>
        </p:nvSpPr>
        <p:spPr>
          <a:xfrm xmlns:a="http://schemas.openxmlformats.org/drawingml/2006/main">
            <a:off x="971550" y="421957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local file/object read</a:t>
            </a:r>
          </a:p>
        </p:txBody>
      </p:sp>
      <p:sp>
        <p:nvSpPr>
          <p:cNvPr id="50" name="">
            <a:extLst xmlns:a="http://schemas.openxmlformats.org/drawingml/2006/main">
              <a:ext uri="{FF2B5EF4-FFF2-40B4-BE49-F238E27FC236}">
                <a16:creationId xmlns:a16="http://schemas.microsoft.com/office/drawing/2014/main" id="{0BA8F7D6-7B5A-4BB1-851C-BFC6371F4720}"/>
              </a:ext>
            </a:extLst>
          </p:cNvPr>
          <p:cNvSpPr>
            <a:spLocks xmlns:a="http://schemas.openxmlformats.org/drawingml/2006/main" noGrp="1"/>
          </p:cNvSpPr>
          <p:nvPr/>
        </p:nvSpPr>
        <p:spPr>
          <a:xfrm xmlns:a="http://schemas.openxmlformats.org/drawingml/2006/main">
            <a:off x="6619875" y="233362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2276E3"/>
            </a:solidFill>
          </a:ln>
        </p:spPr>
      </p:sp>
      <p:sp>
        <p:nvSpPr>
          <p:cNvPr id="51" name="">
            <a:extLst xmlns:a="http://schemas.openxmlformats.org/drawingml/2006/main">
              <a:ext uri="{FF2B5EF4-FFF2-40B4-BE49-F238E27FC236}">
                <a16:creationId xmlns:a16="http://schemas.microsoft.com/office/drawing/2014/main" id="{DBDFA434-D5EB-4497-A72E-563209C509CA}"/>
              </a:ext>
            </a:extLst>
          </p:cNvPr>
          <p:cNvSpPr>
            <a:spLocks xmlns:a="http://schemas.openxmlformats.org/drawingml/2006/main" noGrp="1"/>
          </p:cNvSpPr>
          <p:nvPr/>
        </p:nvSpPr>
        <p:spPr>
          <a:xfrm xmlns:a="http://schemas.openxmlformats.org/drawingml/2006/main">
            <a:off x="6619875" y="2333625"/>
            <a:ext cx="66675" cy="6477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2" name="">
            <a:extLst xmlns:a="http://schemas.openxmlformats.org/drawingml/2006/main">
              <a:ext uri="{FF2B5EF4-FFF2-40B4-BE49-F238E27FC236}">
                <a16:creationId xmlns:a16="http://schemas.microsoft.com/office/drawing/2014/main" id="{1926FFD9-351E-458F-B958-0C56BFD57D11}"/>
              </a:ext>
            </a:extLst>
          </p:cNvPr>
          <p:cNvSpPr>
            <a:spLocks xmlns:a="http://schemas.openxmlformats.org/drawingml/2006/main" noGrp="1"/>
          </p:cNvSpPr>
          <p:nvPr/>
        </p:nvSpPr>
        <p:spPr>
          <a:xfrm xmlns:a="http://schemas.openxmlformats.org/drawingml/2006/main">
            <a:off x="6781800" y="240982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Envoy-mediated request</a:t>
            </a:r>
          </a:p>
        </p:txBody>
      </p:sp>
      <p:sp>
        <p:nvSpPr>
          <p:cNvPr id="53" name="">
            <a:extLst xmlns:a="http://schemas.openxmlformats.org/drawingml/2006/main">
              <a:ext uri="{FF2B5EF4-FFF2-40B4-BE49-F238E27FC236}">
                <a16:creationId xmlns:a16="http://schemas.microsoft.com/office/drawing/2014/main" id="{06FCDBEB-735D-44AB-A9B1-E810EC42CCB0}"/>
              </a:ext>
            </a:extLst>
          </p:cNvPr>
          <p:cNvSpPr>
            <a:spLocks xmlns:a="http://schemas.openxmlformats.org/drawingml/2006/main" noGrp="1"/>
          </p:cNvSpPr>
          <p:nvPr/>
        </p:nvSpPr>
        <p:spPr>
          <a:xfrm xmlns:a="http://schemas.openxmlformats.org/drawingml/2006/main">
            <a:off x="6619875" y="3238500"/>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2276E3"/>
            </a:solidFill>
          </a:ln>
        </p:spPr>
      </p:sp>
      <p:sp>
        <p:nvSpPr>
          <p:cNvPr id="54" name="">
            <a:extLst xmlns:a="http://schemas.openxmlformats.org/drawingml/2006/main">
              <a:ext uri="{FF2B5EF4-FFF2-40B4-BE49-F238E27FC236}">
                <a16:creationId xmlns:a16="http://schemas.microsoft.com/office/drawing/2014/main" id="{104A2AB3-23CA-48A7-9806-B2066E04C2E6}"/>
              </a:ext>
            </a:extLst>
          </p:cNvPr>
          <p:cNvSpPr>
            <a:spLocks xmlns:a="http://schemas.openxmlformats.org/drawingml/2006/main" noGrp="1"/>
          </p:cNvSpPr>
          <p:nvPr/>
        </p:nvSpPr>
        <p:spPr>
          <a:xfrm xmlns:a="http://schemas.openxmlformats.org/drawingml/2006/main">
            <a:off x="6619875" y="3238500"/>
            <a:ext cx="66675" cy="6477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5" name="">
            <a:extLst xmlns:a="http://schemas.openxmlformats.org/drawingml/2006/main">
              <a:ext uri="{FF2B5EF4-FFF2-40B4-BE49-F238E27FC236}">
                <a16:creationId xmlns:a16="http://schemas.microsoft.com/office/drawing/2014/main" id="{07AA8CC0-38C7-405C-BA5F-9ECE90DEF972}"/>
              </a:ext>
            </a:extLst>
          </p:cNvPr>
          <p:cNvSpPr>
            <a:spLocks xmlns:a="http://schemas.openxmlformats.org/drawingml/2006/main" noGrp="1"/>
          </p:cNvSpPr>
          <p:nvPr/>
        </p:nvSpPr>
        <p:spPr>
          <a:xfrm xmlns:a="http://schemas.openxmlformats.org/drawingml/2006/main">
            <a:off x="6781800" y="3314700"/>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external authorization check</a:t>
            </a:r>
          </a:p>
        </p:txBody>
      </p:sp>
      <p:sp>
        <p:nvSpPr>
          <p:cNvPr id="56" name="">
            <a:extLst xmlns:a="http://schemas.openxmlformats.org/drawingml/2006/main">
              <a:ext uri="{FF2B5EF4-FFF2-40B4-BE49-F238E27FC236}">
                <a16:creationId xmlns:a16="http://schemas.microsoft.com/office/drawing/2014/main" id="{212755CA-F992-43CC-A99C-D26CB7AEA612}"/>
              </a:ext>
            </a:extLst>
          </p:cNvPr>
          <p:cNvSpPr>
            <a:spLocks xmlns:a="http://schemas.openxmlformats.org/drawingml/2006/main" noGrp="1"/>
          </p:cNvSpPr>
          <p:nvPr/>
        </p:nvSpPr>
        <p:spPr>
          <a:xfrm xmlns:a="http://schemas.openxmlformats.org/drawingml/2006/main">
            <a:off x="6619875" y="414337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2276E3"/>
            </a:solidFill>
          </a:ln>
        </p:spPr>
      </p:sp>
      <p:sp>
        <p:nvSpPr>
          <p:cNvPr id="57" name="">
            <a:extLst xmlns:a="http://schemas.openxmlformats.org/drawingml/2006/main">
              <a:ext uri="{FF2B5EF4-FFF2-40B4-BE49-F238E27FC236}">
                <a16:creationId xmlns:a16="http://schemas.microsoft.com/office/drawing/2014/main" id="{D522A5F2-284B-4E9E-AF6B-FD68F0317AB8}"/>
              </a:ext>
            </a:extLst>
          </p:cNvPr>
          <p:cNvSpPr>
            <a:spLocks xmlns:a="http://schemas.openxmlformats.org/drawingml/2006/main" noGrp="1"/>
          </p:cNvSpPr>
          <p:nvPr/>
        </p:nvSpPr>
        <p:spPr>
          <a:xfrm xmlns:a="http://schemas.openxmlformats.org/drawingml/2006/main">
            <a:off x="6619875" y="4143375"/>
            <a:ext cx="66675" cy="6477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8" name="">
            <a:extLst xmlns:a="http://schemas.openxmlformats.org/drawingml/2006/main">
              <a:ext uri="{FF2B5EF4-FFF2-40B4-BE49-F238E27FC236}">
                <a16:creationId xmlns:a16="http://schemas.microsoft.com/office/drawing/2014/main" id="{E026B49B-81E9-4CAF-BE17-8D71542492E3}"/>
              </a:ext>
            </a:extLst>
          </p:cNvPr>
          <p:cNvSpPr>
            <a:spLocks xmlns:a="http://schemas.openxmlformats.org/drawingml/2006/main" noGrp="1"/>
          </p:cNvSpPr>
          <p:nvPr/>
        </p:nvSpPr>
        <p:spPr>
          <a:xfrm xmlns:a="http://schemas.openxmlformats.org/drawingml/2006/main">
            <a:off x="6781800" y="421957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upstream transport effect</a:t>
            </a:r>
          </a:p>
        </p:txBody>
      </p:sp>
    </p:spTree>
    <p:extLst>
      <p:ext uri="{BB962C8B-B14F-4D97-AF65-F5344CB8AC3E}">
        <p14:creationId xmlns:p14="http://schemas.microsoft.com/office/powerpoint/2010/main" val="91130550"/>
      </p:ext>
    </p:extLst>
  </p:cSld>
</p:sld>
</file>

<file path=ppt/slides/slide1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60F4C3D1-EE5C-49AB-90EF-06043DBD2986}"/>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23399DFF-6743-4443-9FCF-75C1D9A62A93}"/>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C3EDE5E5-7257-4675-A01C-728B96E40C3A}"/>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86D16A7D-D457-41EC-803A-B1A9E3A1015C}"/>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28D11850-051E-47C4-81BB-A6A07C4D8FE0}"/>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5FAC8B8F-00E0-4AF6-A777-08DE8590B6E9}"/>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EAE53A13-F00D-458F-B581-D320A1889C51}"/>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7E6C8A83-519C-4A83-B874-86483B2DB385}"/>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7B14E014-F4A4-4844-A955-034C68D18740}"/>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1C88D151-3061-4D0A-9395-7916308C6785}"/>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5C93EC0C-7ABE-45D9-B160-B7E18AFCD49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21DE1DBC-96B9-440C-BC5C-98692EA81E33}"/>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A8FE66D8-E7C1-4C22-A524-12BC458D2FA9}"/>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29E9C472-9808-41DD-A41A-74011286FB8A}"/>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C3DB620F-8001-4E92-AF4D-318ED162EA0F}"/>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D69764A5-12CE-40B2-B808-914FECC8277F}"/>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0C279DAC-FAA1-48F6-B460-F2675FD8C48D}"/>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3DF29545-1175-44A9-A10B-6BD648F8FF98}"/>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0972AA10-8E09-4E59-976D-2E232C186CC6}"/>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BA320F27-AF9A-4762-A515-A53522800D98}"/>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184E0D3A-89ED-4048-AB62-B30935770DE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11D2A780-1F55-4DBE-8F34-27A2EBE45BD1}"/>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1929464E-4336-4F3E-B25A-965F87381460}"/>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E0E066B8-5E22-449E-8FC0-3C30A8D3810E}"/>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1F5092B0-C1F2-4E8A-910C-92D6D094693B}"/>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4766655E-5F75-4840-8A19-CB929542E627}"/>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3404A2B3-876E-4F22-A68A-D4C2DEE6FF23}"/>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C056057E-9E75-40AF-A4D7-48FCBB340915}"/>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8FDF64CF-3785-46E7-83F1-9617142A1CA7}"/>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D0EE67B6-7E59-4E69-9618-7E1F60C8252A}"/>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E4E544B4-EA45-466C-9F2B-74D6E35F4F40}"/>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3A4792E6-A59A-4F9F-971C-D565D240890F}"/>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BE9179D9-0B46-42AD-8367-8425B9CD9072}"/>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The first mediated divergence occurs when the worker addresses the cluster API</a:t>
            </a:r>
          </a:p>
        </p:txBody>
      </p:sp>
      <p:sp>
        <p:nvSpPr>
          <p:cNvPr id="34" name="">
            <a:extLst xmlns:a="http://schemas.openxmlformats.org/drawingml/2006/main">
              <a:ext uri="{FF2B5EF4-FFF2-40B4-BE49-F238E27FC236}">
                <a16:creationId xmlns:a16="http://schemas.microsoft.com/office/drawing/2014/main" id="{BE3E7BE1-5F72-4187-96D8-A42CFB5588F1}"/>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3</a:t>
            </a:r>
          </a:p>
        </p:txBody>
      </p:sp>
      <p:sp>
        <p:nvSpPr>
          <p:cNvPr id="35" name="">
            <a:extLst xmlns:a="http://schemas.openxmlformats.org/drawingml/2006/main">
              <a:ext uri="{FF2B5EF4-FFF2-40B4-BE49-F238E27FC236}">
                <a16:creationId xmlns:a16="http://schemas.microsoft.com/office/drawing/2014/main" id="{CC63AE15-6230-4419-937D-D699787209A0}"/>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6" name="">
            <a:extLst xmlns:a="http://schemas.openxmlformats.org/drawingml/2006/main">
              <a:ext uri="{FF2B5EF4-FFF2-40B4-BE49-F238E27FC236}">
                <a16:creationId xmlns:a16="http://schemas.microsoft.com/office/drawing/2014/main" id="{2BEB4D1B-0483-4A88-894E-15A317F70F3C}"/>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MODELED COUNTERFACTUAL</a:t>
            </a:r>
          </a:p>
        </p:txBody>
      </p:sp>
      <p:sp>
        <p:nvSpPr>
          <p:cNvPr id="37" name="">
            <a:extLst xmlns:a="http://schemas.openxmlformats.org/drawingml/2006/main">
              <a:ext uri="{FF2B5EF4-FFF2-40B4-BE49-F238E27FC236}">
                <a16:creationId xmlns:a16="http://schemas.microsoft.com/office/drawing/2014/main" id="{E71609DE-6A46-411C-B6CD-257E0C86CB33}"/>
              </a:ext>
            </a:extLst>
          </p:cNvPr>
          <p:cNvSpPr>
            <a:spLocks xmlns:a="http://schemas.openxmlformats.org/drawingml/2006/main" noGrp="1"/>
          </p:cNvSpPr>
          <p:nvPr/>
        </p:nvSpPr>
        <p:spPr>
          <a:xfrm xmlns:a="http://schemas.openxmlformats.org/drawingml/2006/main">
            <a:off x="7620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38" name="">
            <a:extLst xmlns:a="http://schemas.openxmlformats.org/drawingml/2006/main">
              <a:ext uri="{FF2B5EF4-FFF2-40B4-BE49-F238E27FC236}">
                <a16:creationId xmlns:a16="http://schemas.microsoft.com/office/drawing/2014/main" id="{C3CCE036-92C0-4886-951C-A020D2F805F6}"/>
              </a:ext>
            </a:extLst>
          </p:cNvPr>
          <p:cNvSpPr>
            <a:spLocks xmlns:a="http://schemas.openxmlformats.org/drawingml/2006/main" noGrp="1"/>
          </p:cNvSpPr>
          <p:nvPr/>
        </p:nvSpPr>
        <p:spPr>
          <a:xfrm xmlns:a="http://schemas.openxmlformats.org/drawingml/2006/main">
            <a:off x="7620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39" name="">
            <a:extLst xmlns:a="http://schemas.openxmlformats.org/drawingml/2006/main">
              <a:ext uri="{FF2B5EF4-FFF2-40B4-BE49-F238E27FC236}">
                <a16:creationId xmlns:a16="http://schemas.microsoft.com/office/drawing/2014/main" id="{A56ADA7F-469A-4FAE-AAB8-BDB3154DCC1F}"/>
              </a:ext>
            </a:extLst>
          </p:cNvPr>
          <p:cNvSpPr>
            <a:spLocks xmlns:a="http://schemas.openxmlformats.org/drawingml/2006/main" noGrp="1"/>
          </p:cNvSpPr>
          <p:nvPr/>
        </p:nvSpPr>
        <p:spPr>
          <a:xfrm xmlns:a="http://schemas.openxmlformats.org/drawingml/2006/main">
            <a:off x="923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worker</a:t>
            </a:r>
          </a:p>
        </p:txBody>
      </p:sp>
      <p:sp>
        <p:nvSpPr>
          <p:cNvPr id="40" name="">
            <a:extLst xmlns:a="http://schemas.openxmlformats.org/drawingml/2006/main">
              <a:ext uri="{FF2B5EF4-FFF2-40B4-BE49-F238E27FC236}">
                <a16:creationId xmlns:a16="http://schemas.microsoft.com/office/drawing/2014/main" id="{E4E08B26-8BF8-469C-B169-A90A5C2B8453}"/>
              </a:ext>
            </a:extLst>
          </p:cNvPr>
          <p:cNvSpPr>
            <a:spLocks xmlns:a="http://schemas.openxmlformats.org/drawingml/2006/main" noGrp="1"/>
          </p:cNvSpPr>
          <p:nvPr/>
        </p:nvSpPr>
        <p:spPr>
          <a:xfrm xmlns:a="http://schemas.openxmlformats.org/drawingml/2006/main" rot="0">
            <a:off x="1828800" y="3743325"/>
            <a:ext cx="2190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1" name="">
            <a:extLst xmlns:a="http://schemas.openxmlformats.org/drawingml/2006/main">
              <a:ext uri="{FF2B5EF4-FFF2-40B4-BE49-F238E27FC236}">
                <a16:creationId xmlns:a16="http://schemas.microsoft.com/office/drawing/2014/main" id="{9300B0F1-FD91-4535-9539-032D31894783}"/>
              </a:ext>
            </a:extLst>
          </p:cNvPr>
          <p:cNvSpPr>
            <a:spLocks xmlns:a="http://schemas.openxmlformats.org/drawingml/2006/main" noGrp="1"/>
          </p:cNvSpPr>
          <p:nvPr/>
        </p:nvSpPr>
        <p:spPr>
          <a:xfrm xmlns:a="http://schemas.openxmlformats.org/drawingml/2006/main" rot="5400000">
            <a:off x="1952625" y="36576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2" name="">
            <a:extLst xmlns:a="http://schemas.openxmlformats.org/drawingml/2006/main">
              <a:ext uri="{FF2B5EF4-FFF2-40B4-BE49-F238E27FC236}">
                <a16:creationId xmlns:a16="http://schemas.microsoft.com/office/drawing/2014/main" id="{2F26097C-DF26-4FFC-BD9C-2D5744A529B8}"/>
              </a:ext>
            </a:extLst>
          </p:cNvPr>
          <p:cNvSpPr>
            <a:spLocks xmlns:a="http://schemas.openxmlformats.org/drawingml/2006/main" noGrp="1"/>
          </p:cNvSpPr>
          <p:nvPr/>
        </p:nvSpPr>
        <p:spPr>
          <a:xfrm xmlns:a="http://schemas.openxmlformats.org/drawingml/2006/main">
            <a:off x="20955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43" name="">
            <a:extLst xmlns:a="http://schemas.openxmlformats.org/drawingml/2006/main">
              <a:ext uri="{FF2B5EF4-FFF2-40B4-BE49-F238E27FC236}">
                <a16:creationId xmlns:a16="http://schemas.microsoft.com/office/drawing/2014/main" id="{0DC79704-03F7-4E5C-85F7-953661E58EB7}"/>
              </a:ext>
            </a:extLst>
          </p:cNvPr>
          <p:cNvSpPr>
            <a:spLocks xmlns:a="http://schemas.openxmlformats.org/drawingml/2006/main" noGrp="1"/>
          </p:cNvSpPr>
          <p:nvPr/>
        </p:nvSpPr>
        <p:spPr>
          <a:xfrm xmlns:a="http://schemas.openxmlformats.org/drawingml/2006/main">
            <a:off x="20955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4" name="">
            <a:extLst xmlns:a="http://schemas.openxmlformats.org/drawingml/2006/main">
              <a:ext uri="{FF2B5EF4-FFF2-40B4-BE49-F238E27FC236}">
                <a16:creationId xmlns:a16="http://schemas.microsoft.com/office/drawing/2014/main" id="{83EEABF5-EB35-4DB1-A639-1C3BF668B26B}"/>
              </a:ext>
            </a:extLst>
          </p:cNvPr>
          <p:cNvSpPr>
            <a:spLocks xmlns:a="http://schemas.openxmlformats.org/drawingml/2006/main" noGrp="1"/>
          </p:cNvSpPr>
          <p:nvPr/>
        </p:nvSpPr>
        <p:spPr>
          <a:xfrm xmlns:a="http://schemas.openxmlformats.org/drawingml/2006/main">
            <a:off x="2257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SA token</a:t>
            </a:r>
          </a:p>
        </p:txBody>
      </p:sp>
      <p:sp>
        <p:nvSpPr>
          <p:cNvPr id="45" name="">
            <a:extLst xmlns:a="http://schemas.openxmlformats.org/drawingml/2006/main">
              <a:ext uri="{FF2B5EF4-FFF2-40B4-BE49-F238E27FC236}">
                <a16:creationId xmlns:a16="http://schemas.microsoft.com/office/drawing/2014/main" id="{151A795A-8272-4880-AC55-8F382D2D3FD6}"/>
              </a:ext>
            </a:extLst>
          </p:cNvPr>
          <p:cNvSpPr>
            <a:spLocks xmlns:a="http://schemas.openxmlformats.org/drawingml/2006/main" noGrp="1"/>
          </p:cNvSpPr>
          <p:nvPr/>
        </p:nvSpPr>
        <p:spPr>
          <a:xfrm xmlns:a="http://schemas.openxmlformats.org/drawingml/2006/main" rot="0">
            <a:off x="31623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46" name="">
            <a:extLst xmlns:a="http://schemas.openxmlformats.org/drawingml/2006/main">
              <a:ext uri="{FF2B5EF4-FFF2-40B4-BE49-F238E27FC236}">
                <a16:creationId xmlns:a16="http://schemas.microsoft.com/office/drawing/2014/main" id="{3B7BE65A-FA6E-4D1B-BB09-E7241E867023}"/>
              </a:ext>
            </a:extLst>
          </p:cNvPr>
          <p:cNvSpPr>
            <a:spLocks xmlns:a="http://schemas.openxmlformats.org/drawingml/2006/main" noGrp="1"/>
          </p:cNvSpPr>
          <p:nvPr/>
        </p:nvSpPr>
        <p:spPr>
          <a:xfrm xmlns:a="http://schemas.openxmlformats.org/drawingml/2006/main" rot="5400000">
            <a:off x="32861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47" name="">
            <a:extLst xmlns:a="http://schemas.openxmlformats.org/drawingml/2006/main">
              <a:ext uri="{FF2B5EF4-FFF2-40B4-BE49-F238E27FC236}">
                <a16:creationId xmlns:a16="http://schemas.microsoft.com/office/drawing/2014/main" id="{5878F69C-BB6F-4AE0-AB95-71705FEAF9BC}"/>
              </a:ext>
            </a:extLst>
          </p:cNvPr>
          <p:cNvSpPr>
            <a:spLocks xmlns:a="http://schemas.openxmlformats.org/drawingml/2006/main" noGrp="1"/>
          </p:cNvSpPr>
          <p:nvPr/>
        </p:nvSpPr>
        <p:spPr>
          <a:xfrm xmlns:a="http://schemas.openxmlformats.org/drawingml/2006/main">
            <a:off x="34290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48" name="">
            <a:extLst xmlns:a="http://schemas.openxmlformats.org/drawingml/2006/main">
              <a:ext uri="{FF2B5EF4-FFF2-40B4-BE49-F238E27FC236}">
                <a16:creationId xmlns:a16="http://schemas.microsoft.com/office/drawing/2014/main" id="{85724C38-E90F-42EE-9792-04DED3B6B8AC}"/>
              </a:ext>
            </a:extLst>
          </p:cNvPr>
          <p:cNvSpPr>
            <a:spLocks xmlns:a="http://schemas.openxmlformats.org/drawingml/2006/main" noGrp="1"/>
          </p:cNvSpPr>
          <p:nvPr/>
        </p:nvSpPr>
        <p:spPr>
          <a:xfrm xmlns:a="http://schemas.openxmlformats.org/drawingml/2006/main">
            <a:off x="34290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49" name="">
            <a:extLst xmlns:a="http://schemas.openxmlformats.org/drawingml/2006/main">
              <a:ext uri="{FF2B5EF4-FFF2-40B4-BE49-F238E27FC236}">
                <a16:creationId xmlns:a16="http://schemas.microsoft.com/office/drawing/2014/main" id="{66BB1D4C-631B-40FA-A144-B5481532DE1F}"/>
              </a:ext>
            </a:extLst>
          </p:cNvPr>
          <p:cNvSpPr>
            <a:spLocks xmlns:a="http://schemas.openxmlformats.org/drawingml/2006/main" noGrp="1"/>
          </p:cNvSpPr>
          <p:nvPr/>
        </p:nvSpPr>
        <p:spPr>
          <a:xfrm xmlns:a="http://schemas.openxmlformats.org/drawingml/2006/main">
            <a:off x="3590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cluster API</a:t>
            </a:r>
          </a:p>
        </p:txBody>
      </p:sp>
      <p:sp>
        <p:nvSpPr>
          <p:cNvPr id="50" name="">
            <a:extLst xmlns:a="http://schemas.openxmlformats.org/drawingml/2006/main">
              <a:ext uri="{FF2B5EF4-FFF2-40B4-BE49-F238E27FC236}">
                <a16:creationId xmlns:a16="http://schemas.microsoft.com/office/drawing/2014/main" id="{2411AD95-AB80-4479-97B0-74A83229CE7A}"/>
              </a:ext>
            </a:extLst>
          </p:cNvPr>
          <p:cNvSpPr>
            <a:spLocks xmlns:a="http://schemas.openxmlformats.org/drawingml/2006/main" noGrp="1"/>
          </p:cNvSpPr>
          <p:nvPr/>
        </p:nvSpPr>
        <p:spPr>
          <a:xfrm xmlns:a="http://schemas.openxmlformats.org/drawingml/2006/main" rot="0">
            <a:off x="44958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1" name="">
            <a:extLst xmlns:a="http://schemas.openxmlformats.org/drawingml/2006/main">
              <a:ext uri="{FF2B5EF4-FFF2-40B4-BE49-F238E27FC236}">
                <a16:creationId xmlns:a16="http://schemas.microsoft.com/office/drawing/2014/main" id="{45E9C169-E0C3-4998-BDDE-E4218F9E532E}"/>
              </a:ext>
            </a:extLst>
          </p:cNvPr>
          <p:cNvSpPr>
            <a:spLocks xmlns:a="http://schemas.openxmlformats.org/drawingml/2006/main" noGrp="1"/>
          </p:cNvSpPr>
          <p:nvPr/>
        </p:nvSpPr>
        <p:spPr>
          <a:xfrm xmlns:a="http://schemas.openxmlformats.org/drawingml/2006/main" rot="5400000">
            <a:off x="46196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52" name="">
            <a:extLst xmlns:a="http://schemas.openxmlformats.org/drawingml/2006/main">
              <a:ext uri="{FF2B5EF4-FFF2-40B4-BE49-F238E27FC236}">
                <a16:creationId xmlns:a16="http://schemas.microsoft.com/office/drawing/2014/main" id="{1989A019-CFA0-4241-AFE8-11A5E593BF44}"/>
              </a:ext>
            </a:extLst>
          </p:cNvPr>
          <p:cNvSpPr>
            <a:spLocks xmlns:a="http://schemas.openxmlformats.org/drawingml/2006/main" noGrp="1"/>
          </p:cNvSpPr>
          <p:nvPr/>
        </p:nvSpPr>
        <p:spPr>
          <a:xfrm xmlns:a="http://schemas.openxmlformats.org/drawingml/2006/main">
            <a:off x="47625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53" name="">
            <a:extLst xmlns:a="http://schemas.openxmlformats.org/drawingml/2006/main">
              <a:ext uri="{FF2B5EF4-FFF2-40B4-BE49-F238E27FC236}">
                <a16:creationId xmlns:a16="http://schemas.microsoft.com/office/drawing/2014/main" id="{D985896F-82F3-4A90-9B05-A06FC88BF2FD}"/>
              </a:ext>
            </a:extLst>
          </p:cNvPr>
          <p:cNvSpPr>
            <a:spLocks xmlns:a="http://schemas.openxmlformats.org/drawingml/2006/main" noGrp="1"/>
          </p:cNvSpPr>
          <p:nvPr/>
        </p:nvSpPr>
        <p:spPr>
          <a:xfrm xmlns:a="http://schemas.openxmlformats.org/drawingml/2006/main">
            <a:off x="47625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4" name="">
            <a:extLst xmlns:a="http://schemas.openxmlformats.org/drawingml/2006/main">
              <a:ext uri="{FF2B5EF4-FFF2-40B4-BE49-F238E27FC236}">
                <a16:creationId xmlns:a16="http://schemas.microsoft.com/office/drawing/2014/main" id="{3F15BE02-807C-48ED-B5F7-16B0BB16D0E3}"/>
              </a:ext>
            </a:extLst>
          </p:cNvPr>
          <p:cNvSpPr>
            <a:spLocks xmlns:a="http://schemas.openxmlformats.org/drawingml/2006/main" noGrp="1"/>
          </p:cNvSpPr>
          <p:nvPr/>
        </p:nvSpPr>
        <p:spPr>
          <a:xfrm xmlns:a="http://schemas.openxmlformats.org/drawingml/2006/main">
            <a:off x="4924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metadata</a:t>
            </a:r>
          </a:p>
        </p:txBody>
      </p:sp>
      <p:sp>
        <p:nvSpPr>
          <p:cNvPr id="55" name="">
            <a:extLst xmlns:a="http://schemas.openxmlformats.org/drawingml/2006/main">
              <a:ext uri="{FF2B5EF4-FFF2-40B4-BE49-F238E27FC236}">
                <a16:creationId xmlns:a16="http://schemas.microsoft.com/office/drawing/2014/main" id="{B7A45505-DEFC-4625-B6CA-FB84EBBA26E1}"/>
              </a:ext>
            </a:extLst>
          </p:cNvPr>
          <p:cNvSpPr>
            <a:spLocks xmlns:a="http://schemas.openxmlformats.org/drawingml/2006/main" noGrp="1"/>
          </p:cNvSpPr>
          <p:nvPr/>
        </p:nvSpPr>
        <p:spPr>
          <a:xfrm xmlns:a="http://schemas.openxmlformats.org/drawingml/2006/main" rot="0">
            <a:off x="58293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6" name="">
            <a:extLst xmlns:a="http://schemas.openxmlformats.org/drawingml/2006/main">
              <a:ext uri="{FF2B5EF4-FFF2-40B4-BE49-F238E27FC236}">
                <a16:creationId xmlns:a16="http://schemas.microsoft.com/office/drawing/2014/main" id="{0B6DA03D-6355-48A3-91E3-214BDC3814E1}"/>
              </a:ext>
            </a:extLst>
          </p:cNvPr>
          <p:cNvSpPr>
            <a:spLocks xmlns:a="http://schemas.openxmlformats.org/drawingml/2006/main" noGrp="1"/>
          </p:cNvSpPr>
          <p:nvPr/>
        </p:nvSpPr>
        <p:spPr>
          <a:xfrm xmlns:a="http://schemas.openxmlformats.org/drawingml/2006/main" rot="5400000">
            <a:off x="59531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57" name="">
            <a:extLst xmlns:a="http://schemas.openxmlformats.org/drawingml/2006/main">
              <a:ext uri="{FF2B5EF4-FFF2-40B4-BE49-F238E27FC236}">
                <a16:creationId xmlns:a16="http://schemas.microsoft.com/office/drawing/2014/main" id="{B4EC4610-2781-48C1-8527-0EA2587A5823}"/>
              </a:ext>
            </a:extLst>
          </p:cNvPr>
          <p:cNvSpPr>
            <a:spLocks xmlns:a="http://schemas.openxmlformats.org/drawingml/2006/main" noGrp="1"/>
          </p:cNvSpPr>
          <p:nvPr/>
        </p:nvSpPr>
        <p:spPr>
          <a:xfrm xmlns:a="http://schemas.openxmlformats.org/drawingml/2006/main">
            <a:off x="60960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58" name="">
            <a:extLst xmlns:a="http://schemas.openxmlformats.org/drawingml/2006/main">
              <a:ext uri="{FF2B5EF4-FFF2-40B4-BE49-F238E27FC236}">
                <a16:creationId xmlns:a16="http://schemas.microsoft.com/office/drawing/2014/main" id="{DB8927E0-BFF2-44A4-AB98-BD22315489FD}"/>
              </a:ext>
            </a:extLst>
          </p:cNvPr>
          <p:cNvSpPr>
            <a:spLocks xmlns:a="http://schemas.openxmlformats.org/drawingml/2006/main" noGrp="1"/>
          </p:cNvSpPr>
          <p:nvPr/>
        </p:nvSpPr>
        <p:spPr>
          <a:xfrm xmlns:a="http://schemas.openxmlformats.org/drawingml/2006/main">
            <a:off x="60960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9" name="">
            <a:extLst xmlns:a="http://schemas.openxmlformats.org/drawingml/2006/main">
              <a:ext uri="{FF2B5EF4-FFF2-40B4-BE49-F238E27FC236}">
                <a16:creationId xmlns:a16="http://schemas.microsoft.com/office/drawing/2014/main" id="{1C27D3AB-C54D-489F-B0B9-F5755AE8ADED}"/>
              </a:ext>
            </a:extLst>
          </p:cNvPr>
          <p:cNvSpPr>
            <a:spLocks xmlns:a="http://schemas.openxmlformats.org/drawingml/2006/main" noGrp="1"/>
          </p:cNvSpPr>
          <p:nvPr/>
        </p:nvSpPr>
        <p:spPr>
          <a:xfrm xmlns:a="http://schemas.openxmlformats.org/drawingml/2006/main">
            <a:off x="6257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node root</a:t>
            </a:r>
          </a:p>
        </p:txBody>
      </p:sp>
      <p:sp>
        <p:nvSpPr>
          <p:cNvPr id="60" name="">
            <a:extLst xmlns:a="http://schemas.openxmlformats.org/drawingml/2006/main">
              <a:ext uri="{FF2B5EF4-FFF2-40B4-BE49-F238E27FC236}">
                <a16:creationId xmlns:a16="http://schemas.microsoft.com/office/drawing/2014/main" id="{7D066355-F640-4EC8-AB76-5FECA6DD28D4}"/>
              </a:ext>
            </a:extLst>
          </p:cNvPr>
          <p:cNvSpPr>
            <a:spLocks xmlns:a="http://schemas.openxmlformats.org/drawingml/2006/main" noGrp="1"/>
          </p:cNvSpPr>
          <p:nvPr/>
        </p:nvSpPr>
        <p:spPr>
          <a:xfrm xmlns:a="http://schemas.openxmlformats.org/drawingml/2006/main" rot="0">
            <a:off x="71628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1" name="">
            <a:extLst xmlns:a="http://schemas.openxmlformats.org/drawingml/2006/main">
              <a:ext uri="{FF2B5EF4-FFF2-40B4-BE49-F238E27FC236}">
                <a16:creationId xmlns:a16="http://schemas.microsoft.com/office/drawing/2014/main" id="{C1FFB7DB-0DE7-44EE-A478-B0E3142F64DF}"/>
              </a:ext>
            </a:extLst>
          </p:cNvPr>
          <p:cNvSpPr>
            <a:spLocks xmlns:a="http://schemas.openxmlformats.org/drawingml/2006/main" noGrp="1"/>
          </p:cNvSpPr>
          <p:nvPr/>
        </p:nvSpPr>
        <p:spPr>
          <a:xfrm xmlns:a="http://schemas.openxmlformats.org/drawingml/2006/main" rot="5400000">
            <a:off x="72866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62" name="">
            <a:extLst xmlns:a="http://schemas.openxmlformats.org/drawingml/2006/main">
              <a:ext uri="{FF2B5EF4-FFF2-40B4-BE49-F238E27FC236}">
                <a16:creationId xmlns:a16="http://schemas.microsoft.com/office/drawing/2014/main" id="{2547CCEB-DBD3-4D42-9A55-3A7B898A8ADC}"/>
              </a:ext>
            </a:extLst>
          </p:cNvPr>
          <p:cNvSpPr>
            <a:spLocks xmlns:a="http://schemas.openxmlformats.org/drawingml/2006/main" noGrp="1"/>
          </p:cNvSpPr>
          <p:nvPr/>
        </p:nvSpPr>
        <p:spPr>
          <a:xfrm xmlns:a="http://schemas.openxmlformats.org/drawingml/2006/main">
            <a:off x="74295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63" name="">
            <a:extLst xmlns:a="http://schemas.openxmlformats.org/drawingml/2006/main">
              <a:ext uri="{FF2B5EF4-FFF2-40B4-BE49-F238E27FC236}">
                <a16:creationId xmlns:a16="http://schemas.microsoft.com/office/drawing/2014/main" id="{79FB3ECC-4A0C-4309-B79F-A76E10DB5F97}"/>
              </a:ext>
            </a:extLst>
          </p:cNvPr>
          <p:cNvSpPr>
            <a:spLocks xmlns:a="http://schemas.openxmlformats.org/drawingml/2006/main" noGrp="1"/>
          </p:cNvSpPr>
          <p:nvPr/>
        </p:nvSpPr>
        <p:spPr>
          <a:xfrm xmlns:a="http://schemas.openxmlformats.org/drawingml/2006/main">
            <a:off x="74295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4" name="">
            <a:extLst xmlns:a="http://schemas.openxmlformats.org/drawingml/2006/main">
              <a:ext uri="{FF2B5EF4-FFF2-40B4-BE49-F238E27FC236}">
                <a16:creationId xmlns:a16="http://schemas.microsoft.com/office/drawing/2014/main" id="{7AE039ED-E245-468E-B2A9-7AEE5219E196}"/>
              </a:ext>
            </a:extLst>
          </p:cNvPr>
          <p:cNvSpPr>
            <a:spLocks xmlns:a="http://schemas.openxmlformats.org/drawingml/2006/main" noGrp="1"/>
          </p:cNvSpPr>
          <p:nvPr/>
        </p:nvSpPr>
        <p:spPr>
          <a:xfrm xmlns:a="http://schemas.openxmlformats.org/drawingml/2006/main">
            <a:off x="7591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secrets</a:t>
            </a:r>
          </a:p>
        </p:txBody>
      </p:sp>
      <p:sp>
        <p:nvSpPr>
          <p:cNvPr id="65" name="">
            <a:extLst xmlns:a="http://schemas.openxmlformats.org/drawingml/2006/main">
              <a:ext uri="{FF2B5EF4-FFF2-40B4-BE49-F238E27FC236}">
                <a16:creationId xmlns:a16="http://schemas.microsoft.com/office/drawing/2014/main" id="{BE2B2DFC-1D36-4DB9-94DD-B9D2703C5694}"/>
              </a:ext>
            </a:extLst>
          </p:cNvPr>
          <p:cNvSpPr>
            <a:spLocks xmlns:a="http://schemas.openxmlformats.org/drawingml/2006/main" noGrp="1"/>
          </p:cNvSpPr>
          <p:nvPr/>
        </p:nvSpPr>
        <p:spPr>
          <a:xfrm xmlns:a="http://schemas.openxmlformats.org/drawingml/2006/main" rot="0">
            <a:off x="84963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6" name="">
            <a:extLst xmlns:a="http://schemas.openxmlformats.org/drawingml/2006/main">
              <a:ext uri="{FF2B5EF4-FFF2-40B4-BE49-F238E27FC236}">
                <a16:creationId xmlns:a16="http://schemas.microsoft.com/office/drawing/2014/main" id="{1E16F4F0-ADB4-4461-9408-F8942965A032}"/>
              </a:ext>
            </a:extLst>
          </p:cNvPr>
          <p:cNvSpPr>
            <a:spLocks xmlns:a="http://schemas.openxmlformats.org/drawingml/2006/main" noGrp="1"/>
          </p:cNvSpPr>
          <p:nvPr/>
        </p:nvSpPr>
        <p:spPr>
          <a:xfrm xmlns:a="http://schemas.openxmlformats.org/drawingml/2006/main" rot="5400000">
            <a:off x="86201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67" name="">
            <a:extLst xmlns:a="http://schemas.openxmlformats.org/drawingml/2006/main">
              <a:ext uri="{FF2B5EF4-FFF2-40B4-BE49-F238E27FC236}">
                <a16:creationId xmlns:a16="http://schemas.microsoft.com/office/drawing/2014/main" id="{CFE04F04-850A-4D3D-BBC2-335066F4FC3B}"/>
              </a:ext>
            </a:extLst>
          </p:cNvPr>
          <p:cNvSpPr>
            <a:spLocks xmlns:a="http://schemas.openxmlformats.org/drawingml/2006/main" noGrp="1"/>
          </p:cNvSpPr>
          <p:nvPr/>
        </p:nvSpPr>
        <p:spPr>
          <a:xfrm xmlns:a="http://schemas.openxmlformats.org/drawingml/2006/main">
            <a:off x="87630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68" name="">
            <a:extLst xmlns:a="http://schemas.openxmlformats.org/drawingml/2006/main">
              <a:ext uri="{FF2B5EF4-FFF2-40B4-BE49-F238E27FC236}">
                <a16:creationId xmlns:a16="http://schemas.microsoft.com/office/drawing/2014/main" id="{274610B9-8898-4850-9B67-F57A5F05BDAD}"/>
              </a:ext>
            </a:extLst>
          </p:cNvPr>
          <p:cNvSpPr>
            <a:spLocks xmlns:a="http://schemas.openxmlformats.org/drawingml/2006/main" noGrp="1"/>
          </p:cNvSpPr>
          <p:nvPr/>
        </p:nvSpPr>
        <p:spPr>
          <a:xfrm xmlns:a="http://schemas.openxmlformats.org/drawingml/2006/main">
            <a:off x="87630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9" name="">
            <a:extLst xmlns:a="http://schemas.openxmlformats.org/drawingml/2006/main">
              <a:ext uri="{FF2B5EF4-FFF2-40B4-BE49-F238E27FC236}">
                <a16:creationId xmlns:a16="http://schemas.microsoft.com/office/drawing/2014/main" id="{F3B7826F-1C63-4846-89A1-690697C6E47D}"/>
              </a:ext>
            </a:extLst>
          </p:cNvPr>
          <p:cNvSpPr>
            <a:spLocks xmlns:a="http://schemas.openxmlformats.org/drawingml/2006/main" noGrp="1"/>
          </p:cNvSpPr>
          <p:nvPr/>
        </p:nvSpPr>
        <p:spPr>
          <a:xfrm xmlns:a="http://schemas.openxmlformats.org/drawingml/2006/main">
            <a:off x="8924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mesh</a:t>
            </a:r>
          </a:p>
        </p:txBody>
      </p:sp>
      <p:sp>
        <p:nvSpPr>
          <p:cNvPr id="70" name="">
            <a:extLst xmlns:a="http://schemas.openxmlformats.org/drawingml/2006/main">
              <a:ext uri="{FF2B5EF4-FFF2-40B4-BE49-F238E27FC236}">
                <a16:creationId xmlns:a16="http://schemas.microsoft.com/office/drawing/2014/main" id="{52F1F6FA-3F9E-41E7-A679-F3E18D469970}"/>
              </a:ext>
            </a:extLst>
          </p:cNvPr>
          <p:cNvSpPr>
            <a:spLocks xmlns:a="http://schemas.openxmlformats.org/drawingml/2006/main" noGrp="1"/>
          </p:cNvSpPr>
          <p:nvPr/>
        </p:nvSpPr>
        <p:spPr>
          <a:xfrm xmlns:a="http://schemas.openxmlformats.org/drawingml/2006/main">
            <a:off x="3257550" y="2714625"/>
            <a:ext cx="114300" cy="20955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71" name="">
            <a:extLst xmlns:a="http://schemas.openxmlformats.org/drawingml/2006/main">
              <a:ext uri="{FF2B5EF4-FFF2-40B4-BE49-F238E27FC236}">
                <a16:creationId xmlns:a16="http://schemas.microsoft.com/office/drawing/2014/main" id="{12284F0C-392E-4E6B-BA08-629FF5661C62}"/>
              </a:ext>
            </a:extLst>
          </p:cNvPr>
          <p:cNvSpPr>
            <a:spLocks xmlns:a="http://schemas.openxmlformats.org/drawingml/2006/main" noGrp="1"/>
          </p:cNvSpPr>
          <p:nvPr/>
        </p:nvSpPr>
        <p:spPr>
          <a:xfrm xmlns:a="http://schemas.openxmlformats.org/drawingml/2006/main">
            <a:off x="2428875" y="23812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050" b="1">
                <a:solidFill>
                  <a:srgbClr val="2276E3"/>
                </a:solidFill>
              </a:defRPr>
            </a:pPr>
            <a:r>
              <a:rPr sz="1050" b="1">
                <a:solidFill>
                  <a:srgbClr val="2276E3"/>
                </a:solidFill>
              </a:rPr>
              <a:t>TRANSPORT CUTOFF</a:t>
            </a:r>
          </a:p>
        </p:txBody>
      </p:sp>
      <p:sp>
        <p:nvSpPr>
          <p:cNvPr id="72" name="">
            <a:extLst xmlns:a="http://schemas.openxmlformats.org/drawingml/2006/main">
              <a:ext uri="{FF2B5EF4-FFF2-40B4-BE49-F238E27FC236}">
                <a16:creationId xmlns:a16="http://schemas.microsoft.com/office/drawing/2014/main" id="{F4FC4369-376A-4D26-A969-AB4B98807EAC}"/>
              </a:ext>
            </a:extLst>
          </p:cNvPr>
          <p:cNvSpPr>
            <a:spLocks xmlns:a="http://schemas.openxmlformats.org/drawingml/2006/main" noGrp="1"/>
          </p:cNvSpPr>
          <p:nvPr/>
        </p:nvSpPr>
        <p:spPr>
          <a:xfrm xmlns:a="http://schemas.openxmlformats.org/drawingml/2006/main">
            <a:off x="857250" y="4905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D7473F"/>
                </a:solidFill>
              </a:defRPr>
            </a:pPr>
            <a:r>
              <a:rPr sz="1650" b="1">
                <a:solidFill>
                  <a:srgbClr val="D7473F"/>
                </a:solidFill>
              </a:rPr>
              <a:t>The disclosed path continues.</a:t>
            </a:r>
          </a:p>
        </p:txBody>
      </p:sp>
      <p:sp>
        <p:nvSpPr>
          <p:cNvPr id="73" name="">
            <a:extLst xmlns:a="http://schemas.openxmlformats.org/drawingml/2006/main">
              <a:ext uri="{FF2B5EF4-FFF2-40B4-BE49-F238E27FC236}">
                <a16:creationId xmlns:a16="http://schemas.microsoft.com/office/drawing/2014/main" id="{6383C87B-E375-4123-A2FF-B3790883F87C}"/>
              </a:ext>
            </a:extLst>
          </p:cNvPr>
          <p:cNvSpPr>
            <a:spLocks xmlns:a="http://schemas.openxmlformats.org/drawingml/2006/main" noGrp="1"/>
          </p:cNvSpPr>
          <p:nvPr/>
        </p:nvSpPr>
        <p:spPr>
          <a:xfrm xmlns:a="http://schemas.openxmlformats.org/drawingml/2006/main">
            <a:off x="6429375" y="49053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650" b="1">
                <a:solidFill>
                  <a:srgbClr val="2276E3"/>
                </a:solidFill>
              </a:defRPr>
            </a:pPr>
            <a:r>
              <a:rPr sz="1650" b="1">
                <a:solidFill>
                  <a:srgbClr val="2276E3"/>
                </a:solidFill>
              </a:rPr>
              <a:t>KIL withholds transport before forwarding.</a:t>
            </a:r>
          </a:p>
        </p:txBody>
      </p:sp>
    </p:spTree>
    <p:extLst>
      <p:ext uri="{BB962C8B-B14F-4D97-AF65-F5344CB8AC3E}">
        <p14:creationId xmlns:p14="http://schemas.microsoft.com/office/powerpoint/2010/main" val="595074830"/>
      </p:ext>
    </p:extLst>
  </p:cSld>
</p:sld>
</file>

<file path=ppt/slides/slide1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93660B28-246B-4D48-ABA8-7C1C2A98E6AB}"/>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CC9C2401-F6CB-400A-9462-9CBF14F5C75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3CD7372A-41EB-4FD6-BE8F-271BA2553EB0}"/>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BBC6F5BF-A993-4712-80BC-D54156AAD26A}"/>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97E9A3F0-76B0-4712-B884-9DDD2762CE52}"/>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0B13FA0A-312E-4694-B67C-0699F2F21AD0}"/>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CD921056-D40A-44DE-AC89-9CD89129E0A7}"/>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5F1A0F90-BD18-45F9-B4F6-0A7EFA9A516E}"/>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2112FD3C-D16C-4CBE-A013-6586AEB6E5E7}"/>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8A5E67D2-38F8-458F-9DA0-AB2D27000A7E}"/>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59C6DD79-7E4B-4E78-BD30-0F00E14050FD}"/>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BDBF5B67-761B-4556-AEE8-1B03C466BA69}"/>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ABFCF8A4-B6E1-46CD-8C59-167A16F874BE}"/>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7A78769D-9B59-44F7-87BC-02E2D155A6C5}"/>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54A1C57B-9C29-40FF-99C2-6F98C1777A74}"/>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CE62AE03-7FD9-4E7D-A239-5D4E48616FF6}"/>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577F0BE9-9A3A-41CD-B159-8FE0E001F1EC}"/>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596D8E12-CFBE-4674-8413-3E0D58DBA6DB}"/>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A4DF34B5-F50F-41BD-B74B-54DFDE789F7D}"/>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3BA0D41E-155E-414B-A598-C898CB6207BA}"/>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F7AC8F4B-202A-4A11-B6CD-7AB1FE3B123A}"/>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10C89705-F1CB-40A1-B67F-AE03673D254C}"/>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9D25BA0E-157B-4EA5-BE67-93A7EFD327BB}"/>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A28B03E4-B646-4180-BFC5-9683DE9AFEAB}"/>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52A8B1F9-7BFA-4359-BD19-2DD7E8EFF12F}"/>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B2436070-097C-494E-9D50-1C01EEEB0813}"/>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7C1EEEAD-18A4-4DE1-B4DF-FFF7F8E95A2F}"/>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459BCF16-5399-4C34-B509-D648AFD4FAE0}"/>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03D30E60-1F64-472D-91C3-447866066B2F}"/>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196B625F-5C50-456F-8C30-A91C860A755D}"/>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7F8B66F0-943E-423F-8BD3-CF0AA411A27E}"/>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727BED0F-5F34-44C2-80EF-0BE4D64AEE7C}"/>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BEEF2556-F4E7-41A8-8FB9-7836ED30D27B}"/>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A signed, fresh, class-bound state is evaluated before forwarding</a:t>
            </a:r>
          </a:p>
        </p:txBody>
      </p:sp>
      <p:sp>
        <p:nvSpPr>
          <p:cNvPr id="34" name="">
            <a:extLst xmlns:a="http://schemas.openxmlformats.org/drawingml/2006/main">
              <a:ext uri="{FF2B5EF4-FFF2-40B4-BE49-F238E27FC236}">
                <a16:creationId xmlns:a16="http://schemas.microsoft.com/office/drawing/2014/main" id="{5CF7ED66-CA28-453C-807B-46975ACEBF2F}"/>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3A</a:t>
            </a:r>
          </a:p>
        </p:txBody>
      </p:sp>
      <p:sp>
        <p:nvSpPr>
          <p:cNvPr id="35" name="">
            <a:extLst xmlns:a="http://schemas.openxmlformats.org/drawingml/2006/main">
              <a:ext uri="{FF2B5EF4-FFF2-40B4-BE49-F238E27FC236}">
                <a16:creationId xmlns:a16="http://schemas.microsoft.com/office/drawing/2014/main" id="{B043CD84-E6A4-41C4-B414-629F15BE2ED1}"/>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94796E77-8CA0-4D9C-876D-D2E47DC25A8F}"/>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39A637F8-B06D-45A0-80DE-3A87BB5DFB31}"/>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PROPOSED KIL EXTENSION</a:t>
            </a:r>
          </a:p>
        </p:txBody>
      </p:sp>
      <p:sp>
        <p:nvSpPr>
          <p:cNvPr id="38" name="">
            <a:extLst xmlns:a="http://schemas.openxmlformats.org/drawingml/2006/main">
              <a:ext uri="{FF2B5EF4-FFF2-40B4-BE49-F238E27FC236}">
                <a16:creationId xmlns:a16="http://schemas.microsoft.com/office/drawing/2014/main" id="{727D1E80-3D64-4C90-B88B-6F4B28447B48}"/>
              </a:ext>
            </a:extLst>
          </p:cNvPr>
          <p:cNvSpPr>
            <a:spLocks xmlns:a="http://schemas.openxmlformats.org/drawingml/2006/main" noGrp="1"/>
          </p:cNvSpPr>
          <p:nvPr/>
        </p:nvSpPr>
        <p:spPr>
          <a:xfrm xmlns:a="http://schemas.openxmlformats.org/drawingml/2006/main">
            <a:off x="57150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276E3"/>
            </a:solidFill>
          </a:ln>
        </p:spPr>
      </p:sp>
      <p:sp>
        <p:nvSpPr>
          <p:cNvPr id="39" name="">
            <a:extLst xmlns:a="http://schemas.openxmlformats.org/drawingml/2006/main">
              <a:ext uri="{FF2B5EF4-FFF2-40B4-BE49-F238E27FC236}">
                <a16:creationId xmlns:a16="http://schemas.microsoft.com/office/drawing/2014/main" id="{8FD5C272-0BE1-47CB-8658-45644B0A2A10}"/>
              </a:ext>
            </a:extLst>
          </p:cNvPr>
          <p:cNvSpPr>
            <a:spLocks xmlns:a="http://schemas.openxmlformats.org/drawingml/2006/main" noGrp="1"/>
          </p:cNvSpPr>
          <p:nvPr/>
        </p:nvSpPr>
        <p:spPr>
          <a:xfrm xmlns:a="http://schemas.openxmlformats.org/drawingml/2006/main">
            <a:off x="571500" y="2857500"/>
            <a:ext cx="66675" cy="6858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0" name="">
            <a:extLst xmlns:a="http://schemas.openxmlformats.org/drawingml/2006/main">
              <a:ext uri="{FF2B5EF4-FFF2-40B4-BE49-F238E27FC236}">
                <a16:creationId xmlns:a16="http://schemas.microsoft.com/office/drawing/2014/main" id="{EF825349-F8D4-4078-86BF-25DAA0FB6F6B}"/>
              </a:ext>
            </a:extLst>
          </p:cNvPr>
          <p:cNvSpPr>
            <a:spLocks xmlns:a="http://schemas.openxmlformats.org/drawingml/2006/main" noGrp="1"/>
          </p:cNvSpPr>
          <p:nvPr/>
        </p:nvSpPr>
        <p:spPr>
          <a:xfrm xmlns:a="http://schemas.openxmlformats.org/drawingml/2006/main">
            <a:off x="73342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signature</a:t>
            </a:r>
          </a:p>
        </p:txBody>
      </p:sp>
      <p:sp>
        <p:nvSpPr>
          <p:cNvPr id="41" name="">
            <a:extLst xmlns:a="http://schemas.openxmlformats.org/drawingml/2006/main">
              <a:ext uri="{FF2B5EF4-FFF2-40B4-BE49-F238E27FC236}">
                <a16:creationId xmlns:a16="http://schemas.microsoft.com/office/drawing/2014/main" id="{946D1239-C69E-450C-8046-FA9A3449C8AA}"/>
              </a:ext>
            </a:extLst>
          </p:cNvPr>
          <p:cNvSpPr>
            <a:spLocks xmlns:a="http://schemas.openxmlformats.org/drawingml/2006/main" noGrp="1"/>
          </p:cNvSpPr>
          <p:nvPr/>
        </p:nvSpPr>
        <p:spPr>
          <a:xfrm xmlns:a="http://schemas.openxmlformats.org/drawingml/2006/main">
            <a:off x="200025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276E3"/>
            </a:solidFill>
          </a:ln>
        </p:spPr>
      </p:sp>
      <p:sp>
        <p:nvSpPr>
          <p:cNvPr id="42" name="">
            <a:extLst xmlns:a="http://schemas.openxmlformats.org/drawingml/2006/main">
              <a:ext uri="{FF2B5EF4-FFF2-40B4-BE49-F238E27FC236}">
                <a16:creationId xmlns:a16="http://schemas.microsoft.com/office/drawing/2014/main" id="{58978001-5681-4B73-9A24-CCC2A7632CA4}"/>
              </a:ext>
            </a:extLst>
          </p:cNvPr>
          <p:cNvSpPr>
            <a:spLocks xmlns:a="http://schemas.openxmlformats.org/drawingml/2006/main" noGrp="1"/>
          </p:cNvSpPr>
          <p:nvPr/>
        </p:nvSpPr>
        <p:spPr>
          <a:xfrm xmlns:a="http://schemas.openxmlformats.org/drawingml/2006/main">
            <a:off x="2000250" y="2857500"/>
            <a:ext cx="66675" cy="6858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898CFB80-60D6-4F31-A15B-6F8910C0C09A}"/>
              </a:ext>
            </a:extLst>
          </p:cNvPr>
          <p:cNvSpPr>
            <a:spLocks xmlns:a="http://schemas.openxmlformats.org/drawingml/2006/main" noGrp="1"/>
          </p:cNvSpPr>
          <p:nvPr/>
        </p:nvSpPr>
        <p:spPr>
          <a:xfrm xmlns:a="http://schemas.openxmlformats.org/drawingml/2006/main">
            <a:off x="216217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expiry</a:t>
            </a:r>
          </a:p>
        </p:txBody>
      </p:sp>
      <p:sp>
        <p:nvSpPr>
          <p:cNvPr id="44" name="">
            <a:extLst xmlns:a="http://schemas.openxmlformats.org/drawingml/2006/main">
              <a:ext uri="{FF2B5EF4-FFF2-40B4-BE49-F238E27FC236}">
                <a16:creationId xmlns:a16="http://schemas.microsoft.com/office/drawing/2014/main" id="{B1E4304B-1A56-42AB-B9C9-6015BCCD6F3D}"/>
              </a:ext>
            </a:extLst>
          </p:cNvPr>
          <p:cNvSpPr>
            <a:spLocks xmlns:a="http://schemas.openxmlformats.org/drawingml/2006/main" noGrp="1"/>
          </p:cNvSpPr>
          <p:nvPr/>
        </p:nvSpPr>
        <p:spPr>
          <a:xfrm xmlns:a="http://schemas.openxmlformats.org/drawingml/2006/main">
            <a:off x="342900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276E3"/>
            </a:solidFill>
          </a:ln>
        </p:spPr>
      </p:sp>
      <p:sp>
        <p:nvSpPr>
          <p:cNvPr id="45" name="">
            <a:extLst xmlns:a="http://schemas.openxmlformats.org/drawingml/2006/main">
              <a:ext uri="{FF2B5EF4-FFF2-40B4-BE49-F238E27FC236}">
                <a16:creationId xmlns:a16="http://schemas.microsoft.com/office/drawing/2014/main" id="{83D2F59C-8243-41AB-B004-9D4E9D24F7F5}"/>
              </a:ext>
            </a:extLst>
          </p:cNvPr>
          <p:cNvSpPr>
            <a:spLocks xmlns:a="http://schemas.openxmlformats.org/drawingml/2006/main" noGrp="1"/>
          </p:cNvSpPr>
          <p:nvPr/>
        </p:nvSpPr>
        <p:spPr>
          <a:xfrm xmlns:a="http://schemas.openxmlformats.org/drawingml/2006/main">
            <a:off x="3429000" y="2857500"/>
            <a:ext cx="66675" cy="6858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6" name="">
            <a:extLst xmlns:a="http://schemas.openxmlformats.org/drawingml/2006/main">
              <a:ext uri="{FF2B5EF4-FFF2-40B4-BE49-F238E27FC236}">
                <a16:creationId xmlns:a16="http://schemas.microsoft.com/office/drawing/2014/main" id="{FE16C5B6-FA78-4EDE-8315-12D850313F52}"/>
              </a:ext>
            </a:extLst>
          </p:cNvPr>
          <p:cNvSpPr>
            <a:spLocks xmlns:a="http://schemas.openxmlformats.org/drawingml/2006/main" noGrp="1"/>
          </p:cNvSpPr>
          <p:nvPr/>
        </p:nvSpPr>
        <p:spPr>
          <a:xfrm xmlns:a="http://schemas.openxmlformats.org/drawingml/2006/main">
            <a:off x="359092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identity + class</a:t>
            </a:r>
          </a:p>
        </p:txBody>
      </p:sp>
      <p:sp>
        <p:nvSpPr>
          <p:cNvPr id="47" name="">
            <a:extLst xmlns:a="http://schemas.openxmlformats.org/drawingml/2006/main">
              <a:ext uri="{FF2B5EF4-FFF2-40B4-BE49-F238E27FC236}">
                <a16:creationId xmlns:a16="http://schemas.microsoft.com/office/drawing/2014/main" id="{481607E7-788F-4E42-B41F-3A888DC52720}"/>
              </a:ext>
            </a:extLst>
          </p:cNvPr>
          <p:cNvSpPr>
            <a:spLocks xmlns:a="http://schemas.openxmlformats.org/drawingml/2006/main" noGrp="1"/>
          </p:cNvSpPr>
          <p:nvPr/>
        </p:nvSpPr>
        <p:spPr>
          <a:xfrm xmlns:a="http://schemas.openxmlformats.org/drawingml/2006/main">
            <a:off x="485775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276E3"/>
            </a:solidFill>
          </a:ln>
        </p:spPr>
      </p:sp>
      <p:sp>
        <p:nvSpPr>
          <p:cNvPr id="48" name="">
            <a:extLst xmlns:a="http://schemas.openxmlformats.org/drawingml/2006/main">
              <a:ext uri="{FF2B5EF4-FFF2-40B4-BE49-F238E27FC236}">
                <a16:creationId xmlns:a16="http://schemas.microsoft.com/office/drawing/2014/main" id="{C0B91178-BB08-45C0-B362-3843D77C800C}"/>
              </a:ext>
            </a:extLst>
          </p:cNvPr>
          <p:cNvSpPr>
            <a:spLocks xmlns:a="http://schemas.openxmlformats.org/drawingml/2006/main" noGrp="1"/>
          </p:cNvSpPr>
          <p:nvPr/>
        </p:nvSpPr>
        <p:spPr>
          <a:xfrm xmlns:a="http://schemas.openxmlformats.org/drawingml/2006/main">
            <a:off x="4857750" y="2857500"/>
            <a:ext cx="66675" cy="6858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9" name="">
            <a:extLst xmlns:a="http://schemas.openxmlformats.org/drawingml/2006/main">
              <a:ext uri="{FF2B5EF4-FFF2-40B4-BE49-F238E27FC236}">
                <a16:creationId xmlns:a16="http://schemas.microsoft.com/office/drawing/2014/main" id="{8A57D9D1-B939-4C38-B801-5E119653DC7F}"/>
              </a:ext>
            </a:extLst>
          </p:cNvPr>
          <p:cNvSpPr>
            <a:spLocks xmlns:a="http://schemas.openxmlformats.org/drawingml/2006/main" noGrp="1"/>
          </p:cNvSpPr>
          <p:nvPr/>
        </p:nvSpPr>
        <p:spPr>
          <a:xfrm xmlns:a="http://schemas.openxmlformats.org/drawingml/2006/main">
            <a:off x="501967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action binding</a:t>
            </a:r>
          </a:p>
        </p:txBody>
      </p:sp>
      <p:sp>
        <p:nvSpPr>
          <p:cNvPr id="50" name="">
            <a:extLst xmlns:a="http://schemas.openxmlformats.org/drawingml/2006/main">
              <a:ext uri="{FF2B5EF4-FFF2-40B4-BE49-F238E27FC236}">
                <a16:creationId xmlns:a16="http://schemas.microsoft.com/office/drawing/2014/main" id="{783C1E39-7D17-476A-8A51-79C5BB528AF8}"/>
              </a:ext>
            </a:extLst>
          </p:cNvPr>
          <p:cNvSpPr>
            <a:spLocks xmlns:a="http://schemas.openxmlformats.org/drawingml/2006/main" noGrp="1"/>
          </p:cNvSpPr>
          <p:nvPr/>
        </p:nvSpPr>
        <p:spPr>
          <a:xfrm xmlns:a="http://schemas.openxmlformats.org/drawingml/2006/main">
            <a:off x="628650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F9B69"/>
            </a:solidFill>
          </a:ln>
        </p:spPr>
      </p:sp>
      <p:sp>
        <p:nvSpPr>
          <p:cNvPr id="51" name="">
            <a:extLst xmlns:a="http://schemas.openxmlformats.org/drawingml/2006/main">
              <a:ext uri="{FF2B5EF4-FFF2-40B4-BE49-F238E27FC236}">
                <a16:creationId xmlns:a16="http://schemas.microsoft.com/office/drawing/2014/main" id="{1C19372E-E05B-4854-9D01-D5DCFFA0C42E}"/>
              </a:ext>
            </a:extLst>
          </p:cNvPr>
          <p:cNvSpPr>
            <a:spLocks xmlns:a="http://schemas.openxmlformats.org/drawingml/2006/main" noGrp="1"/>
          </p:cNvSpPr>
          <p:nvPr/>
        </p:nvSpPr>
        <p:spPr>
          <a:xfrm xmlns:a="http://schemas.openxmlformats.org/drawingml/2006/main">
            <a:off x="6286500" y="2857500"/>
            <a:ext cx="66675" cy="68580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2" name="">
            <a:extLst xmlns:a="http://schemas.openxmlformats.org/drawingml/2006/main">
              <a:ext uri="{FF2B5EF4-FFF2-40B4-BE49-F238E27FC236}">
                <a16:creationId xmlns:a16="http://schemas.microsoft.com/office/drawing/2014/main" id="{4852194E-8F7F-45D7-AC37-37110A5E2E54}"/>
              </a:ext>
            </a:extLst>
          </p:cNvPr>
          <p:cNvSpPr>
            <a:spLocks xmlns:a="http://schemas.openxmlformats.org/drawingml/2006/main" noGrp="1"/>
          </p:cNvSpPr>
          <p:nvPr/>
        </p:nvSpPr>
        <p:spPr>
          <a:xfrm xmlns:a="http://schemas.openxmlformats.org/drawingml/2006/main">
            <a:off x="644842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KTP veto</a:t>
            </a:r>
          </a:p>
        </p:txBody>
      </p:sp>
      <p:sp>
        <p:nvSpPr>
          <p:cNvPr id="53" name="">
            <a:extLst xmlns:a="http://schemas.openxmlformats.org/drawingml/2006/main">
              <a:ext uri="{FF2B5EF4-FFF2-40B4-BE49-F238E27FC236}">
                <a16:creationId xmlns:a16="http://schemas.microsoft.com/office/drawing/2014/main" id="{85169C8A-C00B-4A39-8A67-63E302D1190A}"/>
              </a:ext>
            </a:extLst>
          </p:cNvPr>
          <p:cNvSpPr>
            <a:spLocks xmlns:a="http://schemas.openxmlformats.org/drawingml/2006/main" noGrp="1"/>
          </p:cNvSpPr>
          <p:nvPr/>
        </p:nvSpPr>
        <p:spPr>
          <a:xfrm xmlns:a="http://schemas.openxmlformats.org/drawingml/2006/main">
            <a:off x="771525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F9B69"/>
            </a:solidFill>
          </a:ln>
        </p:spPr>
      </p:sp>
      <p:sp>
        <p:nvSpPr>
          <p:cNvPr id="54" name="">
            <a:extLst xmlns:a="http://schemas.openxmlformats.org/drawingml/2006/main">
              <a:ext uri="{FF2B5EF4-FFF2-40B4-BE49-F238E27FC236}">
                <a16:creationId xmlns:a16="http://schemas.microsoft.com/office/drawing/2014/main" id="{37E98A8F-A2D5-46A0-B263-2297933337D3}"/>
              </a:ext>
            </a:extLst>
          </p:cNvPr>
          <p:cNvSpPr>
            <a:spLocks xmlns:a="http://schemas.openxmlformats.org/drawingml/2006/main" noGrp="1"/>
          </p:cNvSpPr>
          <p:nvPr/>
        </p:nvSpPr>
        <p:spPr>
          <a:xfrm xmlns:a="http://schemas.openxmlformats.org/drawingml/2006/main">
            <a:off x="7715250" y="2857500"/>
            <a:ext cx="66675" cy="68580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5" name="">
            <a:extLst xmlns:a="http://schemas.openxmlformats.org/drawingml/2006/main">
              <a:ext uri="{FF2B5EF4-FFF2-40B4-BE49-F238E27FC236}">
                <a16:creationId xmlns:a16="http://schemas.microsoft.com/office/drawing/2014/main" id="{549291F7-D6C9-4857-99DD-D19E0A4960E7}"/>
              </a:ext>
            </a:extLst>
          </p:cNvPr>
          <p:cNvSpPr>
            <a:spLocks xmlns:a="http://schemas.openxmlformats.org/drawingml/2006/main" noGrp="1"/>
          </p:cNvSpPr>
          <p:nvPr/>
        </p:nvSpPr>
        <p:spPr>
          <a:xfrm xmlns:a="http://schemas.openxmlformats.org/drawingml/2006/main">
            <a:off x="787717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envelope</a:t>
            </a:r>
          </a:p>
        </p:txBody>
      </p:sp>
      <p:sp>
        <p:nvSpPr>
          <p:cNvPr id="56" name="">
            <a:extLst xmlns:a="http://schemas.openxmlformats.org/drawingml/2006/main">
              <a:ext uri="{FF2B5EF4-FFF2-40B4-BE49-F238E27FC236}">
                <a16:creationId xmlns:a16="http://schemas.microsoft.com/office/drawing/2014/main" id="{C94F1E94-0A1B-4397-8EE5-1BAFBCFAB363}"/>
              </a:ext>
            </a:extLst>
          </p:cNvPr>
          <p:cNvSpPr>
            <a:spLocks xmlns:a="http://schemas.openxmlformats.org/drawingml/2006/main" noGrp="1"/>
          </p:cNvSpPr>
          <p:nvPr/>
        </p:nvSpPr>
        <p:spPr>
          <a:xfrm xmlns:a="http://schemas.openxmlformats.org/drawingml/2006/main">
            <a:off x="914400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F9B69"/>
            </a:solidFill>
          </a:ln>
        </p:spPr>
      </p:sp>
      <p:sp>
        <p:nvSpPr>
          <p:cNvPr id="57" name="">
            <a:extLst xmlns:a="http://schemas.openxmlformats.org/drawingml/2006/main">
              <a:ext uri="{FF2B5EF4-FFF2-40B4-BE49-F238E27FC236}">
                <a16:creationId xmlns:a16="http://schemas.microsoft.com/office/drawing/2014/main" id="{30D12E33-FD77-4297-8169-B5791D718189}"/>
              </a:ext>
            </a:extLst>
          </p:cNvPr>
          <p:cNvSpPr>
            <a:spLocks xmlns:a="http://schemas.openxmlformats.org/drawingml/2006/main" noGrp="1"/>
          </p:cNvSpPr>
          <p:nvPr/>
        </p:nvSpPr>
        <p:spPr>
          <a:xfrm xmlns:a="http://schemas.openxmlformats.org/drawingml/2006/main">
            <a:off x="9144000" y="2857500"/>
            <a:ext cx="66675" cy="68580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8" name="">
            <a:extLst xmlns:a="http://schemas.openxmlformats.org/drawingml/2006/main">
              <a:ext uri="{FF2B5EF4-FFF2-40B4-BE49-F238E27FC236}">
                <a16:creationId xmlns:a16="http://schemas.microsoft.com/office/drawing/2014/main" id="{5D5CB568-6EE8-415F-8F70-06AC1666EED1}"/>
              </a:ext>
            </a:extLst>
          </p:cNvPr>
          <p:cNvSpPr>
            <a:spLocks xmlns:a="http://schemas.openxmlformats.org/drawingml/2006/main" noGrp="1"/>
          </p:cNvSpPr>
          <p:nvPr/>
        </p:nvSpPr>
        <p:spPr>
          <a:xfrm xmlns:a="http://schemas.openxmlformats.org/drawingml/2006/main">
            <a:off x="930592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threshold</a:t>
            </a:r>
          </a:p>
        </p:txBody>
      </p:sp>
      <p:sp>
        <p:nvSpPr>
          <p:cNvPr id="59" name="">
            <a:extLst xmlns:a="http://schemas.openxmlformats.org/drawingml/2006/main">
              <a:ext uri="{FF2B5EF4-FFF2-40B4-BE49-F238E27FC236}">
                <a16:creationId xmlns:a16="http://schemas.microsoft.com/office/drawing/2014/main" id="{A880A176-7130-4ECF-9229-E7FAE9AA40FD}"/>
              </a:ext>
            </a:extLst>
          </p:cNvPr>
          <p:cNvSpPr>
            <a:spLocks xmlns:a="http://schemas.openxmlformats.org/drawingml/2006/main" noGrp="1"/>
          </p:cNvSpPr>
          <p:nvPr/>
        </p:nvSpPr>
        <p:spPr>
          <a:xfrm xmlns:a="http://schemas.openxmlformats.org/drawingml/2006/main">
            <a:off x="10572750" y="2857500"/>
            <a:ext cx="1190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F9B69"/>
            </a:solidFill>
          </a:ln>
        </p:spPr>
      </p:sp>
      <p:sp>
        <p:nvSpPr>
          <p:cNvPr id="60" name="">
            <a:extLst xmlns:a="http://schemas.openxmlformats.org/drawingml/2006/main">
              <a:ext uri="{FF2B5EF4-FFF2-40B4-BE49-F238E27FC236}">
                <a16:creationId xmlns:a16="http://schemas.microsoft.com/office/drawing/2014/main" id="{1C6E2462-D1BE-48D5-96C6-967A03063374}"/>
              </a:ext>
            </a:extLst>
          </p:cNvPr>
          <p:cNvSpPr>
            <a:spLocks xmlns:a="http://schemas.openxmlformats.org/drawingml/2006/main" noGrp="1"/>
          </p:cNvSpPr>
          <p:nvPr/>
        </p:nvSpPr>
        <p:spPr>
          <a:xfrm xmlns:a="http://schemas.openxmlformats.org/drawingml/2006/main">
            <a:off x="10572750" y="2857500"/>
            <a:ext cx="66675" cy="68580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61" name="">
            <a:extLst xmlns:a="http://schemas.openxmlformats.org/drawingml/2006/main">
              <a:ext uri="{FF2B5EF4-FFF2-40B4-BE49-F238E27FC236}">
                <a16:creationId xmlns:a16="http://schemas.microsoft.com/office/drawing/2014/main" id="{FA1374BE-7726-45C2-B384-A7BCFDBAD108}"/>
              </a:ext>
            </a:extLst>
          </p:cNvPr>
          <p:cNvSpPr>
            <a:spLocks xmlns:a="http://schemas.openxmlformats.org/drawingml/2006/main" noGrp="1"/>
          </p:cNvSpPr>
          <p:nvPr/>
        </p:nvSpPr>
        <p:spPr>
          <a:xfrm xmlns:a="http://schemas.openxmlformats.org/drawingml/2006/main">
            <a:off x="10734675" y="2933700"/>
            <a:ext cx="9239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decision record</a:t>
            </a:r>
          </a:p>
        </p:txBody>
      </p:sp>
      <p:sp>
        <p:nvSpPr>
          <p:cNvPr id="62" name="">
            <a:extLst xmlns:a="http://schemas.openxmlformats.org/drawingml/2006/main">
              <a:ext uri="{FF2B5EF4-FFF2-40B4-BE49-F238E27FC236}">
                <a16:creationId xmlns:a16="http://schemas.microsoft.com/office/drawing/2014/main" id="{9D485BA0-51B3-4E1B-B624-BF3640B84D20}"/>
              </a:ext>
            </a:extLst>
          </p:cNvPr>
          <p:cNvSpPr>
            <a:spLocks xmlns:a="http://schemas.openxmlformats.org/drawingml/2006/main" noGrp="1"/>
          </p:cNvSpPr>
          <p:nvPr/>
        </p:nvSpPr>
        <p:spPr>
          <a:xfrm xmlns:a="http://schemas.openxmlformats.org/drawingml/2006/main" rot="0">
            <a:off x="1762125" y="3200400"/>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3" name="">
            <a:extLst xmlns:a="http://schemas.openxmlformats.org/drawingml/2006/main">
              <a:ext uri="{FF2B5EF4-FFF2-40B4-BE49-F238E27FC236}">
                <a16:creationId xmlns:a16="http://schemas.microsoft.com/office/drawing/2014/main" id="{6F347DF7-8A2C-4934-9FC6-08BD586DDD34}"/>
              </a:ext>
            </a:extLst>
          </p:cNvPr>
          <p:cNvSpPr>
            <a:spLocks xmlns:a="http://schemas.openxmlformats.org/drawingml/2006/main" noGrp="1"/>
          </p:cNvSpPr>
          <p:nvPr/>
        </p:nvSpPr>
        <p:spPr>
          <a:xfrm xmlns:a="http://schemas.openxmlformats.org/drawingml/2006/main" rot="5400000">
            <a:off x="1857375" y="31146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4" name="">
            <a:extLst xmlns:a="http://schemas.openxmlformats.org/drawingml/2006/main">
              <a:ext uri="{FF2B5EF4-FFF2-40B4-BE49-F238E27FC236}">
                <a16:creationId xmlns:a16="http://schemas.microsoft.com/office/drawing/2014/main" id="{5D0079D9-2F8D-45B7-AF2B-08C029E8702E}"/>
              </a:ext>
            </a:extLst>
          </p:cNvPr>
          <p:cNvSpPr>
            <a:spLocks xmlns:a="http://schemas.openxmlformats.org/drawingml/2006/main" noGrp="1"/>
          </p:cNvSpPr>
          <p:nvPr/>
        </p:nvSpPr>
        <p:spPr>
          <a:xfrm xmlns:a="http://schemas.openxmlformats.org/drawingml/2006/main" rot="0">
            <a:off x="3190875" y="3200400"/>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5" name="">
            <a:extLst xmlns:a="http://schemas.openxmlformats.org/drawingml/2006/main">
              <a:ext uri="{FF2B5EF4-FFF2-40B4-BE49-F238E27FC236}">
                <a16:creationId xmlns:a16="http://schemas.microsoft.com/office/drawing/2014/main" id="{EED25E88-8875-42B7-B01E-79822B0C3D1E}"/>
              </a:ext>
            </a:extLst>
          </p:cNvPr>
          <p:cNvSpPr>
            <a:spLocks xmlns:a="http://schemas.openxmlformats.org/drawingml/2006/main" noGrp="1"/>
          </p:cNvSpPr>
          <p:nvPr/>
        </p:nvSpPr>
        <p:spPr>
          <a:xfrm xmlns:a="http://schemas.openxmlformats.org/drawingml/2006/main" rot="5400000">
            <a:off x="3286125" y="31146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6" name="">
            <a:extLst xmlns:a="http://schemas.openxmlformats.org/drawingml/2006/main">
              <a:ext uri="{FF2B5EF4-FFF2-40B4-BE49-F238E27FC236}">
                <a16:creationId xmlns:a16="http://schemas.microsoft.com/office/drawing/2014/main" id="{2D1CEB6F-49D2-4C99-97CE-10A203471AC0}"/>
              </a:ext>
            </a:extLst>
          </p:cNvPr>
          <p:cNvSpPr>
            <a:spLocks xmlns:a="http://schemas.openxmlformats.org/drawingml/2006/main" noGrp="1"/>
          </p:cNvSpPr>
          <p:nvPr/>
        </p:nvSpPr>
        <p:spPr>
          <a:xfrm xmlns:a="http://schemas.openxmlformats.org/drawingml/2006/main" rot="0">
            <a:off x="4619625" y="3200400"/>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7" name="">
            <a:extLst xmlns:a="http://schemas.openxmlformats.org/drawingml/2006/main">
              <a:ext uri="{FF2B5EF4-FFF2-40B4-BE49-F238E27FC236}">
                <a16:creationId xmlns:a16="http://schemas.microsoft.com/office/drawing/2014/main" id="{620E8507-497A-4E89-9493-63A2749AE4BF}"/>
              </a:ext>
            </a:extLst>
          </p:cNvPr>
          <p:cNvSpPr>
            <a:spLocks xmlns:a="http://schemas.openxmlformats.org/drawingml/2006/main" noGrp="1"/>
          </p:cNvSpPr>
          <p:nvPr/>
        </p:nvSpPr>
        <p:spPr>
          <a:xfrm xmlns:a="http://schemas.openxmlformats.org/drawingml/2006/main" rot="5400000">
            <a:off x="4714875" y="31146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8" name="">
            <a:extLst xmlns:a="http://schemas.openxmlformats.org/drawingml/2006/main">
              <a:ext uri="{FF2B5EF4-FFF2-40B4-BE49-F238E27FC236}">
                <a16:creationId xmlns:a16="http://schemas.microsoft.com/office/drawing/2014/main" id="{F27D329A-DEE8-44BD-B6C7-4C30537DFF1E}"/>
              </a:ext>
            </a:extLst>
          </p:cNvPr>
          <p:cNvSpPr>
            <a:spLocks xmlns:a="http://schemas.openxmlformats.org/drawingml/2006/main" noGrp="1"/>
          </p:cNvSpPr>
          <p:nvPr/>
        </p:nvSpPr>
        <p:spPr>
          <a:xfrm xmlns:a="http://schemas.openxmlformats.org/drawingml/2006/main" rot="0">
            <a:off x="6048375" y="3200400"/>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9" name="">
            <a:extLst xmlns:a="http://schemas.openxmlformats.org/drawingml/2006/main">
              <a:ext uri="{FF2B5EF4-FFF2-40B4-BE49-F238E27FC236}">
                <a16:creationId xmlns:a16="http://schemas.microsoft.com/office/drawing/2014/main" id="{174CBE1C-B1A5-41B5-9411-AB1812F7A5D1}"/>
              </a:ext>
            </a:extLst>
          </p:cNvPr>
          <p:cNvSpPr>
            <a:spLocks xmlns:a="http://schemas.openxmlformats.org/drawingml/2006/main" noGrp="1"/>
          </p:cNvSpPr>
          <p:nvPr/>
        </p:nvSpPr>
        <p:spPr>
          <a:xfrm xmlns:a="http://schemas.openxmlformats.org/drawingml/2006/main" rot="5400000">
            <a:off x="6143625" y="31146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70" name="">
            <a:extLst xmlns:a="http://schemas.openxmlformats.org/drawingml/2006/main">
              <a:ext uri="{FF2B5EF4-FFF2-40B4-BE49-F238E27FC236}">
                <a16:creationId xmlns:a16="http://schemas.microsoft.com/office/drawing/2014/main" id="{05381437-6CD7-4B67-8F75-71E1105AF877}"/>
              </a:ext>
            </a:extLst>
          </p:cNvPr>
          <p:cNvSpPr>
            <a:spLocks xmlns:a="http://schemas.openxmlformats.org/drawingml/2006/main" noGrp="1"/>
          </p:cNvSpPr>
          <p:nvPr/>
        </p:nvSpPr>
        <p:spPr>
          <a:xfrm xmlns:a="http://schemas.openxmlformats.org/drawingml/2006/main" rot="0">
            <a:off x="7477125" y="3200400"/>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71" name="">
            <a:extLst xmlns:a="http://schemas.openxmlformats.org/drawingml/2006/main">
              <a:ext uri="{FF2B5EF4-FFF2-40B4-BE49-F238E27FC236}">
                <a16:creationId xmlns:a16="http://schemas.microsoft.com/office/drawing/2014/main" id="{A1B58386-C689-45BC-A486-FAC9C1593978}"/>
              </a:ext>
            </a:extLst>
          </p:cNvPr>
          <p:cNvSpPr>
            <a:spLocks xmlns:a="http://schemas.openxmlformats.org/drawingml/2006/main" noGrp="1"/>
          </p:cNvSpPr>
          <p:nvPr/>
        </p:nvSpPr>
        <p:spPr>
          <a:xfrm xmlns:a="http://schemas.openxmlformats.org/drawingml/2006/main" rot="5400000">
            <a:off x="7572375" y="31146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72" name="">
            <a:extLst xmlns:a="http://schemas.openxmlformats.org/drawingml/2006/main">
              <a:ext uri="{FF2B5EF4-FFF2-40B4-BE49-F238E27FC236}">
                <a16:creationId xmlns:a16="http://schemas.microsoft.com/office/drawing/2014/main" id="{8940D0E7-00C7-45F4-BBDD-8D8F5204E2FB}"/>
              </a:ext>
            </a:extLst>
          </p:cNvPr>
          <p:cNvSpPr>
            <a:spLocks xmlns:a="http://schemas.openxmlformats.org/drawingml/2006/main" noGrp="1"/>
          </p:cNvSpPr>
          <p:nvPr/>
        </p:nvSpPr>
        <p:spPr>
          <a:xfrm xmlns:a="http://schemas.openxmlformats.org/drawingml/2006/main" rot="0">
            <a:off x="8905875" y="3200400"/>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73" name="">
            <a:extLst xmlns:a="http://schemas.openxmlformats.org/drawingml/2006/main">
              <a:ext uri="{FF2B5EF4-FFF2-40B4-BE49-F238E27FC236}">
                <a16:creationId xmlns:a16="http://schemas.microsoft.com/office/drawing/2014/main" id="{1D7A7569-8CD8-4479-91DD-150D921A9900}"/>
              </a:ext>
            </a:extLst>
          </p:cNvPr>
          <p:cNvSpPr>
            <a:spLocks xmlns:a="http://schemas.openxmlformats.org/drawingml/2006/main" noGrp="1"/>
          </p:cNvSpPr>
          <p:nvPr/>
        </p:nvSpPr>
        <p:spPr>
          <a:xfrm xmlns:a="http://schemas.openxmlformats.org/drawingml/2006/main" rot="5400000">
            <a:off x="9001125" y="31146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74" name="">
            <a:extLst xmlns:a="http://schemas.openxmlformats.org/drawingml/2006/main">
              <a:ext uri="{FF2B5EF4-FFF2-40B4-BE49-F238E27FC236}">
                <a16:creationId xmlns:a16="http://schemas.microsoft.com/office/drawing/2014/main" id="{17510A9F-8BD6-461B-8A7B-95973780571C}"/>
              </a:ext>
            </a:extLst>
          </p:cNvPr>
          <p:cNvSpPr>
            <a:spLocks xmlns:a="http://schemas.openxmlformats.org/drawingml/2006/main" noGrp="1"/>
          </p:cNvSpPr>
          <p:nvPr/>
        </p:nvSpPr>
        <p:spPr>
          <a:xfrm xmlns:a="http://schemas.openxmlformats.org/drawingml/2006/main" rot="0">
            <a:off x="10334625" y="3200400"/>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75" name="">
            <a:extLst xmlns:a="http://schemas.openxmlformats.org/drawingml/2006/main">
              <a:ext uri="{FF2B5EF4-FFF2-40B4-BE49-F238E27FC236}">
                <a16:creationId xmlns:a16="http://schemas.microsoft.com/office/drawing/2014/main" id="{2764075B-7BB0-468C-A8CA-DA20679E8E0B}"/>
              </a:ext>
            </a:extLst>
          </p:cNvPr>
          <p:cNvSpPr>
            <a:spLocks xmlns:a="http://schemas.openxmlformats.org/drawingml/2006/main" noGrp="1"/>
          </p:cNvSpPr>
          <p:nvPr/>
        </p:nvSpPr>
        <p:spPr>
          <a:xfrm xmlns:a="http://schemas.openxmlformats.org/drawingml/2006/main" rot="5400000">
            <a:off x="10429875" y="31146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76" name="">
            <a:extLst xmlns:a="http://schemas.openxmlformats.org/drawingml/2006/main">
              <a:ext uri="{FF2B5EF4-FFF2-40B4-BE49-F238E27FC236}">
                <a16:creationId xmlns:a16="http://schemas.microsoft.com/office/drawing/2014/main" id="{83B9BC13-DDAA-4698-8EE9-3621798B90FD}"/>
              </a:ext>
            </a:extLst>
          </p:cNvPr>
          <p:cNvSpPr>
            <a:spLocks xmlns:a="http://schemas.openxmlformats.org/drawingml/2006/main" noGrp="1"/>
          </p:cNvSpPr>
          <p:nvPr/>
        </p:nvSpPr>
        <p:spPr>
          <a:xfrm xmlns:a="http://schemas.openxmlformats.org/drawingml/2006/main">
            <a:off x="2381250" y="4429125"/>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100" b="1">
                <a:solidFill>
                  <a:srgbClr val="081426"/>
                </a:solidFill>
              </a:defRPr>
            </a:pPr>
            <a:r>
              <a:rPr sz="2100" b="1">
                <a:solidFill>
                  <a:srgbClr val="081426"/>
                </a:solidFill>
              </a:rPr>
              <a:t>Any failed mandatory check prevents forwarding.</a:t>
            </a:r>
          </a:p>
        </p:txBody>
      </p:sp>
    </p:spTree>
    <p:extLst>
      <p:ext uri="{BB962C8B-B14F-4D97-AF65-F5344CB8AC3E}">
        <p14:creationId xmlns:p14="http://schemas.microsoft.com/office/powerpoint/2010/main" val="1651532"/>
      </p:ext>
    </p:extLst>
  </p:cSld>
</p:sld>
</file>

<file path=ppt/slides/slide1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7FBB68B-269E-4CF1-A3AA-0CF9EE177D3C}"/>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3FE35085-795E-4C6E-A944-26D9BC4A82D9}"/>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EE018701-EF1F-4BE9-9773-6657D6A2DD11}"/>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CC2388D4-578B-463A-9121-593A8B542087}"/>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F84F9DA7-4F03-4BBA-964D-6A093BAFF3D9}"/>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4E85D877-D156-4CF6-A517-B60A3E673C9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0E576C92-F347-4299-8EC6-D8F77BA40614}"/>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1008034C-362A-47AB-B2BB-9FA6B5976252}"/>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CB056A69-D415-469F-9748-2177B4E27E69}"/>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EB57427A-3115-48CB-A9BE-C8766FB4E745}"/>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EDCFCBD2-7E48-4767-84DB-C564281BCE0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54BFE9A2-64F9-48D6-97BD-4AECBF0E0365}"/>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B33B1664-C5F4-40A1-BE3E-447154A7F0EC}"/>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9374E4FD-020D-4581-BA58-5CA9AF311545}"/>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88744FCA-F65F-43A2-AEC0-F95BA965A04E}"/>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B31A586D-6D28-4F27-A824-AC124FDD662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15F216E6-89CF-4656-A435-7B7FEE9EE85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752CEF6D-117A-43E0-877C-D15F96829321}"/>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587A64C7-F603-4B8B-9142-A05CBDC9349A}"/>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A5B6A9B1-A114-4A56-A1A3-1911E4B14ED3}"/>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6B10F899-F5DE-4633-892A-42A83BB3DB70}"/>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83803B11-E260-453E-9592-82A2C3575419}"/>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F1CD23EA-7744-433E-B30F-9CA8B4213E02}"/>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B94E2DBE-5B65-4044-B6BD-E8BEECF17DFE}"/>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296ACCF3-192A-42B3-8DCA-35B1F71268A5}"/>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65093F60-62FE-44AE-A4D3-33D132F2E530}"/>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061F1FB8-CD97-467A-BAB3-1570FAED9C94}"/>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879FFF07-67AD-4904-A0B7-366DC185EFC1}"/>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99518555-3BEF-49F9-818E-60ED154FB16E}"/>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B0E161AC-7D97-411E-99A6-185571A293C9}"/>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0874AC2A-4221-4C54-81A0-94A1F1C9385B}"/>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5FC1A0FF-C60E-475B-9050-AFD88A9F1FF8}"/>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6037B4EE-0181-4639-B3CB-A09629DEECB6}"/>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Modeled divergence dₜ = 0.95 reduces effective authority below threshold</a:t>
            </a:r>
          </a:p>
        </p:txBody>
      </p:sp>
      <p:sp>
        <p:nvSpPr>
          <p:cNvPr id="34" name="">
            <a:extLst xmlns:a="http://schemas.openxmlformats.org/drawingml/2006/main">
              <a:ext uri="{FF2B5EF4-FFF2-40B4-BE49-F238E27FC236}">
                <a16:creationId xmlns:a16="http://schemas.microsoft.com/office/drawing/2014/main" id="{4C95889E-3FF8-4C2F-9C72-DD52090C8530}"/>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3B</a:t>
            </a:r>
          </a:p>
        </p:txBody>
      </p:sp>
      <p:sp>
        <p:nvSpPr>
          <p:cNvPr id="35" name="">
            <a:extLst xmlns:a="http://schemas.openxmlformats.org/drawingml/2006/main">
              <a:ext uri="{FF2B5EF4-FFF2-40B4-BE49-F238E27FC236}">
                <a16:creationId xmlns:a16="http://schemas.microsoft.com/office/drawing/2014/main" id="{EF6777FC-E755-4E7C-9A24-70DD30619CE1}"/>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F15E8835-1D64-44CC-84D4-0F44C2C9CF56}"/>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7" name="">
            <a:extLst xmlns:a="http://schemas.openxmlformats.org/drawingml/2006/main">
              <a:ext uri="{FF2B5EF4-FFF2-40B4-BE49-F238E27FC236}">
                <a16:creationId xmlns:a16="http://schemas.microsoft.com/office/drawing/2014/main" id="{9776241D-47F8-4780-B6DB-D8E6E79ED616}"/>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MODELED INPUT + RESULT</a:t>
            </a:r>
          </a:p>
        </p:txBody>
      </p:sp>
      <p:sp>
        <p:nvSpPr>
          <p:cNvPr id="38" name="">
            <a:extLst xmlns:a="http://schemas.openxmlformats.org/drawingml/2006/main">
              <a:ext uri="{FF2B5EF4-FFF2-40B4-BE49-F238E27FC236}">
                <a16:creationId xmlns:a16="http://schemas.microsoft.com/office/drawing/2014/main" id="{A2F2DDAA-611E-4882-B7DD-422A0C64DAE1}"/>
              </a:ext>
            </a:extLst>
          </p:cNvPr>
          <p:cNvSpPr>
            <a:spLocks xmlns:a="http://schemas.openxmlformats.org/drawingml/2006/main" noGrp="1"/>
          </p:cNvSpPr>
          <p:nvPr/>
        </p:nvSpPr>
        <p:spPr>
          <a:xfrm xmlns:a="http://schemas.openxmlformats.org/drawingml/2006/main">
            <a:off x="857250" y="214312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4050" b="1">
                <a:solidFill>
                  <a:srgbClr val="D7473F"/>
                </a:solidFill>
              </a:defRPr>
            </a:pPr>
            <a:r>
              <a:rPr sz="4050" b="1">
                <a:solidFill>
                  <a:srgbClr val="D7473F"/>
                </a:solidFill>
              </a:rPr>
              <a:t>dₜ = 0.95</a:t>
            </a:r>
          </a:p>
        </p:txBody>
      </p:sp>
      <p:sp>
        <p:nvSpPr>
          <p:cNvPr id="39" name="">
            <a:extLst xmlns:a="http://schemas.openxmlformats.org/drawingml/2006/main">
              <a:ext uri="{FF2B5EF4-FFF2-40B4-BE49-F238E27FC236}">
                <a16:creationId xmlns:a16="http://schemas.microsoft.com/office/drawing/2014/main" id="{4586FB30-5974-49FF-B788-2D14E5906909}"/>
              </a:ext>
            </a:extLst>
          </p:cNvPr>
          <p:cNvSpPr>
            <a:spLocks xmlns:a="http://schemas.openxmlformats.org/drawingml/2006/main" noGrp="1"/>
          </p:cNvSpPr>
          <p:nvPr/>
        </p:nvSpPr>
        <p:spPr>
          <a:xfrm xmlns:a="http://schemas.openxmlformats.org/drawingml/2006/main">
            <a:off x="904875" y="309562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37465B"/>
                </a:solidFill>
              </a:defRPr>
            </a:pPr>
            <a:r>
              <a:rPr sz="1425" b="0">
                <a:solidFill>
                  <a:srgbClr val="37465B"/>
                </a:solidFill>
              </a:rPr>
              <a:t>declared synthetic input</a:t>
            </a:r>
          </a:p>
          <a:p xmlns:a="http://schemas.openxmlformats.org/drawingml/2006/main">
            <a:pPr algn="l">
              <a:defRPr sz="1425" b="0">
                <a:solidFill>
                  <a:srgbClr val="37465B"/>
                </a:solidFill>
              </a:defRPr>
            </a:pPr>
            <a:r>
              <a:rPr sz="1425" b="0">
                <a:solidFill>
                  <a:srgbClr val="37465B"/>
                </a:solidFill>
              </a:rPr>
              <a:t>not incident telemetry</a:t>
            </a:r>
          </a:p>
        </p:txBody>
      </p:sp>
      <p:sp>
        <p:nvSpPr>
          <p:cNvPr id="40" name="">
            <a:extLst xmlns:a="http://schemas.openxmlformats.org/drawingml/2006/main">
              <a:ext uri="{FF2B5EF4-FFF2-40B4-BE49-F238E27FC236}">
                <a16:creationId xmlns:a16="http://schemas.microsoft.com/office/drawing/2014/main" id="{083BA943-3ED2-4689-AA61-DF9C0614200F}"/>
              </a:ext>
            </a:extLst>
          </p:cNvPr>
          <p:cNvSpPr>
            <a:spLocks xmlns:a="http://schemas.openxmlformats.org/drawingml/2006/main" noGrp="1"/>
          </p:cNvSpPr>
          <p:nvPr/>
        </p:nvSpPr>
        <p:spPr>
          <a:xfrm xmlns:a="http://schemas.openxmlformats.org/drawingml/2006/main" rot="0">
            <a:off x="4238625" y="2762250"/>
            <a:ext cx="195262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1" name="">
            <a:extLst xmlns:a="http://schemas.openxmlformats.org/drawingml/2006/main">
              <a:ext uri="{FF2B5EF4-FFF2-40B4-BE49-F238E27FC236}">
                <a16:creationId xmlns:a16="http://schemas.microsoft.com/office/drawing/2014/main" id="{100CB284-EAF2-4ADD-AA71-E4E8AE8F040B}"/>
              </a:ext>
            </a:extLst>
          </p:cNvPr>
          <p:cNvSpPr>
            <a:spLocks xmlns:a="http://schemas.openxmlformats.org/drawingml/2006/main" noGrp="1"/>
          </p:cNvSpPr>
          <p:nvPr/>
        </p:nvSpPr>
        <p:spPr>
          <a:xfrm xmlns:a="http://schemas.openxmlformats.org/drawingml/2006/main" rot="5400000">
            <a:off x="6096000" y="2676525"/>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2" name="">
            <a:extLst xmlns:a="http://schemas.openxmlformats.org/drawingml/2006/main">
              <a:ext uri="{FF2B5EF4-FFF2-40B4-BE49-F238E27FC236}">
                <a16:creationId xmlns:a16="http://schemas.microsoft.com/office/drawing/2014/main" id="{0D0D3AB1-2969-46FA-A6E5-1D7F70B41CAB}"/>
              </a:ext>
            </a:extLst>
          </p:cNvPr>
          <p:cNvSpPr>
            <a:spLocks xmlns:a="http://schemas.openxmlformats.org/drawingml/2006/main" noGrp="1"/>
          </p:cNvSpPr>
          <p:nvPr/>
        </p:nvSpPr>
        <p:spPr>
          <a:xfrm xmlns:a="http://schemas.openxmlformats.org/drawingml/2006/main">
            <a:off x="6429375" y="20955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3300" b="1">
                <a:solidFill>
                  <a:srgbClr val="2276E3"/>
                </a:solidFill>
              </a:defRPr>
            </a:pPr>
            <a:r>
              <a:rPr sz="3300" b="1">
                <a:solidFill>
                  <a:srgbClr val="2276E3"/>
                </a:solidFill>
              </a:rPr>
              <a:t>Qᵢ,cluster-api</a:t>
            </a:r>
          </a:p>
        </p:txBody>
      </p:sp>
      <p:sp>
        <p:nvSpPr>
          <p:cNvPr id="43" name="">
            <a:extLst xmlns:a="http://schemas.openxmlformats.org/drawingml/2006/main">
              <a:ext uri="{FF2B5EF4-FFF2-40B4-BE49-F238E27FC236}">
                <a16:creationId xmlns:a16="http://schemas.microsoft.com/office/drawing/2014/main" id="{1C23E29F-9666-42A3-87E8-6839414AA1ED}"/>
              </a:ext>
            </a:extLst>
          </p:cNvPr>
          <p:cNvSpPr>
            <a:spLocks xmlns:a="http://schemas.openxmlformats.org/drawingml/2006/main" noGrp="1"/>
          </p:cNvSpPr>
          <p:nvPr/>
        </p:nvSpPr>
        <p:spPr>
          <a:xfrm xmlns:a="http://schemas.openxmlformats.org/drawingml/2006/main">
            <a:off x="6572250" y="3238500"/>
            <a:ext cx="3619500" cy="571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4" name="">
            <a:extLst xmlns:a="http://schemas.openxmlformats.org/drawingml/2006/main">
              <a:ext uri="{FF2B5EF4-FFF2-40B4-BE49-F238E27FC236}">
                <a16:creationId xmlns:a16="http://schemas.microsoft.com/office/drawing/2014/main" id="{166D71B6-E5A1-4934-A735-83908D0754FB}"/>
              </a:ext>
            </a:extLst>
          </p:cNvPr>
          <p:cNvSpPr>
            <a:spLocks xmlns:a="http://schemas.openxmlformats.org/drawingml/2006/main" noGrp="1"/>
          </p:cNvSpPr>
          <p:nvPr/>
        </p:nvSpPr>
        <p:spPr>
          <a:xfrm xmlns:a="http://schemas.openxmlformats.org/drawingml/2006/main">
            <a:off x="6572250" y="3238500"/>
            <a:ext cx="1000125" cy="5715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5" name="">
            <a:extLst xmlns:a="http://schemas.openxmlformats.org/drawingml/2006/main">
              <a:ext uri="{FF2B5EF4-FFF2-40B4-BE49-F238E27FC236}">
                <a16:creationId xmlns:a16="http://schemas.microsoft.com/office/drawing/2014/main" id="{DACEF247-6567-4DBA-A6F5-B2FC36D9FD08}"/>
              </a:ext>
            </a:extLst>
          </p:cNvPr>
          <p:cNvSpPr>
            <a:spLocks xmlns:a="http://schemas.openxmlformats.org/drawingml/2006/main" noGrp="1"/>
          </p:cNvSpPr>
          <p:nvPr/>
        </p:nvSpPr>
        <p:spPr>
          <a:xfrm xmlns:a="http://schemas.openxmlformats.org/drawingml/2006/main">
            <a:off x="6572250" y="34766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37465B"/>
                </a:solidFill>
              </a:defRPr>
            </a:pPr>
            <a:r>
              <a:rPr sz="1350" b="1">
                <a:solidFill>
                  <a:srgbClr val="37465B"/>
                </a:solidFill>
              </a:rPr>
              <a:t>effective authority</a:t>
            </a:r>
          </a:p>
        </p:txBody>
      </p:sp>
      <p:sp>
        <p:nvSpPr>
          <p:cNvPr id="46" name="">
            <a:extLst xmlns:a="http://schemas.openxmlformats.org/drawingml/2006/main">
              <a:ext uri="{FF2B5EF4-FFF2-40B4-BE49-F238E27FC236}">
                <a16:creationId xmlns:a16="http://schemas.microsoft.com/office/drawing/2014/main" id="{13CE129C-ED4F-4851-ABFF-33265EE0FC03}"/>
              </a:ext>
            </a:extLst>
          </p:cNvPr>
          <p:cNvSpPr>
            <a:spLocks xmlns:a="http://schemas.openxmlformats.org/drawingml/2006/main" noGrp="1"/>
          </p:cNvSpPr>
          <p:nvPr/>
        </p:nvSpPr>
        <p:spPr>
          <a:xfrm xmlns:a="http://schemas.openxmlformats.org/drawingml/2006/main">
            <a:off x="9144000" y="342900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650" b="1">
                <a:solidFill>
                  <a:srgbClr val="D7473F"/>
                </a:solidFill>
              </a:defRPr>
            </a:pPr>
            <a:r>
              <a:rPr sz="1650" b="1">
                <a:solidFill>
                  <a:srgbClr val="D7473F"/>
                </a:solidFill>
              </a:rPr>
              <a:t>DENY</a:t>
            </a:r>
          </a:p>
        </p:txBody>
      </p:sp>
    </p:spTree>
    <p:extLst>
      <p:ext uri="{BB962C8B-B14F-4D97-AF65-F5344CB8AC3E}">
        <p14:creationId xmlns:p14="http://schemas.microsoft.com/office/powerpoint/2010/main" val="740589342"/>
      </p:ext>
    </p:extLst>
  </p:cSld>
</p:sld>
</file>

<file path=ppt/slides/slide1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7EC76231-95A5-45EF-847A-E40684B4676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7E946F00-553B-4F5C-8748-EDD89D5B9E6D}"/>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6FE9F697-ED82-4E6E-88C2-CB5EE241AD4D}"/>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79EF93A9-152D-4211-8955-F0A70BD01E8A}"/>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249687DF-D4B9-4D4F-A0C5-B641C0211B45}"/>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6B3EAE58-754A-48F9-B194-40B2BB92D2B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48077BEE-3C3D-4D8D-BED7-4A47D7EB8956}"/>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5A2DCB05-EF1D-4E8C-A6C0-42D6AC03E317}"/>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39ECDD4C-977A-4E56-9B5F-54568B9DCDC9}"/>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04A32C58-333E-44EB-A7D1-906856F65E9F}"/>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DA10C6B1-9CB9-4160-8A8F-B0B88BAD566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48D03816-4BDC-49CE-ABB8-4B68FA332C4C}"/>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788A917F-92EA-4806-BD5A-EEDCA0431E37}"/>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F1A57F18-B30A-451B-AD5B-D6D72A0A3388}"/>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5B690834-CE86-44DF-B0AA-95D9201829A7}"/>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F81BF0CC-4F7B-420E-B047-D95FD6CDD76D}"/>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1A605B60-BE72-46EE-B337-ADCCE66F964F}"/>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4C412690-31FC-4181-879F-77AA493FC1D1}"/>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02385A86-1140-423B-B29E-4601CF8C636D}"/>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83E5B4CE-3762-4C94-B9D0-47484970736D}"/>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5C6D3CCC-2665-4974-AC99-8E74CF92D0BF}"/>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48CB0A0E-D520-4C94-A32B-EBF8A9886510}"/>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84868311-914D-4BCB-A83C-0463D938A54C}"/>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53D85CC7-766D-4C31-A05E-767ADDFC3CC4}"/>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1A7E2820-8CB0-4B4E-9090-2F9431D30D78}"/>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654E1FE2-F4D3-4ED5-806E-5E416DEFAFB7}"/>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E715C278-1432-4170-883D-B17F4759D487}"/>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F58954B9-1C72-4D44-8DB7-FEAB01D30C8D}"/>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D2CED06D-08C8-4F3E-BF50-131DD71BE1C2}"/>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1938946C-0978-40EC-BDA4-2EFBBFDCDC5F}"/>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D40672A7-98D3-462B-B9B7-B4C636C05882}"/>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1C81E8EF-3AA4-4BF9-92E2-F059DF9DE17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B78A9903-4E27-4F74-931F-9B92CDB1048A}"/>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The observed path cascaded into multiple high-consequence branches</a:t>
            </a:r>
          </a:p>
        </p:txBody>
      </p:sp>
      <p:sp>
        <p:nvSpPr>
          <p:cNvPr id="34" name="">
            <a:extLst xmlns:a="http://schemas.openxmlformats.org/drawingml/2006/main">
              <a:ext uri="{FF2B5EF4-FFF2-40B4-BE49-F238E27FC236}">
                <a16:creationId xmlns:a16="http://schemas.microsoft.com/office/drawing/2014/main" id="{4E7DE6ED-5C77-4FD3-8ECC-A14ED11B6BD3}"/>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4</a:t>
            </a:r>
          </a:p>
        </p:txBody>
      </p:sp>
      <p:sp>
        <p:nvSpPr>
          <p:cNvPr id="35" name="">
            <a:extLst xmlns:a="http://schemas.openxmlformats.org/drawingml/2006/main">
              <a:ext uri="{FF2B5EF4-FFF2-40B4-BE49-F238E27FC236}">
                <a16:creationId xmlns:a16="http://schemas.microsoft.com/office/drawing/2014/main" id="{C70EB39F-4579-492A-BB96-296518FA8D58}"/>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7473F"/>
            </a:solidFill>
          </a:ln>
        </p:spPr>
      </p:sp>
      <p:sp>
        <p:nvSpPr>
          <p:cNvPr id="36" name="">
            <a:extLst xmlns:a="http://schemas.openxmlformats.org/drawingml/2006/main">
              <a:ext uri="{FF2B5EF4-FFF2-40B4-BE49-F238E27FC236}">
                <a16:creationId xmlns:a16="http://schemas.microsoft.com/office/drawing/2014/main" id="{2D819F91-352A-46A4-ADC3-73547A42CAB3}"/>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7473F"/>
                </a:solidFill>
              </a:defRPr>
            </a:pPr>
            <a:r>
              <a:rPr sz="900" b="1">
                <a:solidFill>
                  <a:srgbClr val="D7473F"/>
                </a:solidFill>
              </a:rPr>
              <a:t>OBSERVED INCIDENT</a:t>
            </a:r>
          </a:p>
        </p:txBody>
      </p:sp>
      <p:sp>
        <p:nvSpPr>
          <p:cNvPr id="37" name="">
            <a:extLst xmlns:a="http://schemas.openxmlformats.org/drawingml/2006/main">
              <a:ext uri="{FF2B5EF4-FFF2-40B4-BE49-F238E27FC236}">
                <a16:creationId xmlns:a16="http://schemas.microsoft.com/office/drawing/2014/main" id="{EBEB2132-E593-4278-A7B8-F49C6E4B8CC7}"/>
              </a:ext>
            </a:extLst>
          </p:cNvPr>
          <p:cNvSpPr>
            <a:spLocks xmlns:a="http://schemas.openxmlformats.org/drawingml/2006/main" noGrp="1"/>
          </p:cNvSpPr>
          <p:nvPr/>
        </p:nvSpPr>
        <p:spPr>
          <a:xfrm xmlns:a="http://schemas.openxmlformats.org/drawingml/2006/main">
            <a:off x="7620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38" name="">
            <a:extLst xmlns:a="http://schemas.openxmlformats.org/drawingml/2006/main">
              <a:ext uri="{FF2B5EF4-FFF2-40B4-BE49-F238E27FC236}">
                <a16:creationId xmlns:a16="http://schemas.microsoft.com/office/drawing/2014/main" id="{06406564-490A-4992-859E-8462D3D4FD08}"/>
              </a:ext>
            </a:extLst>
          </p:cNvPr>
          <p:cNvSpPr>
            <a:spLocks xmlns:a="http://schemas.openxmlformats.org/drawingml/2006/main" noGrp="1"/>
          </p:cNvSpPr>
          <p:nvPr/>
        </p:nvSpPr>
        <p:spPr>
          <a:xfrm xmlns:a="http://schemas.openxmlformats.org/drawingml/2006/main">
            <a:off x="7620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39" name="">
            <a:extLst xmlns:a="http://schemas.openxmlformats.org/drawingml/2006/main">
              <a:ext uri="{FF2B5EF4-FFF2-40B4-BE49-F238E27FC236}">
                <a16:creationId xmlns:a16="http://schemas.microsoft.com/office/drawing/2014/main" id="{0584F289-DF6A-413A-9E8C-6A516F26F8F8}"/>
              </a:ext>
            </a:extLst>
          </p:cNvPr>
          <p:cNvSpPr>
            <a:spLocks xmlns:a="http://schemas.openxmlformats.org/drawingml/2006/main" noGrp="1"/>
          </p:cNvSpPr>
          <p:nvPr/>
        </p:nvSpPr>
        <p:spPr>
          <a:xfrm xmlns:a="http://schemas.openxmlformats.org/drawingml/2006/main">
            <a:off x="923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API</a:t>
            </a:r>
          </a:p>
        </p:txBody>
      </p:sp>
      <p:sp>
        <p:nvSpPr>
          <p:cNvPr id="40" name="">
            <a:extLst xmlns:a="http://schemas.openxmlformats.org/drawingml/2006/main">
              <a:ext uri="{FF2B5EF4-FFF2-40B4-BE49-F238E27FC236}">
                <a16:creationId xmlns:a16="http://schemas.microsoft.com/office/drawing/2014/main" id="{F0717AF1-6FE3-4E6B-A9F6-1C08959E6A63}"/>
              </a:ext>
            </a:extLst>
          </p:cNvPr>
          <p:cNvSpPr>
            <a:spLocks xmlns:a="http://schemas.openxmlformats.org/drawingml/2006/main" noGrp="1"/>
          </p:cNvSpPr>
          <p:nvPr/>
        </p:nvSpPr>
        <p:spPr>
          <a:xfrm xmlns:a="http://schemas.openxmlformats.org/drawingml/2006/main" rot="0">
            <a:off x="1828800" y="3743325"/>
            <a:ext cx="2190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1" name="">
            <a:extLst xmlns:a="http://schemas.openxmlformats.org/drawingml/2006/main">
              <a:ext uri="{FF2B5EF4-FFF2-40B4-BE49-F238E27FC236}">
                <a16:creationId xmlns:a16="http://schemas.microsoft.com/office/drawing/2014/main" id="{FA5BB2AF-D447-4DF1-9AA0-B3DD57A81C8C}"/>
              </a:ext>
            </a:extLst>
          </p:cNvPr>
          <p:cNvSpPr>
            <a:spLocks xmlns:a="http://schemas.openxmlformats.org/drawingml/2006/main" noGrp="1"/>
          </p:cNvSpPr>
          <p:nvPr/>
        </p:nvSpPr>
        <p:spPr>
          <a:xfrm xmlns:a="http://schemas.openxmlformats.org/drawingml/2006/main" rot="5400000">
            <a:off x="1952625" y="36576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2" name="">
            <a:extLst xmlns:a="http://schemas.openxmlformats.org/drawingml/2006/main">
              <a:ext uri="{FF2B5EF4-FFF2-40B4-BE49-F238E27FC236}">
                <a16:creationId xmlns:a16="http://schemas.microsoft.com/office/drawing/2014/main" id="{7D7BE9D4-0F25-4099-ADF8-DA0C457B0B97}"/>
              </a:ext>
            </a:extLst>
          </p:cNvPr>
          <p:cNvSpPr>
            <a:spLocks xmlns:a="http://schemas.openxmlformats.org/drawingml/2006/main" noGrp="1"/>
          </p:cNvSpPr>
          <p:nvPr/>
        </p:nvSpPr>
        <p:spPr>
          <a:xfrm xmlns:a="http://schemas.openxmlformats.org/drawingml/2006/main">
            <a:off x="20955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43" name="">
            <a:extLst xmlns:a="http://schemas.openxmlformats.org/drawingml/2006/main">
              <a:ext uri="{FF2B5EF4-FFF2-40B4-BE49-F238E27FC236}">
                <a16:creationId xmlns:a16="http://schemas.microsoft.com/office/drawing/2014/main" id="{8163F69F-2E1A-455E-8D1D-6D87396FB351}"/>
              </a:ext>
            </a:extLst>
          </p:cNvPr>
          <p:cNvSpPr>
            <a:spLocks xmlns:a="http://schemas.openxmlformats.org/drawingml/2006/main" noGrp="1"/>
          </p:cNvSpPr>
          <p:nvPr/>
        </p:nvSpPr>
        <p:spPr>
          <a:xfrm xmlns:a="http://schemas.openxmlformats.org/drawingml/2006/main">
            <a:off x="20955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4" name="">
            <a:extLst xmlns:a="http://schemas.openxmlformats.org/drawingml/2006/main">
              <a:ext uri="{FF2B5EF4-FFF2-40B4-BE49-F238E27FC236}">
                <a16:creationId xmlns:a16="http://schemas.microsoft.com/office/drawing/2014/main" id="{FAD4AFED-844B-4469-9FD7-7114388BBFC6}"/>
              </a:ext>
            </a:extLst>
          </p:cNvPr>
          <p:cNvSpPr>
            <a:spLocks xmlns:a="http://schemas.openxmlformats.org/drawingml/2006/main" noGrp="1"/>
          </p:cNvSpPr>
          <p:nvPr/>
        </p:nvSpPr>
        <p:spPr>
          <a:xfrm xmlns:a="http://schemas.openxmlformats.org/drawingml/2006/main">
            <a:off x="2257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node root</a:t>
            </a:r>
          </a:p>
        </p:txBody>
      </p:sp>
      <p:sp>
        <p:nvSpPr>
          <p:cNvPr id="45" name="">
            <a:extLst xmlns:a="http://schemas.openxmlformats.org/drawingml/2006/main">
              <a:ext uri="{FF2B5EF4-FFF2-40B4-BE49-F238E27FC236}">
                <a16:creationId xmlns:a16="http://schemas.microsoft.com/office/drawing/2014/main" id="{17E5A75B-3F79-4D65-BB18-C67D1E232670}"/>
              </a:ext>
            </a:extLst>
          </p:cNvPr>
          <p:cNvSpPr>
            <a:spLocks xmlns:a="http://schemas.openxmlformats.org/drawingml/2006/main" noGrp="1"/>
          </p:cNvSpPr>
          <p:nvPr/>
        </p:nvSpPr>
        <p:spPr>
          <a:xfrm xmlns:a="http://schemas.openxmlformats.org/drawingml/2006/main" rot="0">
            <a:off x="3162300" y="3743325"/>
            <a:ext cx="2190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6" name="">
            <a:extLst xmlns:a="http://schemas.openxmlformats.org/drawingml/2006/main">
              <a:ext uri="{FF2B5EF4-FFF2-40B4-BE49-F238E27FC236}">
                <a16:creationId xmlns:a16="http://schemas.microsoft.com/office/drawing/2014/main" id="{2082AD84-B08F-4CBB-B3B2-C0D159CE73CC}"/>
              </a:ext>
            </a:extLst>
          </p:cNvPr>
          <p:cNvSpPr>
            <a:spLocks xmlns:a="http://schemas.openxmlformats.org/drawingml/2006/main" noGrp="1"/>
          </p:cNvSpPr>
          <p:nvPr/>
        </p:nvSpPr>
        <p:spPr>
          <a:xfrm xmlns:a="http://schemas.openxmlformats.org/drawingml/2006/main" rot="5400000">
            <a:off x="3286125" y="36576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7" name="">
            <a:extLst xmlns:a="http://schemas.openxmlformats.org/drawingml/2006/main">
              <a:ext uri="{FF2B5EF4-FFF2-40B4-BE49-F238E27FC236}">
                <a16:creationId xmlns:a16="http://schemas.microsoft.com/office/drawing/2014/main" id="{C3E8C132-BB46-4523-B29C-C4886BB9DB54}"/>
              </a:ext>
            </a:extLst>
          </p:cNvPr>
          <p:cNvSpPr>
            <a:spLocks xmlns:a="http://schemas.openxmlformats.org/drawingml/2006/main" noGrp="1"/>
          </p:cNvSpPr>
          <p:nvPr/>
        </p:nvSpPr>
        <p:spPr>
          <a:xfrm xmlns:a="http://schemas.openxmlformats.org/drawingml/2006/main">
            <a:off x="34290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D7473F"/>
            </a:solidFill>
          </a:ln>
        </p:spPr>
      </p:sp>
      <p:sp>
        <p:nvSpPr>
          <p:cNvPr id="48" name="">
            <a:extLst xmlns:a="http://schemas.openxmlformats.org/drawingml/2006/main">
              <a:ext uri="{FF2B5EF4-FFF2-40B4-BE49-F238E27FC236}">
                <a16:creationId xmlns:a16="http://schemas.microsoft.com/office/drawing/2014/main" id="{0AE47DDF-8FF2-4268-8BCC-ED38834FD23C}"/>
              </a:ext>
            </a:extLst>
          </p:cNvPr>
          <p:cNvSpPr>
            <a:spLocks xmlns:a="http://schemas.openxmlformats.org/drawingml/2006/main" noGrp="1"/>
          </p:cNvSpPr>
          <p:nvPr/>
        </p:nvSpPr>
        <p:spPr>
          <a:xfrm xmlns:a="http://schemas.openxmlformats.org/drawingml/2006/main">
            <a:off x="3429000" y="3429000"/>
            <a:ext cx="66675" cy="62865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9" name="">
            <a:extLst xmlns:a="http://schemas.openxmlformats.org/drawingml/2006/main">
              <a:ext uri="{FF2B5EF4-FFF2-40B4-BE49-F238E27FC236}">
                <a16:creationId xmlns:a16="http://schemas.microsoft.com/office/drawing/2014/main" id="{89E3FE60-8265-460B-9476-944B8B238738}"/>
              </a:ext>
            </a:extLst>
          </p:cNvPr>
          <p:cNvSpPr>
            <a:spLocks xmlns:a="http://schemas.openxmlformats.org/drawingml/2006/main" noGrp="1"/>
          </p:cNvSpPr>
          <p:nvPr/>
        </p:nvSpPr>
        <p:spPr>
          <a:xfrm xmlns:a="http://schemas.openxmlformats.org/drawingml/2006/main">
            <a:off x="3590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136-key read</a:t>
            </a:r>
          </a:p>
        </p:txBody>
      </p:sp>
      <p:sp>
        <p:nvSpPr>
          <p:cNvPr id="50" name="">
            <a:extLst xmlns:a="http://schemas.openxmlformats.org/drawingml/2006/main">
              <a:ext uri="{FF2B5EF4-FFF2-40B4-BE49-F238E27FC236}">
                <a16:creationId xmlns:a16="http://schemas.microsoft.com/office/drawing/2014/main" id="{1319489D-4306-4CFF-B8E3-C747A7F4D0E3}"/>
              </a:ext>
            </a:extLst>
          </p:cNvPr>
          <p:cNvSpPr>
            <a:spLocks xmlns:a="http://schemas.openxmlformats.org/drawingml/2006/main" noGrp="1"/>
          </p:cNvSpPr>
          <p:nvPr/>
        </p:nvSpPr>
        <p:spPr>
          <a:xfrm xmlns:a="http://schemas.openxmlformats.org/drawingml/2006/main" rot="0">
            <a:off x="4495800" y="3743325"/>
            <a:ext cx="2190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51" name="">
            <a:extLst xmlns:a="http://schemas.openxmlformats.org/drawingml/2006/main">
              <a:ext uri="{FF2B5EF4-FFF2-40B4-BE49-F238E27FC236}">
                <a16:creationId xmlns:a16="http://schemas.microsoft.com/office/drawing/2014/main" id="{07F7A2E4-C98F-4776-AFDE-37C89026DEFF}"/>
              </a:ext>
            </a:extLst>
          </p:cNvPr>
          <p:cNvSpPr>
            <a:spLocks xmlns:a="http://schemas.openxmlformats.org/drawingml/2006/main" noGrp="1"/>
          </p:cNvSpPr>
          <p:nvPr/>
        </p:nvSpPr>
        <p:spPr>
          <a:xfrm xmlns:a="http://schemas.openxmlformats.org/drawingml/2006/main" rot="5400000">
            <a:off x="4619625" y="36576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52" name="">
            <a:extLst xmlns:a="http://schemas.openxmlformats.org/drawingml/2006/main">
              <a:ext uri="{FF2B5EF4-FFF2-40B4-BE49-F238E27FC236}">
                <a16:creationId xmlns:a16="http://schemas.microsoft.com/office/drawing/2014/main" id="{EB5F030D-2BB3-4CC0-AF2A-5A5CE14E1878}"/>
              </a:ext>
            </a:extLst>
          </p:cNvPr>
          <p:cNvSpPr>
            <a:spLocks xmlns:a="http://schemas.openxmlformats.org/drawingml/2006/main" noGrp="1"/>
          </p:cNvSpPr>
          <p:nvPr/>
        </p:nvSpPr>
        <p:spPr>
          <a:xfrm xmlns:a="http://schemas.openxmlformats.org/drawingml/2006/main">
            <a:off x="47625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53" name="">
            <a:extLst xmlns:a="http://schemas.openxmlformats.org/drawingml/2006/main">
              <a:ext uri="{FF2B5EF4-FFF2-40B4-BE49-F238E27FC236}">
                <a16:creationId xmlns:a16="http://schemas.microsoft.com/office/drawing/2014/main" id="{6C75F6F5-DD0B-49A3-9911-5C20670BAA73}"/>
              </a:ext>
            </a:extLst>
          </p:cNvPr>
          <p:cNvSpPr>
            <a:spLocks xmlns:a="http://schemas.openxmlformats.org/drawingml/2006/main" noGrp="1"/>
          </p:cNvSpPr>
          <p:nvPr/>
        </p:nvSpPr>
        <p:spPr>
          <a:xfrm xmlns:a="http://schemas.openxmlformats.org/drawingml/2006/main">
            <a:off x="47625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4" name="">
            <a:extLst xmlns:a="http://schemas.openxmlformats.org/drawingml/2006/main">
              <a:ext uri="{FF2B5EF4-FFF2-40B4-BE49-F238E27FC236}">
                <a16:creationId xmlns:a16="http://schemas.microsoft.com/office/drawing/2014/main" id="{8B3E5F2B-DD5D-4DEC-B32A-7F4BA2685B37}"/>
              </a:ext>
            </a:extLst>
          </p:cNvPr>
          <p:cNvSpPr>
            <a:spLocks xmlns:a="http://schemas.openxmlformats.org/drawingml/2006/main" noGrp="1"/>
          </p:cNvSpPr>
          <p:nvPr/>
        </p:nvSpPr>
        <p:spPr>
          <a:xfrm xmlns:a="http://schemas.openxmlformats.org/drawingml/2006/main">
            <a:off x="4924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cross-cluster</a:t>
            </a:r>
          </a:p>
        </p:txBody>
      </p:sp>
      <p:sp>
        <p:nvSpPr>
          <p:cNvPr id="55" name="">
            <a:extLst xmlns:a="http://schemas.openxmlformats.org/drawingml/2006/main">
              <a:ext uri="{FF2B5EF4-FFF2-40B4-BE49-F238E27FC236}">
                <a16:creationId xmlns:a16="http://schemas.microsoft.com/office/drawing/2014/main" id="{E462D397-F8A1-4D9C-AA77-3231ED80DC17}"/>
              </a:ext>
            </a:extLst>
          </p:cNvPr>
          <p:cNvSpPr>
            <a:spLocks xmlns:a="http://schemas.openxmlformats.org/drawingml/2006/main" noGrp="1"/>
          </p:cNvSpPr>
          <p:nvPr/>
        </p:nvSpPr>
        <p:spPr>
          <a:xfrm xmlns:a="http://schemas.openxmlformats.org/drawingml/2006/main" rot="0">
            <a:off x="5829300" y="3743325"/>
            <a:ext cx="2190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56" name="">
            <a:extLst xmlns:a="http://schemas.openxmlformats.org/drawingml/2006/main">
              <a:ext uri="{FF2B5EF4-FFF2-40B4-BE49-F238E27FC236}">
                <a16:creationId xmlns:a16="http://schemas.microsoft.com/office/drawing/2014/main" id="{0A02F18B-6EBE-445A-BF89-147DD7583820}"/>
              </a:ext>
            </a:extLst>
          </p:cNvPr>
          <p:cNvSpPr>
            <a:spLocks xmlns:a="http://schemas.openxmlformats.org/drawingml/2006/main" noGrp="1"/>
          </p:cNvSpPr>
          <p:nvPr/>
        </p:nvSpPr>
        <p:spPr>
          <a:xfrm xmlns:a="http://schemas.openxmlformats.org/drawingml/2006/main" rot="5400000">
            <a:off x="5953125" y="36576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57" name="">
            <a:extLst xmlns:a="http://schemas.openxmlformats.org/drawingml/2006/main">
              <a:ext uri="{FF2B5EF4-FFF2-40B4-BE49-F238E27FC236}">
                <a16:creationId xmlns:a16="http://schemas.microsoft.com/office/drawing/2014/main" id="{330A1D51-325A-4769-B05F-84BAED3F3353}"/>
              </a:ext>
            </a:extLst>
          </p:cNvPr>
          <p:cNvSpPr>
            <a:spLocks xmlns:a="http://schemas.openxmlformats.org/drawingml/2006/main" noGrp="1"/>
          </p:cNvSpPr>
          <p:nvPr/>
        </p:nvSpPr>
        <p:spPr>
          <a:xfrm xmlns:a="http://schemas.openxmlformats.org/drawingml/2006/main">
            <a:off x="60960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58" name="">
            <a:extLst xmlns:a="http://schemas.openxmlformats.org/drawingml/2006/main">
              <a:ext uri="{FF2B5EF4-FFF2-40B4-BE49-F238E27FC236}">
                <a16:creationId xmlns:a16="http://schemas.microsoft.com/office/drawing/2014/main" id="{F0138871-2E19-4E43-AA73-FE4A66920DCB}"/>
              </a:ext>
            </a:extLst>
          </p:cNvPr>
          <p:cNvSpPr>
            <a:spLocks xmlns:a="http://schemas.openxmlformats.org/drawingml/2006/main" noGrp="1"/>
          </p:cNvSpPr>
          <p:nvPr/>
        </p:nvSpPr>
        <p:spPr>
          <a:xfrm xmlns:a="http://schemas.openxmlformats.org/drawingml/2006/main">
            <a:off x="60960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9" name="">
            <a:extLst xmlns:a="http://schemas.openxmlformats.org/drawingml/2006/main">
              <a:ext uri="{FF2B5EF4-FFF2-40B4-BE49-F238E27FC236}">
                <a16:creationId xmlns:a16="http://schemas.microsoft.com/office/drawing/2014/main" id="{53EA9AE5-DAB1-4146-8BC1-45801D8DA322}"/>
              </a:ext>
            </a:extLst>
          </p:cNvPr>
          <p:cNvSpPr>
            <a:spLocks xmlns:a="http://schemas.openxmlformats.org/drawingml/2006/main" noGrp="1"/>
          </p:cNvSpPr>
          <p:nvPr/>
        </p:nvSpPr>
        <p:spPr>
          <a:xfrm xmlns:a="http://schemas.openxmlformats.org/drawingml/2006/main">
            <a:off x="6257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mesh</a:t>
            </a:r>
          </a:p>
        </p:txBody>
      </p:sp>
      <p:sp>
        <p:nvSpPr>
          <p:cNvPr id="60" name="">
            <a:extLst xmlns:a="http://schemas.openxmlformats.org/drawingml/2006/main">
              <a:ext uri="{FF2B5EF4-FFF2-40B4-BE49-F238E27FC236}">
                <a16:creationId xmlns:a16="http://schemas.microsoft.com/office/drawing/2014/main" id="{50F1E9DB-299C-4F72-921D-705013E84A7A}"/>
              </a:ext>
            </a:extLst>
          </p:cNvPr>
          <p:cNvSpPr>
            <a:spLocks xmlns:a="http://schemas.openxmlformats.org/drawingml/2006/main" noGrp="1"/>
          </p:cNvSpPr>
          <p:nvPr/>
        </p:nvSpPr>
        <p:spPr>
          <a:xfrm xmlns:a="http://schemas.openxmlformats.org/drawingml/2006/main" rot="0">
            <a:off x="7162800" y="3743325"/>
            <a:ext cx="2190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61" name="">
            <a:extLst xmlns:a="http://schemas.openxmlformats.org/drawingml/2006/main">
              <a:ext uri="{FF2B5EF4-FFF2-40B4-BE49-F238E27FC236}">
                <a16:creationId xmlns:a16="http://schemas.microsoft.com/office/drawing/2014/main" id="{62056B00-20E7-46AA-80CF-DF609D25E453}"/>
              </a:ext>
            </a:extLst>
          </p:cNvPr>
          <p:cNvSpPr>
            <a:spLocks xmlns:a="http://schemas.openxmlformats.org/drawingml/2006/main" noGrp="1"/>
          </p:cNvSpPr>
          <p:nvPr/>
        </p:nvSpPr>
        <p:spPr>
          <a:xfrm xmlns:a="http://schemas.openxmlformats.org/drawingml/2006/main" rot="5400000">
            <a:off x="7286625" y="36576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62" name="">
            <a:extLst xmlns:a="http://schemas.openxmlformats.org/drawingml/2006/main">
              <a:ext uri="{FF2B5EF4-FFF2-40B4-BE49-F238E27FC236}">
                <a16:creationId xmlns:a16="http://schemas.microsoft.com/office/drawing/2014/main" id="{FCF4E3E3-50CC-4B49-A70C-546B1A5B6096}"/>
              </a:ext>
            </a:extLst>
          </p:cNvPr>
          <p:cNvSpPr>
            <a:spLocks xmlns:a="http://schemas.openxmlformats.org/drawingml/2006/main" noGrp="1"/>
          </p:cNvSpPr>
          <p:nvPr/>
        </p:nvSpPr>
        <p:spPr>
          <a:xfrm xmlns:a="http://schemas.openxmlformats.org/drawingml/2006/main">
            <a:off x="74295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63" name="">
            <a:extLst xmlns:a="http://schemas.openxmlformats.org/drawingml/2006/main">
              <a:ext uri="{FF2B5EF4-FFF2-40B4-BE49-F238E27FC236}">
                <a16:creationId xmlns:a16="http://schemas.microsoft.com/office/drawing/2014/main" id="{5124B9C2-4FC2-48BD-A910-842CB6F11B99}"/>
              </a:ext>
            </a:extLst>
          </p:cNvPr>
          <p:cNvSpPr>
            <a:spLocks xmlns:a="http://schemas.openxmlformats.org/drawingml/2006/main" noGrp="1"/>
          </p:cNvSpPr>
          <p:nvPr/>
        </p:nvSpPr>
        <p:spPr>
          <a:xfrm xmlns:a="http://schemas.openxmlformats.org/drawingml/2006/main">
            <a:off x="74295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4" name="">
            <a:extLst xmlns:a="http://schemas.openxmlformats.org/drawingml/2006/main">
              <a:ext uri="{FF2B5EF4-FFF2-40B4-BE49-F238E27FC236}">
                <a16:creationId xmlns:a16="http://schemas.microsoft.com/office/drawing/2014/main" id="{8BB2A413-7226-455F-8EF3-69336AEF9B4A}"/>
              </a:ext>
            </a:extLst>
          </p:cNvPr>
          <p:cNvSpPr>
            <a:spLocks xmlns:a="http://schemas.openxmlformats.org/drawingml/2006/main" noGrp="1"/>
          </p:cNvSpPr>
          <p:nvPr/>
        </p:nvSpPr>
        <p:spPr>
          <a:xfrm xmlns:a="http://schemas.openxmlformats.org/drawingml/2006/main">
            <a:off x="7591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tokens</a:t>
            </a:r>
          </a:p>
        </p:txBody>
      </p:sp>
      <p:sp>
        <p:nvSpPr>
          <p:cNvPr id="65" name="">
            <a:extLst xmlns:a="http://schemas.openxmlformats.org/drawingml/2006/main">
              <a:ext uri="{FF2B5EF4-FFF2-40B4-BE49-F238E27FC236}">
                <a16:creationId xmlns:a16="http://schemas.microsoft.com/office/drawing/2014/main" id="{28DA4C9A-0A10-4AAA-BF53-4006859F353E}"/>
              </a:ext>
            </a:extLst>
          </p:cNvPr>
          <p:cNvSpPr>
            <a:spLocks xmlns:a="http://schemas.openxmlformats.org/drawingml/2006/main" noGrp="1"/>
          </p:cNvSpPr>
          <p:nvPr/>
        </p:nvSpPr>
        <p:spPr>
          <a:xfrm xmlns:a="http://schemas.openxmlformats.org/drawingml/2006/main" rot="0">
            <a:off x="8496300" y="3743325"/>
            <a:ext cx="2190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66" name="">
            <a:extLst xmlns:a="http://schemas.openxmlformats.org/drawingml/2006/main">
              <a:ext uri="{FF2B5EF4-FFF2-40B4-BE49-F238E27FC236}">
                <a16:creationId xmlns:a16="http://schemas.microsoft.com/office/drawing/2014/main" id="{E7741F73-FB87-405F-BBE5-885A8E3616E9}"/>
              </a:ext>
            </a:extLst>
          </p:cNvPr>
          <p:cNvSpPr>
            <a:spLocks xmlns:a="http://schemas.openxmlformats.org/drawingml/2006/main" noGrp="1"/>
          </p:cNvSpPr>
          <p:nvPr/>
        </p:nvSpPr>
        <p:spPr>
          <a:xfrm xmlns:a="http://schemas.openxmlformats.org/drawingml/2006/main" rot="5400000">
            <a:off x="8620125" y="36576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67" name="">
            <a:extLst xmlns:a="http://schemas.openxmlformats.org/drawingml/2006/main">
              <a:ext uri="{FF2B5EF4-FFF2-40B4-BE49-F238E27FC236}">
                <a16:creationId xmlns:a16="http://schemas.microsoft.com/office/drawing/2014/main" id="{6C4DF85A-4646-46E3-9343-C4ACA7D30353}"/>
              </a:ext>
            </a:extLst>
          </p:cNvPr>
          <p:cNvSpPr>
            <a:spLocks xmlns:a="http://schemas.openxmlformats.org/drawingml/2006/main" noGrp="1"/>
          </p:cNvSpPr>
          <p:nvPr/>
        </p:nvSpPr>
        <p:spPr>
          <a:xfrm xmlns:a="http://schemas.openxmlformats.org/drawingml/2006/main">
            <a:off x="87630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68" name="">
            <a:extLst xmlns:a="http://schemas.openxmlformats.org/drawingml/2006/main">
              <a:ext uri="{FF2B5EF4-FFF2-40B4-BE49-F238E27FC236}">
                <a16:creationId xmlns:a16="http://schemas.microsoft.com/office/drawing/2014/main" id="{1F90F64F-1F8C-46B3-90F6-5262B5CF79D2}"/>
              </a:ext>
            </a:extLst>
          </p:cNvPr>
          <p:cNvSpPr>
            <a:spLocks xmlns:a="http://schemas.openxmlformats.org/drawingml/2006/main" noGrp="1"/>
          </p:cNvSpPr>
          <p:nvPr/>
        </p:nvSpPr>
        <p:spPr>
          <a:xfrm xmlns:a="http://schemas.openxmlformats.org/drawingml/2006/main">
            <a:off x="87630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9" name="">
            <a:extLst xmlns:a="http://schemas.openxmlformats.org/drawingml/2006/main">
              <a:ext uri="{FF2B5EF4-FFF2-40B4-BE49-F238E27FC236}">
                <a16:creationId xmlns:a16="http://schemas.microsoft.com/office/drawing/2014/main" id="{DA25B378-7886-44B2-B0D7-72B122BC0EFB}"/>
              </a:ext>
            </a:extLst>
          </p:cNvPr>
          <p:cNvSpPr>
            <a:spLocks xmlns:a="http://schemas.openxmlformats.org/drawingml/2006/main" noGrp="1"/>
          </p:cNvSpPr>
          <p:nvPr/>
        </p:nvSpPr>
        <p:spPr>
          <a:xfrm xmlns:a="http://schemas.openxmlformats.org/drawingml/2006/main">
            <a:off x="8924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CI / source</a:t>
            </a:r>
          </a:p>
        </p:txBody>
      </p:sp>
      <p:sp>
        <p:nvSpPr>
          <p:cNvPr id="70" name="">
            <a:extLst xmlns:a="http://schemas.openxmlformats.org/drawingml/2006/main">
              <a:ext uri="{FF2B5EF4-FFF2-40B4-BE49-F238E27FC236}">
                <a16:creationId xmlns:a16="http://schemas.microsoft.com/office/drawing/2014/main" id="{B21BB00B-FA4E-4233-A857-872DD192AC91}"/>
              </a:ext>
            </a:extLst>
          </p:cNvPr>
          <p:cNvSpPr>
            <a:spLocks xmlns:a="http://schemas.openxmlformats.org/drawingml/2006/main" noGrp="1"/>
          </p:cNvSpPr>
          <p:nvPr/>
        </p:nvSpPr>
        <p:spPr>
          <a:xfrm xmlns:a="http://schemas.openxmlformats.org/drawingml/2006/main">
            <a:off x="1714500" y="4810125"/>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100" b="1">
                <a:solidFill>
                  <a:srgbClr val="081426"/>
                </a:solidFill>
              </a:defRPr>
            </a:pPr>
            <a:r>
              <a:rPr sz="2100" b="1">
                <a:solidFill>
                  <a:srgbClr val="081426"/>
                </a:solidFill>
              </a:rPr>
              <a:t>Each valid step inherited reach from the previous one.</a:t>
            </a:r>
          </a:p>
        </p:txBody>
      </p:sp>
    </p:spTree>
    <p:extLst>
      <p:ext uri="{BB962C8B-B14F-4D97-AF65-F5344CB8AC3E}">
        <p14:creationId xmlns:p14="http://schemas.microsoft.com/office/powerpoint/2010/main" val="368890739"/>
      </p:ext>
    </p:extLst>
  </p:cSld>
</p:sld>
</file>

<file path=ppt/slides/slide1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F7EA28BB-C8AF-4239-905E-9378BC42EDF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98FB3CC6-292B-44CD-905B-E4DD7ECACD94}"/>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DBE038CA-E515-4F4F-BD98-3B085E6F2515}"/>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498A4F43-073D-4EE8-9AEB-39929D510A05}"/>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C66178F7-0099-4F39-BDCE-7A5BB9A369ED}"/>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C672FFB6-7C2D-47A5-B31D-6B2A4F751B62}"/>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8F17B749-3BDF-4A48-B093-D3C95AD4065A}"/>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0875334D-4DB2-4656-BE14-778F0EBDBC65}"/>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7DA91166-C772-44BD-BE2E-ECBC70A446FF}"/>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799659A0-4CEE-468C-8AAE-3C470668F372}"/>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36304CDE-6E40-4F47-8237-D26C033D9822}"/>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0C62F324-9489-4E1B-ACD4-BB516BA46F6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92B099B2-5289-4521-9627-1E6B24E9C5FD}"/>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4A003812-C166-404F-96B4-5AB183350C6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6900A688-DF92-4AF2-B0CF-DE5590D5CC00}"/>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3768E748-28BC-47ED-B955-C40E4E7018D8}"/>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9341373E-669C-45B9-91ED-5E372DF97922}"/>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6725DCCA-3ADB-407E-AFFB-BF0AA8C2FAE5}"/>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95EBDC8F-6636-4C7B-8F8B-6167994A485F}"/>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37BCF989-1A20-4058-8327-9DFC5D2C1D89}"/>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E0C3BD45-AF68-43F0-B5EC-3E555DF83E85}"/>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79D3D24F-2CED-4FD2-AADD-B3664D7F535B}"/>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3F1D1B28-9820-47F5-A62D-9CD21D146F53}"/>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276089FD-6394-4290-A11B-172EF3082E96}"/>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76399A28-C7AD-42C9-A25D-B6183504252D}"/>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74DB62F3-ACD4-40FB-8FB8-A7BACD3BF977}"/>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57AF0639-E02C-4344-AE36-06B337755C3E}"/>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ECEDB561-EEDA-4093-9E9F-C3C5D4CB64F2}"/>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18202E4C-866B-4646-8DB5-07B434FB28DF}"/>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90B4F200-3830-4F81-AB4A-AED5F4DD1B2B}"/>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7075ACE2-F34E-4C47-9C64-EA07F8309ADF}"/>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A004F8F1-12BF-47EF-8452-49D0DFF8CC7F}"/>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DAC06296-1721-4778-9D21-118F660D56F1}"/>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Dependency-aware reachability reveals the leverage of one early cutoff</a:t>
            </a:r>
          </a:p>
        </p:txBody>
      </p:sp>
      <p:sp>
        <p:nvSpPr>
          <p:cNvPr id="34" name="">
            <a:extLst xmlns:a="http://schemas.openxmlformats.org/drawingml/2006/main">
              <a:ext uri="{FF2B5EF4-FFF2-40B4-BE49-F238E27FC236}">
                <a16:creationId xmlns:a16="http://schemas.microsoft.com/office/drawing/2014/main" id="{8438E6F3-11DE-4089-937B-610A8248544A}"/>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4A</a:t>
            </a:r>
          </a:p>
        </p:txBody>
      </p:sp>
      <p:sp>
        <p:nvSpPr>
          <p:cNvPr id="35" name="">
            <a:extLst xmlns:a="http://schemas.openxmlformats.org/drawingml/2006/main">
              <a:ext uri="{FF2B5EF4-FFF2-40B4-BE49-F238E27FC236}">
                <a16:creationId xmlns:a16="http://schemas.microsoft.com/office/drawing/2014/main" id="{0F3D5A69-94EC-4E1A-A999-024D10120F0A}"/>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5702DBA3-B2E8-4A96-B3BA-882EA6EAC856}"/>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E58DA323-603F-45A6-A13C-359894A3B0FB}"/>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MODELED REACHABILITY</a:t>
            </a:r>
          </a:p>
        </p:txBody>
      </p:sp>
      <p:sp>
        <p:nvSpPr>
          <p:cNvPr id="38" name="">
            <a:extLst xmlns:a="http://schemas.openxmlformats.org/drawingml/2006/main">
              <a:ext uri="{FF2B5EF4-FFF2-40B4-BE49-F238E27FC236}">
                <a16:creationId xmlns:a16="http://schemas.microsoft.com/office/drawing/2014/main" id="{A2A7F28E-F4DB-4EAF-907A-018033EC31C5}"/>
              </a:ext>
            </a:extLst>
          </p:cNvPr>
          <p:cNvSpPr>
            <a:spLocks xmlns:a="http://schemas.openxmlformats.org/drawingml/2006/main" noGrp="1"/>
          </p:cNvSpPr>
          <p:nvPr/>
        </p:nvSpPr>
        <p:spPr>
          <a:xfrm xmlns:a="http://schemas.openxmlformats.org/drawingml/2006/main">
            <a:off x="762000" y="3429000"/>
            <a:ext cx="1066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37465B"/>
            </a:solidFill>
          </a:ln>
        </p:spPr>
      </p:sp>
      <p:sp>
        <p:nvSpPr>
          <p:cNvPr id="39" name="">
            <a:extLst xmlns:a="http://schemas.openxmlformats.org/drawingml/2006/main">
              <a:ext uri="{FF2B5EF4-FFF2-40B4-BE49-F238E27FC236}">
                <a16:creationId xmlns:a16="http://schemas.microsoft.com/office/drawing/2014/main" id="{EFA1A755-B3DE-4FEA-A05A-DD3FA947F98F}"/>
              </a:ext>
            </a:extLst>
          </p:cNvPr>
          <p:cNvSpPr>
            <a:spLocks xmlns:a="http://schemas.openxmlformats.org/drawingml/2006/main" noGrp="1"/>
          </p:cNvSpPr>
          <p:nvPr/>
        </p:nvSpPr>
        <p:spPr>
          <a:xfrm xmlns:a="http://schemas.openxmlformats.org/drawingml/2006/main">
            <a:off x="762000" y="3429000"/>
            <a:ext cx="66675" cy="62865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0" name="">
            <a:extLst xmlns:a="http://schemas.openxmlformats.org/drawingml/2006/main">
              <a:ext uri="{FF2B5EF4-FFF2-40B4-BE49-F238E27FC236}">
                <a16:creationId xmlns:a16="http://schemas.microsoft.com/office/drawing/2014/main" id="{9CA6D321-D302-4E5D-8A6D-D41939794ECC}"/>
              </a:ext>
            </a:extLst>
          </p:cNvPr>
          <p:cNvSpPr>
            <a:spLocks xmlns:a="http://schemas.openxmlformats.org/drawingml/2006/main" noGrp="1"/>
          </p:cNvSpPr>
          <p:nvPr/>
        </p:nvSpPr>
        <p:spPr>
          <a:xfrm xmlns:a="http://schemas.openxmlformats.org/drawingml/2006/main">
            <a:off x="923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worker</a:t>
            </a:r>
          </a:p>
        </p:txBody>
      </p:sp>
      <p:sp>
        <p:nvSpPr>
          <p:cNvPr id="41" name="">
            <a:extLst xmlns:a="http://schemas.openxmlformats.org/drawingml/2006/main">
              <a:ext uri="{FF2B5EF4-FFF2-40B4-BE49-F238E27FC236}">
                <a16:creationId xmlns:a16="http://schemas.microsoft.com/office/drawing/2014/main" id="{1617D8D0-D504-4135-95AC-EE802E152137}"/>
              </a:ext>
            </a:extLst>
          </p:cNvPr>
          <p:cNvSpPr>
            <a:spLocks xmlns:a="http://schemas.openxmlformats.org/drawingml/2006/main" noGrp="1"/>
          </p:cNvSpPr>
          <p:nvPr/>
        </p:nvSpPr>
        <p:spPr>
          <a:xfrm xmlns:a="http://schemas.openxmlformats.org/drawingml/2006/main" rot="0">
            <a:off x="18288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42" name="">
            <a:extLst xmlns:a="http://schemas.openxmlformats.org/drawingml/2006/main">
              <a:ext uri="{FF2B5EF4-FFF2-40B4-BE49-F238E27FC236}">
                <a16:creationId xmlns:a16="http://schemas.microsoft.com/office/drawing/2014/main" id="{B2B9D664-734F-496B-A555-9BD2C22D4A69}"/>
              </a:ext>
            </a:extLst>
          </p:cNvPr>
          <p:cNvSpPr>
            <a:spLocks xmlns:a="http://schemas.openxmlformats.org/drawingml/2006/main" noGrp="1"/>
          </p:cNvSpPr>
          <p:nvPr/>
        </p:nvSpPr>
        <p:spPr>
          <a:xfrm xmlns:a="http://schemas.openxmlformats.org/drawingml/2006/main" rot="5400000">
            <a:off x="19526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43" name="">
            <a:extLst xmlns:a="http://schemas.openxmlformats.org/drawingml/2006/main">
              <a:ext uri="{FF2B5EF4-FFF2-40B4-BE49-F238E27FC236}">
                <a16:creationId xmlns:a16="http://schemas.microsoft.com/office/drawing/2014/main" id="{6EA44B95-9605-41A2-8C20-DBD87C4D4C10}"/>
              </a:ext>
            </a:extLst>
          </p:cNvPr>
          <p:cNvSpPr>
            <a:spLocks xmlns:a="http://schemas.openxmlformats.org/drawingml/2006/main" noGrp="1"/>
          </p:cNvSpPr>
          <p:nvPr/>
        </p:nvSpPr>
        <p:spPr>
          <a:xfrm xmlns:a="http://schemas.openxmlformats.org/drawingml/2006/main">
            <a:off x="20955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44" name="">
            <a:extLst xmlns:a="http://schemas.openxmlformats.org/drawingml/2006/main">
              <a:ext uri="{FF2B5EF4-FFF2-40B4-BE49-F238E27FC236}">
                <a16:creationId xmlns:a16="http://schemas.microsoft.com/office/drawing/2014/main" id="{A68CC884-1072-4AA6-9E84-27303445079E}"/>
              </a:ext>
            </a:extLst>
          </p:cNvPr>
          <p:cNvSpPr>
            <a:spLocks xmlns:a="http://schemas.openxmlformats.org/drawingml/2006/main" noGrp="1"/>
          </p:cNvSpPr>
          <p:nvPr/>
        </p:nvSpPr>
        <p:spPr>
          <a:xfrm xmlns:a="http://schemas.openxmlformats.org/drawingml/2006/main">
            <a:off x="20955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45" name="">
            <a:extLst xmlns:a="http://schemas.openxmlformats.org/drawingml/2006/main">
              <a:ext uri="{FF2B5EF4-FFF2-40B4-BE49-F238E27FC236}">
                <a16:creationId xmlns:a16="http://schemas.microsoft.com/office/drawing/2014/main" id="{5BDF446B-9114-4007-8CEE-61F40A3C0298}"/>
              </a:ext>
            </a:extLst>
          </p:cNvPr>
          <p:cNvSpPr>
            <a:spLocks xmlns:a="http://schemas.openxmlformats.org/drawingml/2006/main" noGrp="1"/>
          </p:cNvSpPr>
          <p:nvPr/>
        </p:nvSpPr>
        <p:spPr>
          <a:xfrm xmlns:a="http://schemas.openxmlformats.org/drawingml/2006/main">
            <a:off x="2257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cluster API</a:t>
            </a:r>
          </a:p>
        </p:txBody>
      </p:sp>
      <p:sp>
        <p:nvSpPr>
          <p:cNvPr id="46" name="">
            <a:extLst xmlns:a="http://schemas.openxmlformats.org/drawingml/2006/main">
              <a:ext uri="{FF2B5EF4-FFF2-40B4-BE49-F238E27FC236}">
                <a16:creationId xmlns:a16="http://schemas.microsoft.com/office/drawing/2014/main" id="{CB08073A-1BA2-49B4-A7ED-57EE8957407D}"/>
              </a:ext>
            </a:extLst>
          </p:cNvPr>
          <p:cNvSpPr>
            <a:spLocks xmlns:a="http://schemas.openxmlformats.org/drawingml/2006/main" noGrp="1"/>
          </p:cNvSpPr>
          <p:nvPr/>
        </p:nvSpPr>
        <p:spPr>
          <a:xfrm xmlns:a="http://schemas.openxmlformats.org/drawingml/2006/main" rot="0">
            <a:off x="31623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47" name="">
            <a:extLst xmlns:a="http://schemas.openxmlformats.org/drawingml/2006/main">
              <a:ext uri="{FF2B5EF4-FFF2-40B4-BE49-F238E27FC236}">
                <a16:creationId xmlns:a16="http://schemas.microsoft.com/office/drawing/2014/main" id="{73184635-3E51-4F3D-B50D-82192CF4D1E6}"/>
              </a:ext>
            </a:extLst>
          </p:cNvPr>
          <p:cNvSpPr>
            <a:spLocks xmlns:a="http://schemas.openxmlformats.org/drawingml/2006/main" noGrp="1"/>
          </p:cNvSpPr>
          <p:nvPr/>
        </p:nvSpPr>
        <p:spPr>
          <a:xfrm xmlns:a="http://schemas.openxmlformats.org/drawingml/2006/main" rot="5400000">
            <a:off x="32861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48" name="">
            <a:extLst xmlns:a="http://schemas.openxmlformats.org/drawingml/2006/main">
              <a:ext uri="{FF2B5EF4-FFF2-40B4-BE49-F238E27FC236}">
                <a16:creationId xmlns:a16="http://schemas.microsoft.com/office/drawing/2014/main" id="{50B01200-3C16-42B4-904E-CEE919542146}"/>
              </a:ext>
            </a:extLst>
          </p:cNvPr>
          <p:cNvSpPr>
            <a:spLocks xmlns:a="http://schemas.openxmlformats.org/drawingml/2006/main" noGrp="1"/>
          </p:cNvSpPr>
          <p:nvPr/>
        </p:nvSpPr>
        <p:spPr>
          <a:xfrm xmlns:a="http://schemas.openxmlformats.org/drawingml/2006/main">
            <a:off x="34290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49" name="">
            <a:extLst xmlns:a="http://schemas.openxmlformats.org/drawingml/2006/main">
              <a:ext uri="{FF2B5EF4-FFF2-40B4-BE49-F238E27FC236}">
                <a16:creationId xmlns:a16="http://schemas.microsoft.com/office/drawing/2014/main" id="{FE120C1C-29FD-4F4E-A23F-32532F29208F}"/>
              </a:ext>
            </a:extLst>
          </p:cNvPr>
          <p:cNvSpPr>
            <a:spLocks xmlns:a="http://schemas.openxmlformats.org/drawingml/2006/main" noGrp="1"/>
          </p:cNvSpPr>
          <p:nvPr/>
        </p:nvSpPr>
        <p:spPr>
          <a:xfrm xmlns:a="http://schemas.openxmlformats.org/drawingml/2006/main">
            <a:off x="34290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0" name="">
            <a:extLst xmlns:a="http://schemas.openxmlformats.org/drawingml/2006/main">
              <a:ext uri="{FF2B5EF4-FFF2-40B4-BE49-F238E27FC236}">
                <a16:creationId xmlns:a16="http://schemas.microsoft.com/office/drawing/2014/main" id="{E10B9FB1-CB4B-457E-9038-2E468C239D04}"/>
              </a:ext>
            </a:extLst>
          </p:cNvPr>
          <p:cNvSpPr>
            <a:spLocks xmlns:a="http://schemas.openxmlformats.org/drawingml/2006/main" noGrp="1"/>
          </p:cNvSpPr>
          <p:nvPr/>
        </p:nvSpPr>
        <p:spPr>
          <a:xfrm xmlns:a="http://schemas.openxmlformats.org/drawingml/2006/main">
            <a:off x="3590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node</a:t>
            </a:r>
          </a:p>
        </p:txBody>
      </p:sp>
      <p:sp>
        <p:nvSpPr>
          <p:cNvPr id="51" name="">
            <a:extLst xmlns:a="http://schemas.openxmlformats.org/drawingml/2006/main">
              <a:ext uri="{FF2B5EF4-FFF2-40B4-BE49-F238E27FC236}">
                <a16:creationId xmlns:a16="http://schemas.microsoft.com/office/drawing/2014/main" id="{F5110D8D-F8AD-4D90-BB23-04BF320BE74B}"/>
              </a:ext>
            </a:extLst>
          </p:cNvPr>
          <p:cNvSpPr>
            <a:spLocks xmlns:a="http://schemas.openxmlformats.org/drawingml/2006/main" noGrp="1"/>
          </p:cNvSpPr>
          <p:nvPr/>
        </p:nvSpPr>
        <p:spPr>
          <a:xfrm xmlns:a="http://schemas.openxmlformats.org/drawingml/2006/main" rot="0">
            <a:off x="44958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2" name="">
            <a:extLst xmlns:a="http://schemas.openxmlformats.org/drawingml/2006/main">
              <a:ext uri="{FF2B5EF4-FFF2-40B4-BE49-F238E27FC236}">
                <a16:creationId xmlns:a16="http://schemas.microsoft.com/office/drawing/2014/main" id="{B9E38595-7935-4B67-A712-9FA272E2D6CD}"/>
              </a:ext>
            </a:extLst>
          </p:cNvPr>
          <p:cNvSpPr>
            <a:spLocks xmlns:a="http://schemas.openxmlformats.org/drawingml/2006/main" noGrp="1"/>
          </p:cNvSpPr>
          <p:nvPr/>
        </p:nvSpPr>
        <p:spPr>
          <a:xfrm xmlns:a="http://schemas.openxmlformats.org/drawingml/2006/main" rot="5400000">
            <a:off x="46196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53" name="">
            <a:extLst xmlns:a="http://schemas.openxmlformats.org/drawingml/2006/main">
              <a:ext uri="{FF2B5EF4-FFF2-40B4-BE49-F238E27FC236}">
                <a16:creationId xmlns:a16="http://schemas.microsoft.com/office/drawing/2014/main" id="{0B9ADEC6-4EEF-42BE-9BEE-57D249948E45}"/>
              </a:ext>
            </a:extLst>
          </p:cNvPr>
          <p:cNvSpPr>
            <a:spLocks xmlns:a="http://schemas.openxmlformats.org/drawingml/2006/main" noGrp="1"/>
          </p:cNvSpPr>
          <p:nvPr/>
        </p:nvSpPr>
        <p:spPr>
          <a:xfrm xmlns:a="http://schemas.openxmlformats.org/drawingml/2006/main">
            <a:off x="47625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54" name="">
            <a:extLst xmlns:a="http://schemas.openxmlformats.org/drawingml/2006/main">
              <a:ext uri="{FF2B5EF4-FFF2-40B4-BE49-F238E27FC236}">
                <a16:creationId xmlns:a16="http://schemas.microsoft.com/office/drawing/2014/main" id="{AB465844-7955-4BCE-9954-ED00A9D45CB8}"/>
              </a:ext>
            </a:extLst>
          </p:cNvPr>
          <p:cNvSpPr>
            <a:spLocks xmlns:a="http://schemas.openxmlformats.org/drawingml/2006/main" noGrp="1"/>
          </p:cNvSpPr>
          <p:nvPr/>
        </p:nvSpPr>
        <p:spPr>
          <a:xfrm xmlns:a="http://schemas.openxmlformats.org/drawingml/2006/main">
            <a:off x="47625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5" name="">
            <a:extLst xmlns:a="http://schemas.openxmlformats.org/drawingml/2006/main">
              <a:ext uri="{FF2B5EF4-FFF2-40B4-BE49-F238E27FC236}">
                <a16:creationId xmlns:a16="http://schemas.microsoft.com/office/drawing/2014/main" id="{CB85D20F-17FD-48CD-B9AA-70F77140418A}"/>
              </a:ext>
            </a:extLst>
          </p:cNvPr>
          <p:cNvSpPr>
            <a:spLocks xmlns:a="http://schemas.openxmlformats.org/drawingml/2006/main" noGrp="1"/>
          </p:cNvSpPr>
          <p:nvPr/>
        </p:nvSpPr>
        <p:spPr>
          <a:xfrm xmlns:a="http://schemas.openxmlformats.org/drawingml/2006/main">
            <a:off x="4924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secrets</a:t>
            </a:r>
          </a:p>
        </p:txBody>
      </p:sp>
      <p:sp>
        <p:nvSpPr>
          <p:cNvPr id="56" name="">
            <a:extLst xmlns:a="http://schemas.openxmlformats.org/drawingml/2006/main">
              <a:ext uri="{FF2B5EF4-FFF2-40B4-BE49-F238E27FC236}">
                <a16:creationId xmlns:a16="http://schemas.microsoft.com/office/drawing/2014/main" id="{D16323DB-4B8B-476C-BD27-8DD810073775}"/>
              </a:ext>
            </a:extLst>
          </p:cNvPr>
          <p:cNvSpPr>
            <a:spLocks xmlns:a="http://schemas.openxmlformats.org/drawingml/2006/main" noGrp="1"/>
          </p:cNvSpPr>
          <p:nvPr/>
        </p:nvSpPr>
        <p:spPr>
          <a:xfrm xmlns:a="http://schemas.openxmlformats.org/drawingml/2006/main" rot="0">
            <a:off x="58293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57" name="">
            <a:extLst xmlns:a="http://schemas.openxmlformats.org/drawingml/2006/main">
              <a:ext uri="{FF2B5EF4-FFF2-40B4-BE49-F238E27FC236}">
                <a16:creationId xmlns:a16="http://schemas.microsoft.com/office/drawing/2014/main" id="{7C7CCF77-D755-49DA-8C3C-4377901E7914}"/>
              </a:ext>
            </a:extLst>
          </p:cNvPr>
          <p:cNvSpPr>
            <a:spLocks xmlns:a="http://schemas.openxmlformats.org/drawingml/2006/main" noGrp="1"/>
          </p:cNvSpPr>
          <p:nvPr/>
        </p:nvSpPr>
        <p:spPr>
          <a:xfrm xmlns:a="http://schemas.openxmlformats.org/drawingml/2006/main" rot="5400000">
            <a:off x="59531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58" name="">
            <a:extLst xmlns:a="http://schemas.openxmlformats.org/drawingml/2006/main">
              <a:ext uri="{FF2B5EF4-FFF2-40B4-BE49-F238E27FC236}">
                <a16:creationId xmlns:a16="http://schemas.microsoft.com/office/drawing/2014/main" id="{B032037D-3352-4D05-B40C-10FDCA84447B}"/>
              </a:ext>
            </a:extLst>
          </p:cNvPr>
          <p:cNvSpPr>
            <a:spLocks xmlns:a="http://schemas.openxmlformats.org/drawingml/2006/main" noGrp="1"/>
          </p:cNvSpPr>
          <p:nvPr/>
        </p:nvSpPr>
        <p:spPr>
          <a:xfrm xmlns:a="http://schemas.openxmlformats.org/drawingml/2006/main">
            <a:off x="60960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59" name="">
            <a:extLst xmlns:a="http://schemas.openxmlformats.org/drawingml/2006/main">
              <a:ext uri="{FF2B5EF4-FFF2-40B4-BE49-F238E27FC236}">
                <a16:creationId xmlns:a16="http://schemas.microsoft.com/office/drawing/2014/main" id="{455DB489-1167-463C-B976-A0867CC04E70}"/>
              </a:ext>
            </a:extLst>
          </p:cNvPr>
          <p:cNvSpPr>
            <a:spLocks xmlns:a="http://schemas.openxmlformats.org/drawingml/2006/main" noGrp="1"/>
          </p:cNvSpPr>
          <p:nvPr/>
        </p:nvSpPr>
        <p:spPr>
          <a:xfrm xmlns:a="http://schemas.openxmlformats.org/drawingml/2006/main">
            <a:off x="60960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0" name="">
            <a:extLst xmlns:a="http://schemas.openxmlformats.org/drawingml/2006/main">
              <a:ext uri="{FF2B5EF4-FFF2-40B4-BE49-F238E27FC236}">
                <a16:creationId xmlns:a16="http://schemas.microsoft.com/office/drawing/2014/main" id="{0AF4EEEB-B2C2-494B-A7C5-BA2B719A656B}"/>
              </a:ext>
            </a:extLst>
          </p:cNvPr>
          <p:cNvSpPr>
            <a:spLocks xmlns:a="http://schemas.openxmlformats.org/drawingml/2006/main" noGrp="1"/>
          </p:cNvSpPr>
          <p:nvPr/>
        </p:nvSpPr>
        <p:spPr>
          <a:xfrm xmlns:a="http://schemas.openxmlformats.org/drawingml/2006/main">
            <a:off x="6257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mesh</a:t>
            </a:r>
          </a:p>
        </p:txBody>
      </p:sp>
      <p:sp>
        <p:nvSpPr>
          <p:cNvPr id="61" name="">
            <a:extLst xmlns:a="http://schemas.openxmlformats.org/drawingml/2006/main">
              <a:ext uri="{FF2B5EF4-FFF2-40B4-BE49-F238E27FC236}">
                <a16:creationId xmlns:a16="http://schemas.microsoft.com/office/drawing/2014/main" id="{2A24626F-EDC0-4151-9593-A60B0E14D56B}"/>
              </a:ext>
            </a:extLst>
          </p:cNvPr>
          <p:cNvSpPr>
            <a:spLocks xmlns:a="http://schemas.openxmlformats.org/drawingml/2006/main" noGrp="1"/>
          </p:cNvSpPr>
          <p:nvPr/>
        </p:nvSpPr>
        <p:spPr>
          <a:xfrm xmlns:a="http://schemas.openxmlformats.org/drawingml/2006/main" rot="0">
            <a:off x="71628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2" name="">
            <a:extLst xmlns:a="http://schemas.openxmlformats.org/drawingml/2006/main">
              <a:ext uri="{FF2B5EF4-FFF2-40B4-BE49-F238E27FC236}">
                <a16:creationId xmlns:a16="http://schemas.microsoft.com/office/drawing/2014/main" id="{E61CDEF4-4729-4B07-9C6D-800607D79ED3}"/>
              </a:ext>
            </a:extLst>
          </p:cNvPr>
          <p:cNvSpPr>
            <a:spLocks xmlns:a="http://schemas.openxmlformats.org/drawingml/2006/main" noGrp="1"/>
          </p:cNvSpPr>
          <p:nvPr/>
        </p:nvSpPr>
        <p:spPr>
          <a:xfrm xmlns:a="http://schemas.openxmlformats.org/drawingml/2006/main" rot="5400000">
            <a:off x="72866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63" name="">
            <a:extLst xmlns:a="http://schemas.openxmlformats.org/drawingml/2006/main">
              <a:ext uri="{FF2B5EF4-FFF2-40B4-BE49-F238E27FC236}">
                <a16:creationId xmlns:a16="http://schemas.microsoft.com/office/drawing/2014/main" id="{899877BA-3220-4019-A1D1-2E7998C275CD}"/>
              </a:ext>
            </a:extLst>
          </p:cNvPr>
          <p:cNvSpPr>
            <a:spLocks xmlns:a="http://schemas.openxmlformats.org/drawingml/2006/main" noGrp="1"/>
          </p:cNvSpPr>
          <p:nvPr/>
        </p:nvSpPr>
        <p:spPr>
          <a:xfrm xmlns:a="http://schemas.openxmlformats.org/drawingml/2006/main">
            <a:off x="74295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64" name="">
            <a:extLst xmlns:a="http://schemas.openxmlformats.org/drawingml/2006/main">
              <a:ext uri="{FF2B5EF4-FFF2-40B4-BE49-F238E27FC236}">
                <a16:creationId xmlns:a16="http://schemas.microsoft.com/office/drawing/2014/main" id="{7C8E1CFF-70A4-4ED8-8658-8BBFDF3B1B11}"/>
              </a:ext>
            </a:extLst>
          </p:cNvPr>
          <p:cNvSpPr>
            <a:spLocks xmlns:a="http://schemas.openxmlformats.org/drawingml/2006/main" noGrp="1"/>
          </p:cNvSpPr>
          <p:nvPr/>
        </p:nvSpPr>
        <p:spPr>
          <a:xfrm xmlns:a="http://schemas.openxmlformats.org/drawingml/2006/main">
            <a:off x="74295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5" name="">
            <a:extLst xmlns:a="http://schemas.openxmlformats.org/drawingml/2006/main">
              <a:ext uri="{FF2B5EF4-FFF2-40B4-BE49-F238E27FC236}">
                <a16:creationId xmlns:a16="http://schemas.microsoft.com/office/drawing/2014/main" id="{818EB542-C687-4B6E-B577-8CB085F88087}"/>
              </a:ext>
            </a:extLst>
          </p:cNvPr>
          <p:cNvSpPr>
            <a:spLocks xmlns:a="http://schemas.openxmlformats.org/drawingml/2006/main" noGrp="1"/>
          </p:cNvSpPr>
          <p:nvPr/>
        </p:nvSpPr>
        <p:spPr>
          <a:xfrm xmlns:a="http://schemas.openxmlformats.org/drawingml/2006/main">
            <a:off x="75914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tokens</a:t>
            </a:r>
          </a:p>
        </p:txBody>
      </p:sp>
      <p:sp>
        <p:nvSpPr>
          <p:cNvPr id="66" name="">
            <a:extLst xmlns:a="http://schemas.openxmlformats.org/drawingml/2006/main">
              <a:ext uri="{FF2B5EF4-FFF2-40B4-BE49-F238E27FC236}">
                <a16:creationId xmlns:a16="http://schemas.microsoft.com/office/drawing/2014/main" id="{8D376B00-F9A1-47E4-9ED4-39A131409DB6}"/>
              </a:ext>
            </a:extLst>
          </p:cNvPr>
          <p:cNvSpPr>
            <a:spLocks xmlns:a="http://schemas.openxmlformats.org/drawingml/2006/main" noGrp="1"/>
          </p:cNvSpPr>
          <p:nvPr/>
        </p:nvSpPr>
        <p:spPr>
          <a:xfrm xmlns:a="http://schemas.openxmlformats.org/drawingml/2006/main" rot="0">
            <a:off x="8496300" y="3743325"/>
            <a:ext cx="219075" cy="47625"/>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67" name="">
            <a:extLst xmlns:a="http://schemas.openxmlformats.org/drawingml/2006/main">
              <a:ext uri="{FF2B5EF4-FFF2-40B4-BE49-F238E27FC236}">
                <a16:creationId xmlns:a16="http://schemas.microsoft.com/office/drawing/2014/main" id="{53EB03F5-564B-4543-B3CE-7A95B24C39A1}"/>
              </a:ext>
            </a:extLst>
          </p:cNvPr>
          <p:cNvSpPr>
            <a:spLocks xmlns:a="http://schemas.openxmlformats.org/drawingml/2006/main" noGrp="1"/>
          </p:cNvSpPr>
          <p:nvPr/>
        </p:nvSpPr>
        <p:spPr>
          <a:xfrm xmlns:a="http://schemas.openxmlformats.org/drawingml/2006/main" rot="5400000">
            <a:off x="8620125" y="3657600"/>
            <a:ext cx="190500" cy="171450"/>
          </a:xfrm>
          <a:prstGeom xmlns:a="http://schemas.openxmlformats.org/drawingml/2006/main" prst="triangle">
            <a:avLst/>
          </a:prstGeom>
          <a:solidFill xmlns:a="http://schemas.openxmlformats.org/drawingml/2006/main">
            <a:srgbClr val="AAB3BE"/>
          </a:solidFill>
          <a:ln xmlns:a="http://schemas.openxmlformats.org/drawingml/2006/main" w="0">
            <a:solidFill>
              <a:srgbClr val="AAB3BE"/>
            </a:solidFill>
          </a:ln>
        </p:spPr>
      </p:sp>
      <p:sp>
        <p:nvSpPr>
          <p:cNvPr id="68" name="">
            <a:extLst xmlns:a="http://schemas.openxmlformats.org/drawingml/2006/main">
              <a:ext uri="{FF2B5EF4-FFF2-40B4-BE49-F238E27FC236}">
                <a16:creationId xmlns:a16="http://schemas.microsoft.com/office/drawing/2014/main" id="{DEB01295-9E16-4A35-AE0D-8774F54BA0DC}"/>
              </a:ext>
            </a:extLst>
          </p:cNvPr>
          <p:cNvSpPr>
            <a:spLocks xmlns:a="http://schemas.openxmlformats.org/drawingml/2006/main" noGrp="1"/>
          </p:cNvSpPr>
          <p:nvPr/>
        </p:nvSpPr>
        <p:spPr>
          <a:xfrm xmlns:a="http://schemas.openxmlformats.org/drawingml/2006/main">
            <a:off x="8763000" y="3429000"/>
            <a:ext cx="10668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14288">
            <a:solidFill>
              <a:srgbClr val="AAB3BE"/>
            </a:solidFill>
          </a:ln>
        </p:spPr>
      </p:sp>
      <p:sp>
        <p:nvSpPr>
          <p:cNvPr id="69" name="">
            <a:extLst xmlns:a="http://schemas.openxmlformats.org/drawingml/2006/main">
              <a:ext uri="{FF2B5EF4-FFF2-40B4-BE49-F238E27FC236}">
                <a16:creationId xmlns:a16="http://schemas.microsoft.com/office/drawing/2014/main" id="{3C714F04-6827-4660-B81C-D72C16718FDA}"/>
              </a:ext>
            </a:extLst>
          </p:cNvPr>
          <p:cNvSpPr>
            <a:spLocks xmlns:a="http://schemas.openxmlformats.org/drawingml/2006/main" noGrp="1"/>
          </p:cNvSpPr>
          <p:nvPr/>
        </p:nvSpPr>
        <p:spPr>
          <a:xfrm xmlns:a="http://schemas.openxmlformats.org/drawingml/2006/main">
            <a:off x="8763000" y="3429000"/>
            <a:ext cx="66675" cy="628650"/>
          </a:xfrm>
          <a:prstGeom xmlns:a="http://schemas.openxmlformats.org/drawingml/2006/main" prst="rect">
            <a:avLst/>
          </a:prstGeom>
          <a:solidFill xmlns:a="http://schemas.openxmlformats.org/drawingml/2006/main">
            <a:srgbClr val="AAB3BE"/>
          </a:solidFill>
          <a:ln xmlns:a="http://schemas.openxmlformats.org/drawingml/2006/main" w="14288">
            <a:solidFill>
              <a:srgbClr val="AAB3BE"/>
            </a:solidFill>
          </a:ln>
        </p:spPr>
      </p:sp>
      <p:sp>
        <p:nvSpPr>
          <p:cNvPr id="70" name="">
            <a:extLst xmlns:a="http://schemas.openxmlformats.org/drawingml/2006/main">
              <a:ext uri="{FF2B5EF4-FFF2-40B4-BE49-F238E27FC236}">
                <a16:creationId xmlns:a16="http://schemas.microsoft.com/office/drawing/2014/main" id="{7260F962-2E90-4A27-9C7B-429BB7139A8A}"/>
              </a:ext>
            </a:extLst>
          </p:cNvPr>
          <p:cNvSpPr>
            <a:spLocks xmlns:a="http://schemas.openxmlformats.org/drawingml/2006/main" noGrp="1"/>
          </p:cNvSpPr>
          <p:nvPr/>
        </p:nvSpPr>
        <p:spPr>
          <a:xfrm xmlns:a="http://schemas.openxmlformats.org/drawingml/2006/main">
            <a:off x="8924925" y="3505200"/>
            <a:ext cx="800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8792A0"/>
                </a:solidFill>
              </a:defRPr>
            </a:pPr>
            <a:r>
              <a:rPr sz="1350" b="1">
                <a:solidFill>
                  <a:srgbClr val="8792A0"/>
                </a:solidFill>
              </a:rPr>
              <a:t>CI</a:t>
            </a:r>
          </a:p>
        </p:txBody>
      </p:sp>
      <p:sp>
        <p:nvSpPr>
          <p:cNvPr id="71" name="">
            <a:extLst xmlns:a="http://schemas.openxmlformats.org/drawingml/2006/main">
              <a:ext uri="{FF2B5EF4-FFF2-40B4-BE49-F238E27FC236}">
                <a16:creationId xmlns:a16="http://schemas.microsoft.com/office/drawing/2014/main" id="{3A2A5C0C-BE77-4ACC-9789-19AB1F352802}"/>
              </a:ext>
            </a:extLst>
          </p:cNvPr>
          <p:cNvSpPr>
            <a:spLocks xmlns:a="http://schemas.openxmlformats.org/drawingml/2006/main" noGrp="1"/>
          </p:cNvSpPr>
          <p:nvPr/>
        </p:nvSpPr>
        <p:spPr>
          <a:xfrm xmlns:a="http://schemas.openxmlformats.org/drawingml/2006/main">
            <a:off x="1924050" y="2714625"/>
            <a:ext cx="114300" cy="20955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72" name="">
            <a:extLst xmlns:a="http://schemas.openxmlformats.org/drawingml/2006/main">
              <a:ext uri="{FF2B5EF4-FFF2-40B4-BE49-F238E27FC236}">
                <a16:creationId xmlns:a16="http://schemas.microsoft.com/office/drawing/2014/main" id="{F1C4CC50-56C4-45CF-9156-5668CAB86EE9}"/>
              </a:ext>
            </a:extLst>
          </p:cNvPr>
          <p:cNvSpPr>
            <a:spLocks xmlns:a="http://schemas.openxmlformats.org/drawingml/2006/main" noGrp="1"/>
          </p:cNvSpPr>
          <p:nvPr/>
        </p:nvSpPr>
        <p:spPr>
          <a:xfrm xmlns:a="http://schemas.openxmlformats.org/drawingml/2006/main">
            <a:off x="1095375" y="23812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050" b="1">
                <a:solidFill>
                  <a:srgbClr val="2276E3"/>
                </a:solidFill>
              </a:defRPr>
            </a:pPr>
            <a:r>
              <a:rPr sz="1050" b="1">
                <a:solidFill>
                  <a:srgbClr val="2276E3"/>
                </a:solidFill>
              </a:rPr>
              <a:t>TRANSPORT CUTOFF</a:t>
            </a:r>
          </a:p>
        </p:txBody>
      </p:sp>
      <p:sp>
        <p:nvSpPr>
          <p:cNvPr id="73" name="">
            <a:extLst xmlns:a="http://schemas.openxmlformats.org/drawingml/2006/main">
              <a:ext uri="{FF2B5EF4-FFF2-40B4-BE49-F238E27FC236}">
                <a16:creationId xmlns:a16="http://schemas.microsoft.com/office/drawing/2014/main" id="{491D7A7D-31AF-49D4-8AD5-EBE3A901841A}"/>
              </a:ext>
            </a:extLst>
          </p:cNvPr>
          <p:cNvSpPr>
            <a:spLocks xmlns:a="http://schemas.openxmlformats.org/drawingml/2006/main" noGrp="1"/>
          </p:cNvSpPr>
          <p:nvPr/>
        </p:nvSpPr>
        <p:spPr>
          <a:xfrm xmlns:a="http://schemas.openxmlformats.org/drawingml/2006/main">
            <a:off x="1666875" y="5000625"/>
            <a:ext cx="885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025" b="1">
                <a:solidFill>
                  <a:srgbClr val="2276E3"/>
                </a:solidFill>
              </a:defRPr>
            </a:pPr>
            <a:r>
              <a:rPr sz="2025" b="1">
                <a:solidFill>
                  <a:srgbClr val="2276E3"/>
                </a:solidFill>
              </a:rPr>
              <a:t>One modeled upstream deny → descendants conditionally unreachable</a:t>
            </a:r>
          </a:p>
        </p:txBody>
      </p:sp>
    </p:spTree>
    <p:extLst>
      <p:ext uri="{BB962C8B-B14F-4D97-AF65-F5344CB8AC3E}">
        <p14:creationId xmlns:p14="http://schemas.microsoft.com/office/powerpoint/2010/main" val="1632277023"/>
      </p:ext>
    </p:extLst>
  </p:cSld>
</p:sld>
</file>

<file path=ppt/slides/slide1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437D31DE-DFFE-4C32-A724-C4F13648004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3CB0EDAE-6324-4363-8163-0CB1CE5A4612}"/>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B83A5EFA-AD40-4EC6-A2B1-CF03A5D9A370}"/>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96BEA2A9-D12B-47F4-A547-E04FE9A7A3FB}"/>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90552A45-F8A6-43CF-AC0A-1DD194A2E608}"/>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CF113B98-CA71-44A7-9B02-95BBE1BE8687}"/>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23BBED49-EEC1-40FB-8064-B888720AAD1D}"/>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A8F8A400-D59D-447F-AFB0-F891FCB530C0}"/>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29F25FA9-B9B1-4E84-BD4D-9AAE614ABD9A}"/>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7760AF15-FE71-41A0-B114-3DCCA5503A29}"/>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126ECAEC-1E0F-4C15-A203-B09D2B703F4D}"/>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8BDBF818-046B-459F-9052-FDB880217FB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2A1281E5-CFA3-45B7-AA2F-4D31C5848696}"/>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5C1BC69C-72D4-42BB-8B38-3B1268FFB695}"/>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BC9E59A7-6D0A-453C-A73F-AB1641C77BB1}"/>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8FC63872-4758-43BE-89C4-56BCC1468A7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F0C0D104-EA5F-41FC-A868-D7F16977651D}"/>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B0D9E52D-EC77-419C-AEE4-3F6A8B6ADF89}"/>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8163E66E-1764-48BE-907E-972CA6AB94EC}"/>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87F9D3E0-3322-42C0-BB13-8EBB91F7F2A8}"/>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2C9DA26E-F132-482B-B6BC-D368AC6B4A19}"/>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5AB89F27-2C32-424D-A678-448898694F3A}"/>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2FCC2F63-5BB2-4238-B831-76F05A9D9670}"/>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DCF82205-3959-4618-8602-C3BDBDA2BBF2}"/>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2E8B8360-4CD4-4FD2-8C5D-CDBBDF5AF656}"/>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0D8E8054-904A-4AA8-8182-14554C61FFA7}"/>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0AF83208-BF3D-41E0-BAB1-2D17E8CFE91A}"/>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0C807DCD-8D82-485D-B358-288B991C2109}"/>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F3839AC8-F645-42A3-8E52-B1F1050DA27D}"/>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5BE2BC7E-37AB-4265-BBA2-583E7B756A1A}"/>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692B16B3-4206-45B5-844C-86251A543C99}"/>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3E487748-9E16-41E8-B709-1B7EC84FCDBD}"/>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5866E3B9-2D22-4394-804C-D587DD176F2F}"/>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Later cut points remain meaningful if the early boundary is absent</a:t>
            </a:r>
          </a:p>
        </p:txBody>
      </p:sp>
      <p:sp>
        <p:nvSpPr>
          <p:cNvPr id="34" name="">
            <a:extLst xmlns:a="http://schemas.openxmlformats.org/drawingml/2006/main">
              <a:ext uri="{FF2B5EF4-FFF2-40B4-BE49-F238E27FC236}">
                <a16:creationId xmlns:a16="http://schemas.microsoft.com/office/drawing/2014/main" id="{B074CCB7-825F-40F7-A47F-07FC3FFDE412}"/>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4B</a:t>
            </a:r>
          </a:p>
        </p:txBody>
      </p:sp>
      <p:sp>
        <p:nvSpPr>
          <p:cNvPr id="35" name="">
            <a:extLst xmlns:a="http://schemas.openxmlformats.org/drawingml/2006/main">
              <a:ext uri="{FF2B5EF4-FFF2-40B4-BE49-F238E27FC236}">
                <a16:creationId xmlns:a16="http://schemas.microsoft.com/office/drawing/2014/main" id="{E8310213-44C3-4310-BC34-C6B47AF6BDB6}"/>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3AD31EBD-8E88-43BD-9962-39A75E39762B}"/>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7" name="">
            <a:extLst xmlns:a="http://schemas.openxmlformats.org/drawingml/2006/main">
              <a:ext uri="{FF2B5EF4-FFF2-40B4-BE49-F238E27FC236}">
                <a16:creationId xmlns:a16="http://schemas.microsoft.com/office/drawing/2014/main" id="{D1360E49-9215-4FD8-A0D1-0CAD64DAEBE5}"/>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OBSERVED + MODELED</a:t>
            </a:r>
          </a:p>
        </p:txBody>
      </p:sp>
      <p:sp>
        <p:nvSpPr>
          <p:cNvPr id="38" name="">
            <a:extLst xmlns:a="http://schemas.openxmlformats.org/drawingml/2006/main">
              <a:ext uri="{FF2B5EF4-FFF2-40B4-BE49-F238E27FC236}">
                <a16:creationId xmlns:a16="http://schemas.microsoft.com/office/drawing/2014/main" id="{8D69ED23-5D00-4784-861D-D772EED0AB4C}"/>
              </a:ext>
            </a:extLst>
          </p:cNvPr>
          <p:cNvSpPr>
            <a:spLocks xmlns:a="http://schemas.openxmlformats.org/drawingml/2006/main" noGrp="1"/>
          </p:cNvSpPr>
          <p:nvPr/>
        </p:nvSpPr>
        <p:spPr>
          <a:xfrm xmlns:a="http://schemas.openxmlformats.org/drawingml/2006/main">
            <a:off x="1143000" y="2476500"/>
            <a:ext cx="2476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4288">
            <a:solidFill>
              <a:srgbClr val="D7473F"/>
            </a:solidFill>
          </a:ln>
        </p:spPr>
      </p:sp>
      <p:sp>
        <p:nvSpPr>
          <p:cNvPr id="39" name="">
            <a:extLst xmlns:a="http://schemas.openxmlformats.org/drawingml/2006/main">
              <a:ext uri="{FF2B5EF4-FFF2-40B4-BE49-F238E27FC236}">
                <a16:creationId xmlns:a16="http://schemas.microsoft.com/office/drawing/2014/main" id="{457534D5-D873-4669-9072-41A1CC6B5F87}"/>
              </a:ext>
            </a:extLst>
          </p:cNvPr>
          <p:cNvSpPr>
            <a:spLocks xmlns:a="http://schemas.openxmlformats.org/drawingml/2006/main" noGrp="1"/>
          </p:cNvSpPr>
          <p:nvPr/>
        </p:nvSpPr>
        <p:spPr>
          <a:xfrm xmlns:a="http://schemas.openxmlformats.org/drawingml/2006/main">
            <a:off x="1143000" y="2476500"/>
            <a:ext cx="66675" cy="123825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0" name="">
            <a:extLst xmlns:a="http://schemas.openxmlformats.org/drawingml/2006/main">
              <a:ext uri="{FF2B5EF4-FFF2-40B4-BE49-F238E27FC236}">
                <a16:creationId xmlns:a16="http://schemas.microsoft.com/office/drawing/2014/main" id="{6A289DE8-364C-4E15-9527-026B4EF16F90}"/>
              </a:ext>
            </a:extLst>
          </p:cNvPr>
          <p:cNvSpPr>
            <a:spLocks xmlns:a="http://schemas.openxmlformats.org/drawingml/2006/main" noGrp="1"/>
          </p:cNvSpPr>
          <p:nvPr/>
        </p:nvSpPr>
        <p:spPr>
          <a:xfrm xmlns:a="http://schemas.openxmlformats.org/drawingml/2006/main">
            <a:off x="1304925" y="2552700"/>
            <a:ext cx="2209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136-KEY</a:t>
            </a:r>
          </a:p>
          <a:p xmlns:a="http://schemas.openxmlformats.org/drawingml/2006/main">
            <a:pPr algn="ctr">
              <a:defRPr sz="1350" b="1">
                <a:solidFill>
                  <a:srgbClr val="081426"/>
                </a:solidFill>
              </a:defRPr>
            </a:pPr>
            <a:r>
              <a:rPr sz="1350" b="1">
                <a:solidFill>
                  <a:srgbClr val="081426"/>
                </a:solidFill>
              </a:rPr>
              <a:t>SECRET READ</a:t>
            </a:r>
          </a:p>
        </p:txBody>
      </p:sp>
      <p:sp>
        <p:nvSpPr>
          <p:cNvPr id="41" name="">
            <a:extLst xmlns:a="http://schemas.openxmlformats.org/drawingml/2006/main">
              <a:ext uri="{FF2B5EF4-FFF2-40B4-BE49-F238E27FC236}">
                <a16:creationId xmlns:a16="http://schemas.microsoft.com/office/drawing/2014/main" id="{0206E9BC-7B2D-481E-9F6B-A215AC131679}"/>
              </a:ext>
            </a:extLst>
          </p:cNvPr>
          <p:cNvSpPr>
            <a:spLocks xmlns:a="http://schemas.openxmlformats.org/drawingml/2006/main" noGrp="1"/>
          </p:cNvSpPr>
          <p:nvPr/>
        </p:nvSpPr>
        <p:spPr>
          <a:xfrm xmlns:a="http://schemas.openxmlformats.org/drawingml/2006/main">
            <a:off x="1095375" y="40005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D7473F"/>
                </a:solidFill>
              </a:defRPr>
            </a:pPr>
            <a:r>
              <a:rPr sz="1500" b="1">
                <a:solidFill>
                  <a:srgbClr val="D7473F"/>
                </a:solidFill>
              </a:rPr>
              <a:t>modeled dₜ = 0.90</a:t>
            </a:r>
          </a:p>
        </p:txBody>
      </p:sp>
      <p:sp>
        <p:nvSpPr>
          <p:cNvPr id="42" name="">
            <a:extLst xmlns:a="http://schemas.openxmlformats.org/drawingml/2006/main">
              <a:ext uri="{FF2B5EF4-FFF2-40B4-BE49-F238E27FC236}">
                <a16:creationId xmlns:a16="http://schemas.microsoft.com/office/drawing/2014/main" id="{6B0B1D47-391B-482A-838D-CBB2EE115B22}"/>
              </a:ext>
            </a:extLst>
          </p:cNvPr>
          <p:cNvSpPr>
            <a:spLocks xmlns:a="http://schemas.openxmlformats.org/drawingml/2006/main" noGrp="1"/>
          </p:cNvSpPr>
          <p:nvPr/>
        </p:nvSpPr>
        <p:spPr>
          <a:xfrm xmlns:a="http://schemas.openxmlformats.org/drawingml/2006/main" rot="0">
            <a:off x="3619500" y="3095625"/>
            <a:ext cx="195262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3" name="">
            <a:extLst xmlns:a="http://schemas.openxmlformats.org/drawingml/2006/main">
              <a:ext uri="{FF2B5EF4-FFF2-40B4-BE49-F238E27FC236}">
                <a16:creationId xmlns:a16="http://schemas.microsoft.com/office/drawing/2014/main" id="{A9221978-6640-4890-8351-09FC8957EDB0}"/>
              </a:ext>
            </a:extLst>
          </p:cNvPr>
          <p:cNvSpPr>
            <a:spLocks xmlns:a="http://schemas.openxmlformats.org/drawingml/2006/main" noGrp="1"/>
          </p:cNvSpPr>
          <p:nvPr/>
        </p:nvSpPr>
        <p:spPr>
          <a:xfrm xmlns:a="http://schemas.openxmlformats.org/drawingml/2006/main" rot="5400000">
            <a:off x="5476875" y="30099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4" name="">
            <a:extLst xmlns:a="http://schemas.openxmlformats.org/drawingml/2006/main">
              <a:ext uri="{FF2B5EF4-FFF2-40B4-BE49-F238E27FC236}">
                <a16:creationId xmlns:a16="http://schemas.microsoft.com/office/drawing/2014/main" id="{3098732E-5F23-4504-820A-FFDFEDC30169}"/>
              </a:ext>
            </a:extLst>
          </p:cNvPr>
          <p:cNvSpPr>
            <a:spLocks xmlns:a="http://schemas.openxmlformats.org/drawingml/2006/main" noGrp="1"/>
          </p:cNvSpPr>
          <p:nvPr/>
        </p:nvSpPr>
        <p:spPr>
          <a:xfrm xmlns:a="http://schemas.openxmlformats.org/drawingml/2006/main">
            <a:off x="5572125" y="2476500"/>
            <a:ext cx="26670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4288">
            <a:solidFill>
              <a:srgbClr val="2276E3"/>
            </a:solidFill>
          </a:ln>
        </p:spPr>
      </p:sp>
      <p:sp>
        <p:nvSpPr>
          <p:cNvPr id="45" name="">
            <a:extLst xmlns:a="http://schemas.openxmlformats.org/drawingml/2006/main">
              <a:ext uri="{FF2B5EF4-FFF2-40B4-BE49-F238E27FC236}">
                <a16:creationId xmlns:a16="http://schemas.microsoft.com/office/drawing/2014/main" id="{384CF636-2DAA-419A-B360-CAD242DE32F0}"/>
              </a:ext>
            </a:extLst>
          </p:cNvPr>
          <p:cNvSpPr>
            <a:spLocks xmlns:a="http://schemas.openxmlformats.org/drawingml/2006/main" noGrp="1"/>
          </p:cNvSpPr>
          <p:nvPr/>
        </p:nvSpPr>
        <p:spPr>
          <a:xfrm xmlns:a="http://schemas.openxmlformats.org/drawingml/2006/main">
            <a:off x="5572125" y="2476500"/>
            <a:ext cx="66675" cy="123825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6" name="">
            <a:extLst xmlns:a="http://schemas.openxmlformats.org/drawingml/2006/main">
              <a:ext uri="{FF2B5EF4-FFF2-40B4-BE49-F238E27FC236}">
                <a16:creationId xmlns:a16="http://schemas.microsoft.com/office/drawing/2014/main" id="{9A072FD0-35A0-4F01-BB19-87ECAA4046FE}"/>
              </a:ext>
            </a:extLst>
          </p:cNvPr>
          <p:cNvSpPr>
            <a:spLocks xmlns:a="http://schemas.openxmlformats.org/drawingml/2006/main" noGrp="1"/>
          </p:cNvSpPr>
          <p:nvPr/>
        </p:nvSpPr>
        <p:spPr>
          <a:xfrm xmlns:a="http://schemas.openxmlformats.org/drawingml/2006/main">
            <a:off x="5734050" y="2552700"/>
            <a:ext cx="24003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CLASS-BOUND</a:t>
            </a:r>
          </a:p>
          <a:p xmlns:a="http://schemas.openxmlformats.org/drawingml/2006/main">
            <a:pPr algn="ctr">
              <a:defRPr sz="1350" b="1">
                <a:solidFill>
                  <a:srgbClr val="081426"/>
                </a:solidFill>
              </a:defRPr>
            </a:pPr>
            <a:r>
              <a:rPr sz="1350" b="1">
                <a:solidFill>
                  <a:srgbClr val="081426"/>
                </a:solidFill>
              </a:rPr>
              <a:t>AUTHORITY = 0</a:t>
            </a:r>
          </a:p>
        </p:txBody>
      </p:sp>
      <p:sp>
        <p:nvSpPr>
          <p:cNvPr id="47" name="">
            <a:extLst xmlns:a="http://schemas.openxmlformats.org/drawingml/2006/main">
              <a:ext uri="{FF2B5EF4-FFF2-40B4-BE49-F238E27FC236}">
                <a16:creationId xmlns:a16="http://schemas.microsoft.com/office/drawing/2014/main" id="{10D3BAFC-A488-433D-BE0E-68D661F2FDAC}"/>
              </a:ext>
            </a:extLst>
          </p:cNvPr>
          <p:cNvSpPr>
            <a:spLocks xmlns:a="http://schemas.openxmlformats.org/drawingml/2006/main" noGrp="1"/>
          </p:cNvSpPr>
          <p:nvPr/>
        </p:nvSpPr>
        <p:spPr>
          <a:xfrm xmlns:a="http://schemas.openxmlformats.org/drawingml/2006/main" rot="0">
            <a:off x="8239125" y="3095625"/>
            <a:ext cx="1571625"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8" name="">
            <a:extLst xmlns:a="http://schemas.openxmlformats.org/drawingml/2006/main">
              <a:ext uri="{FF2B5EF4-FFF2-40B4-BE49-F238E27FC236}">
                <a16:creationId xmlns:a16="http://schemas.microsoft.com/office/drawing/2014/main" id="{DCF94049-EF0E-4EAD-89F4-5A4F04AFECCC}"/>
              </a:ext>
            </a:extLst>
          </p:cNvPr>
          <p:cNvSpPr>
            <a:spLocks xmlns:a="http://schemas.openxmlformats.org/drawingml/2006/main" noGrp="1"/>
          </p:cNvSpPr>
          <p:nvPr/>
        </p:nvSpPr>
        <p:spPr>
          <a:xfrm xmlns:a="http://schemas.openxmlformats.org/drawingml/2006/main" rot="5400000">
            <a:off x="9715500" y="3009900"/>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9" name="">
            <a:extLst xmlns:a="http://schemas.openxmlformats.org/drawingml/2006/main">
              <a:ext uri="{FF2B5EF4-FFF2-40B4-BE49-F238E27FC236}">
                <a16:creationId xmlns:a16="http://schemas.microsoft.com/office/drawing/2014/main" id="{BF3D2FA8-0361-4130-B6D7-F1E57C1E334D}"/>
              </a:ext>
            </a:extLst>
          </p:cNvPr>
          <p:cNvSpPr>
            <a:spLocks xmlns:a="http://schemas.openxmlformats.org/drawingml/2006/main" noGrp="1"/>
          </p:cNvSpPr>
          <p:nvPr/>
        </p:nvSpPr>
        <p:spPr>
          <a:xfrm xmlns:a="http://schemas.openxmlformats.org/drawingml/2006/main">
            <a:off x="9810750" y="2571750"/>
            <a:ext cx="18097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4288">
            <a:solidFill>
              <a:srgbClr val="2F9B69"/>
            </a:solidFill>
          </a:ln>
        </p:spPr>
      </p:sp>
      <p:sp>
        <p:nvSpPr>
          <p:cNvPr id="50" name="">
            <a:extLst xmlns:a="http://schemas.openxmlformats.org/drawingml/2006/main">
              <a:ext uri="{FF2B5EF4-FFF2-40B4-BE49-F238E27FC236}">
                <a16:creationId xmlns:a16="http://schemas.microsoft.com/office/drawing/2014/main" id="{52A79984-C03E-4B5C-8DAE-25E8B96FA778}"/>
              </a:ext>
            </a:extLst>
          </p:cNvPr>
          <p:cNvSpPr>
            <a:spLocks xmlns:a="http://schemas.openxmlformats.org/drawingml/2006/main" noGrp="1"/>
          </p:cNvSpPr>
          <p:nvPr/>
        </p:nvSpPr>
        <p:spPr>
          <a:xfrm xmlns:a="http://schemas.openxmlformats.org/drawingml/2006/main">
            <a:off x="9810750" y="2571750"/>
            <a:ext cx="66675" cy="104775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1" name="">
            <a:extLst xmlns:a="http://schemas.openxmlformats.org/drawingml/2006/main">
              <a:ext uri="{FF2B5EF4-FFF2-40B4-BE49-F238E27FC236}">
                <a16:creationId xmlns:a16="http://schemas.microsoft.com/office/drawing/2014/main" id="{6F5BD916-1966-4732-B3A8-D975AC67553E}"/>
              </a:ext>
            </a:extLst>
          </p:cNvPr>
          <p:cNvSpPr>
            <a:spLocks xmlns:a="http://schemas.openxmlformats.org/drawingml/2006/main" noGrp="1"/>
          </p:cNvSpPr>
          <p:nvPr/>
        </p:nvSpPr>
        <p:spPr>
          <a:xfrm xmlns:a="http://schemas.openxmlformats.org/drawingml/2006/main">
            <a:off x="9972675" y="2647950"/>
            <a:ext cx="15430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FORGED TOKEN</a:t>
            </a:r>
          </a:p>
          <a:p xmlns:a="http://schemas.openxmlformats.org/drawingml/2006/main">
            <a:pPr algn="ctr">
              <a:defRPr sz="1350" b="1">
                <a:solidFill>
                  <a:srgbClr val="081426"/>
                </a:solidFill>
              </a:defRPr>
            </a:pPr>
            <a:r>
              <a:rPr sz="1350" b="1">
                <a:solidFill>
                  <a:srgbClr val="081426"/>
                </a:solidFill>
              </a:rPr>
              <a:t>INSUFFICIENT</a:t>
            </a:r>
          </a:p>
        </p:txBody>
      </p:sp>
      <p:sp>
        <p:nvSpPr>
          <p:cNvPr id="52" name="">
            <a:extLst xmlns:a="http://schemas.openxmlformats.org/drawingml/2006/main">
              <a:ext uri="{FF2B5EF4-FFF2-40B4-BE49-F238E27FC236}">
                <a16:creationId xmlns:a16="http://schemas.microsoft.com/office/drawing/2014/main" id="{1648E34D-1346-4108-9526-5105E0C43AE9}"/>
              </a:ext>
            </a:extLst>
          </p:cNvPr>
          <p:cNvSpPr>
            <a:spLocks xmlns:a="http://schemas.openxmlformats.org/drawingml/2006/main" noGrp="1"/>
          </p:cNvSpPr>
          <p:nvPr/>
        </p:nvSpPr>
        <p:spPr>
          <a:xfrm xmlns:a="http://schemas.openxmlformats.org/drawingml/2006/main">
            <a:off x="2381250" y="4953000"/>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100" b="1">
                <a:solidFill>
                  <a:srgbClr val="081426"/>
                </a:solidFill>
              </a:defRPr>
            </a:pPr>
            <a:r>
              <a:rPr sz="2100" b="1">
                <a:solidFill>
                  <a:srgbClr val="081426"/>
                </a:solidFill>
              </a:rPr>
              <a:t>Valid math does not excuse invalid behavior.</a:t>
            </a:r>
          </a:p>
        </p:txBody>
      </p:sp>
    </p:spTree>
    <p:extLst>
      <p:ext uri="{BB962C8B-B14F-4D97-AF65-F5344CB8AC3E}">
        <p14:creationId xmlns:p14="http://schemas.microsoft.com/office/powerpoint/2010/main" val="91336987"/>
      </p:ext>
    </p:extLst>
  </p:cSld>
</p:sld>
</file>

<file path=ppt/slides/slide1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579AD4A-3CA3-4018-90AC-F27DF647C91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E5D6C8C4-48E4-486C-88ED-054BBED4E900}"/>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777AA561-3F79-4C8C-8BBE-551A4E71D31F}"/>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7894E670-C8DA-4A04-9989-C3F05A424DC9}"/>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174A11A7-3FA4-44FD-891F-4490CBA83F01}"/>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17550BD1-3DF5-4035-AF8A-3C2A9798F8C5}"/>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A166A85A-AC5F-483B-97D6-79031644C1C7}"/>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7336EB6A-92BD-45FA-9C9D-E5714FA739CE}"/>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45CECA04-56CF-423D-8FC1-1D6877E36407}"/>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77C98384-A95B-4FAB-88ED-E459381DDF0B}"/>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C96E6411-6ED2-45ED-A55F-9B9C3BFE38F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224C2D8A-72AF-4031-849B-BAA601CAB731}"/>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260623F0-EEB9-4228-AB24-A65E00BE1214}"/>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46037D71-3FBD-4272-9F4B-F3144961953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F6415CEA-674A-45F2-BE5B-3A8056F0567E}"/>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FD3BD3AA-9832-4821-A899-99610602E979}"/>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0DC7D92B-F2A7-4F8D-8EC4-B1D23BAD862C}"/>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1967CF28-3F2C-4B2B-8F50-C6B555B9DEDC}"/>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900BA219-3136-4F6C-B2A4-E2B8D02EE475}"/>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770E3813-8223-4297-8CA0-92117AC71C17}"/>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DD23D3A0-4CB2-4B2F-BA5A-D8BE5FA703D5}"/>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8341D44F-AD9E-4626-9129-75910DDC1C8E}"/>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325A09F2-1CB5-4779-858C-413C1257226B}"/>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260E4795-AA6E-4EA5-B5A4-A55143C6CB43}"/>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6D2DC245-42E4-4B13-A01C-2EB998993267}"/>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F6C88470-019F-4163-AAB2-2BA440218603}"/>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21BF634F-C0E5-4B1F-80D1-4360F036C464}"/>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DC5ACC3D-EEA4-466F-B4E4-A46519FD332D}"/>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5C6F61BF-BE50-4233-9A94-84601CC3BA91}"/>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F6FF25CC-27B0-48A5-A023-1AB0A3FCBCBB}"/>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C04A0DC4-DAB9-495E-ACF0-390308BF8260}"/>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3DE4FA07-2605-4A72-ACCC-993103B5E0C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8DD61FD3-EEA8-4286-A819-07332D32FA31}"/>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KIL changes authority in motion without expanding KTP-authorized authority</a:t>
            </a:r>
          </a:p>
        </p:txBody>
      </p:sp>
      <p:sp>
        <p:nvSpPr>
          <p:cNvPr id="34" name="">
            <a:extLst xmlns:a="http://schemas.openxmlformats.org/drawingml/2006/main">
              <a:ext uri="{FF2B5EF4-FFF2-40B4-BE49-F238E27FC236}">
                <a16:creationId xmlns:a16="http://schemas.microsoft.com/office/drawing/2014/main" id="{668416B1-616F-4AD5-AE0B-9DEA80AA0B12}"/>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5</a:t>
            </a:r>
          </a:p>
        </p:txBody>
      </p:sp>
      <p:sp>
        <p:nvSpPr>
          <p:cNvPr id="35" name="">
            <a:extLst xmlns:a="http://schemas.openxmlformats.org/drawingml/2006/main">
              <a:ext uri="{FF2B5EF4-FFF2-40B4-BE49-F238E27FC236}">
                <a16:creationId xmlns:a16="http://schemas.microsoft.com/office/drawing/2014/main" id="{A093DC33-ED21-4C3C-9CA1-F7F518B5ED97}"/>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6" name="">
            <a:extLst xmlns:a="http://schemas.openxmlformats.org/drawingml/2006/main">
              <a:ext uri="{FF2B5EF4-FFF2-40B4-BE49-F238E27FC236}">
                <a16:creationId xmlns:a16="http://schemas.microsoft.com/office/drawing/2014/main" id="{827CAEE3-A212-4F12-B082-77440E20E422}"/>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MODELED COUNTERFACTUAL</a:t>
            </a:r>
          </a:p>
        </p:txBody>
      </p:sp>
      <p:sp>
        <p:nvSpPr>
          <p:cNvPr id="37" name="">
            <a:extLst xmlns:a="http://schemas.openxmlformats.org/drawingml/2006/main">
              <a:ext uri="{FF2B5EF4-FFF2-40B4-BE49-F238E27FC236}">
                <a16:creationId xmlns:a16="http://schemas.microsoft.com/office/drawing/2014/main" id="{594E82B5-D570-4B5C-9273-80FB3BF52338}"/>
              </a:ext>
            </a:extLst>
          </p:cNvPr>
          <p:cNvSpPr>
            <a:spLocks xmlns:a="http://schemas.openxmlformats.org/drawingml/2006/main" noGrp="1"/>
          </p:cNvSpPr>
          <p:nvPr/>
        </p:nvSpPr>
        <p:spPr>
          <a:xfrm xmlns:a="http://schemas.openxmlformats.org/drawingml/2006/main">
            <a:off x="857250" y="2571750"/>
            <a:ext cx="2476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2276E3"/>
            </a:solidFill>
          </a:ln>
        </p:spPr>
      </p:sp>
      <p:sp>
        <p:nvSpPr>
          <p:cNvPr id="38" name="">
            <a:extLst xmlns:a="http://schemas.openxmlformats.org/drawingml/2006/main">
              <a:ext uri="{FF2B5EF4-FFF2-40B4-BE49-F238E27FC236}">
                <a16:creationId xmlns:a16="http://schemas.microsoft.com/office/drawing/2014/main" id="{41AAC812-08D1-4F0B-9C78-236AB77AFA43}"/>
              </a:ext>
            </a:extLst>
          </p:cNvPr>
          <p:cNvSpPr>
            <a:spLocks xmlns:a="http://schemas.openxmlformats.org/drawingml/2006/main" noGrp="1"/>
          </p:cNvSpPr>
          <p:nvPr/>
        </p:nvSpPr>
        <p:spPr>
          <a:xfrm xmlns:a="http://schemas.openxmlformats.org/drawingml/2006/main">
            <a:off x="857250" y="2571750"/>
            <a:ext cx="66675" cy="11430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39" name="">
            <a:extLst xmlns:a="http://schemas.openxmlformats.org/drawingml/2006/main">
              <a:ext uri="{FF2B5EF4-FFF2-40B4-BE49-F238E27FC236}">
                <a16:creationId xmlns:a16="http://schemas.microsoft.com/office/drawing/2014/main" id="{D39FC581-BF15-477E-A2FA-410CD3AD53C4}"/>
              </a:ext>
            </a:extLst>
          </p:cNvPr>
          <p:cNvSpPr>
            <a:spLocks xmlns:a="http://schemas.openxmlformats.org/drawingml/2006/main" noGrp="1"/>
          </p:cNvSpPr>
          <p:nvPr/>
        </p:nvSpPr>
        <p:spPr>
          <a:xfrm xmlns:a="http://schemas.openxmlformats.org/drawingml/2006/main">
            <a:off x="1019175" y="2647950"/>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KTP-AUTHORIZED</a:t>
            </a:r>
          </a:p>
          <a:p xmlns:a="http://schemas.openxmlformats.org/drawingml/2006/main">
            <a:pPr algn="ctr">
              <a:defRPr sz="1350" b="1">
                <a:solidFill>
                  <a:srgbClr val="081426"/>
                </a:solidFill>
              </a:defRPr>
            </a:pPr>
            <a:r>
              <a:rPr sz="1350" b="1">
                <a:solidFill>
                  <a:srgbClr val="081426"/>
                </a:solidFill>
              </a:rPr>
              <a:t>BOUND</a:t>
            </a:r>
          </a:p>
        </p:txBody>
      </p:sp>
      <p:sp>
        <p:nvSpPr>
          <p:cNvPr id="40" name="">
            <a:extLst xmlns:a="http://schemas.openxmlformats.org/drawingml/2006/main">
              <a:ext uri="{FF2B5EF4-FFF2-40B4-BE49-F238E27FC236}">
                <a16:creationId xmlns:a16="http://schemas.microsoft.com/office/drawing/2014/main" id="{FD497434-1776-4A71-ABA9-29225A7CEB9D}"/>
              </a:ext>
            </a:extLst>
          </p:cNvPr>
          <p:cNvSpPr>
            <a:spLocks xmlns:a="http://schemas.openxmlformats.org/drawingml/2006/main" noGrp="1"/>
          </p:cNvSpPr>
          <p:nvPr/>
        </p:nvSpPr>
        <p:spPr>
          <a:xfrm xmlns:a="http://schemas.openxmlformats.org/drawingml/2006/main" rot="0">
            <a:off x="3333750" y="3143250"/>
            <a:ext cx="1714500"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1" name="">
            <a:extLst xmlns:a="http://schemas.openxmlformats.org/drawingml/2006/main">
              <a:ext uri="{FF2B5EF4-FFF2-40B4-BE49-F238E27FC236}">
                <a16:creationId xmlns:a16="http://schemas.microsoft.com/office/drawing/2014/main" id="{70491FC2-9C92-4646-95DA-F03BA8CCFB48}"/>
              </a:ext>
            </a:extLst>
          </p:cNvPr>
          <p:cNvSpPr>
            <a:spLocks xmlns:a="http://schemas.openxmlformats.org/drawingml/2006/main" noGrp="1"/>
          </p:cNvSpPr>
          <p:nvPr/>
        </p:nvSpPr>
        <p:spPr>
          <a:xfrm xmlns:a="http://schemas.openxmlformats.org/drawingml/2006/main" rot="5400000">
            <a:off x="4953000" y="3057525"/>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42" name="">
            <a:extLst xmlns:a="http://schemas.openxmlformats.org/drawingml/2006/main">
              <a:ext uri="{FF2B5EF4-FFF2-40B4-BE49-F238E27FC236}">
                <a16:creationId xmlns:a16="http://schemas.microsoft.com/office/drawing/2014/main" id="{346B25C0-8A77-4FB2-B6D6-8CCCFC087F4D}"/>
              </a:ext>
            </a:extLst>
          </p:cNvPr>
          <p:cNvSpPr>
            <a:spLocks xmlns:a="http://schemas.openxmlformats.org/drawingml/2006/main" noGrp="1"/>
          </p:cNvSpPr>
          <p:nvPr/>
        </p:nvSpPr>
        <p:spPr>
          <a:xfrm xmlns:a="http://schemas.openxmlformats.org/drawingml/2006/main">
            <a:off x="5048250" y="2571750"/>
            <a:ext cx="22860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D49A2A"/>
            </a:solidFill>
          </a:ln>
        </p:spPr>
      </p:sp>
      <p:sp>
        <p:nvSpPr>
          <p:cNvPr id="43" name="">
            <a:extLst xmlns:a="http://schemas.openxmlformats.org/drawingml/2006/main">
              <a:ext uri="{FF2B5EF4-FFF2-40B4-BE49-F238E27FC236}">
                <a16:creationId xmlns:a16="http://schemas.microsoft.com/office/drawing/2014/main" id="{72CAEC38-87AF-476F-9F0E-81C152402049}"/>
              </a:ext>
            </a:extLst>
          </p:cNvPr>
          <p:cNvSpPr>
            <a:spLocks xmlns:a="http://schemas.openxmlformats.org/drawingml/2006/main" noGrp="1"/>
          </p:cNvSpPr>
          <p:nvPr/>
        </p:nvSpPr>
        <p:spPr>
          <a:xfrm xmlns:a="http://schemas.openxmlformats.org/drawingml/2006/main">
            <a:off x="5048250" y="2571750"/>
            <a:ext cx="66675" cy="1143000"/>
          </a:xfrm>
          <a:prstGeom xmlns:a="http://schemas.openxmlformats.org/drawingml/2006/main" prst="rect">
            <a:avLst/>
          </a:prstGeom>
          <a:solidFill xmlns:a="http://schemas.openxmlformats.org/drawingml/2006/main">
            <a:srgbClr val="D49A2A"/>
          </a:solidFill>
          <a:ln xmlns:a="http://schemas.openxmlformats.org/drawingml/2006/main" w="14288">
            <a:solidFill>
              <a:srgbClr val="D49A2A"/>
            </a:solidFill>
          </a:ln>
        </p:spPr>
      </p:sp>
      <p:sp>
        <p:nvSpPr>
          <p:cNvPr id="44" name="">
            <a:extLst xmlns:a="http://schemas.openxmlformats.org/drawingml/2006/main">
              <a:ext uri="{FF2B5EF4-FFF2-40B4-BE49-F238E27FC236}">
                <a16:creationId xmlns:a16="http://schemas.microsoft.com/office/drawing/2014/main" id="{80A5ECB9-FBB4-4DE4-B095-2A0D779FF2D7}"/>
              </a:ext>
            </a:extLst>
          </p:cNvPr>
          <p:cNvSpPr>
            <a:spLocks xmlns:a="http://schemas.openxmlformats.org/drawingml/2006/main" noGrp="1"/>
          </p:cNvSpPr>
          <p:nvPr/>
        </p:nvSpPr>
        <p:spPr>
          <a:xfrm xmlns:a="http://schemas.openxmlformats.org/drawingml/2006/main">
            <a:off x="5210175" y="2647950"/>
            <a:ext cx="2019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FRESH LOCAL</a:t>
            </a:r>
          </a:p>
          <a:p xmlns:a="http://schemas.openxmlformats.org/drawingml/2006/main">
            <a:pPr algn="ctr">
              <a:defRPr sz="1350" b="1">
                <a:solidFill>
                  <a:srgbClr val="081426"/>
                </a:solidFill>
              </a:defRPr>
            </a:pPr>
            <a:r>
              <a:rPr sz="1350" b="1">
                <a:solidFill>
                  <a:srgbClr val="081426"/>
                </a:solidFill>
              </a:rPr>
              <a:t>EVIDENCE</a:t>
            </a:r>
          </a:p>
        </p:txBody>
      </p:sp>
      <p:sp>
        <p:nvSpPr>
          <p:cNvPr id="45" name="">
            <a:extLst xmlns:a="http://schemas.openxmlformats.org/drawingml/2006/main">
              <a:ext uri="{FF2B5EF4-FFF2-40B4-BE49-F238E27FC236}">
                <a16:creationId xmlns:a16="http://schemas.microsoft.com/office/drawing/2014/main" id="{1692B7A8-1A12-482A-8E7E-807752FAAA86}"/>
              </a:ext>
            </a:extLst>
          </p:cNvPr>
          <p:cNvSpPr>
            <a:spLocks xmlns:a="http://schemas.openxmlformats.org/drawingml/2006/main" noGrp="1"/>
          </p:cNvSpPr>
          <p:nvPr/>
        </p:nvSpPr>
        <p:spPr>
          <a:xfrm xmlns:a="http://schemas.openxmlformats.org/drawingml/2006/main" rot="0">
            <a:off x="7334250" y="3143250"/>
            <a:ext cx="1714500"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6" name="">
            <a:extLst xmlns:a="http://schemas.openxmlformats.org/drawingml/2006/main">
              <a:ext uri="{FF2B5EF4-FFF2-40B4-BE49-F238E27FC236}">
                <a16:creationId xmlns:a16="http://schemas.microsoft.com/office/drawing/2014/main" id="{E93CB676-7EBA-4803-85A9-9B4EB7663DF1}"/>
              </a:ext>
            </a:extLst>
          </p:cNvPr>
          <p:cNvSpPr>
            <a:spLocks xmlns:a="http://schemas.openxmlformats.org/drawingml/2006/main" noGrp="1"/>
          </p:cNvSpPr>
          <p:nvPr/>
        </p:nvSpPr>
        <p:spPr>
          <a:xfrm xmlns:a="http://schemas.openxmlformats.org/drawingml/2006/main" rot="5400000">
            <a:off x="8953500" y="3057525"/>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7" name="">
            <a:extLst xmlns:a="http://schemas.openxmlformats.org/drawingml/2006/main">
              <a:ext uri="{FF2B5EF4-FFF2-40B4-BE49-F238E27FC236}">
                <a16:creationId xmlns:a16="http://schemas.microsoft.com/office/drawing/2014/main" id="{97C7F589-A512-416C-BB0A-952C4D5019F1}"/>
              </a:ext>
            </a:extLst>
          </p:cNvPr>
          <p:cNvSpPr>
            <a:spLocks xmlns:a="http://schemas.openxmlformats.org/drawingml/2006/main" noGrp="1"/>
          </p:cNvSpPr>
          <p:nvPr/>
        </p:nvSpPr>
        <p:spPr>
          <a:xfrm xmlns:a="http://schemas.openxmlformats.org/drawingml/2006/main">
            <a:off x="9048750" y="2571750"/>
            <a:ext cx="22860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2F9B69"/>
            </a:solidFill>
          </a:ln>
        </p:spPr>
      </p:sp>
      <p:sp>
        <p:nvSpPr>
          <p:cNvPr id="48" name="">
            <a:extLst xmlns:a="http://schemas.openxmlformats.org/drawingml/2006/main">
              <a:ext uri="{FF2B5EF4-FFF2-40B4-BE49-F238E27FC236}">
                <a16:creationId xmlns:a16="http://schemas.microsoft.com/office/drawing/2014/main" id="{FD14D76A-C7FA-49A3-87CA-08EF8591F86D}"/>
              </a:ext>
            </a:extLst>
          </p:cNvPr>
          <p:cNvSpPr>
            <a:spLocks xmlns:a="http://schemas.openxmlformats.org/drawingml/2006/main" noGrp="1"/>
          </p:cNvSpPr>
          <p:nvPr/>
        </p:nvSpPr>
        <p:spPr>
          <a:xfrm xmlns:a="http://schemas.openxmlformats.org/drawingml/2006/main">
            <a:off x="9048750" y="2571750"/>
            <a:ext cx="66675" cy="114300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49" name="">
            <a:extLst xmlns:a="http://schemas.openxmlformats.org/drawingml/2006/main">
              <a:ext uri="{FF2B5EF4-FFF2-40B4-BE49-F238E27FC236}">
                <a16:creationId xmlns:a16="http://schemas.microsoft.com/office/drawing/2014/main" id="{03786DC3-57FD-4302-9B5C-7662D6B292A3}"/>
              </a:ext>
            </a:extLst>
          </p:cNvPr>
          <p:cNvSpPr>
            <a:spLocks xmlns:a="http://schemas.openxmlformats.org/drawingml/2006/main" noGrp="1"/>
          </p:cNvSpPr>
          <p:nvPr/>
        </p:nvSpPr>
        <p:spPr>
          <a:xfrm xmlns:a="http://schemas.openxmlformats.org/drawingml/2006/main">
            <a:off x="9210675" y="2647950"/>
            <a:ext cx="2019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EFFECTIVE</a:t>
            </a:r>
          </a:p>
          <a:p xmlns:a="http://schemas.openxmlformats.org/drawingml/2006/main">
            <a:pPr algn="ctr">
              <a:defRPr sz="1350" b="1">
                <a:solidFill>
                  <a:srgbClr val="081426"/>
                </a:solidFill>
              </a:defRPr>
            </a:pPr>
            <a:r>
              <a:rPr sz="1350" b="1">
                <a:solidFill>
                  <a:srgbClr val="081426"/>
                </a:solidFill>
              </a:rPr>
              <a:t>AUTHORITY</a:t>
            </a:r>
          </a:p>
        </p:txBody>
      </p:sp>
      <p:sp>
        <p:nvSpPr>
          <p:cNvPr id="50" name="">
            <a:extLst xmlns:a="http://schemas.openxmlformats.org/drawingml/2006/main">
              <a:ext uri="{FF2B5EF4-FFF2-40B4-BE49-F238E27FC236}">
                <a16:creationId xmlns:a16="http://schemas.microsoft.com/office/drawing/2014/main" id="{1C0AC56B-EBAD-4988-B2FB-0575155CB24D}"/>
              </a:ext>
            </a:extLst>
          </p:cNvPr>
          <p:cNvSpPr>
            <a:spLocks xmlns:a="http://schemas.openxmlformats.org/drawingml/2006/main" noGrp="1"/>
          </p:cNvSpPr>
          <p:nvPr/>
        </p:nvSpPr>
        <p:spPr>
          <a:xfrm xmlns:a="http://schemas.openxmlformats.org/drawingml/2006/main">
            <a:off x="3619500" y="43338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3000" b="1">
                <a:solidFill>
                  <a:srgbClr val="081426"/>
                </a:solidFill>
              </a:defRPr>
            </a:pPr>
            <a:r>
              <a:rPr sz="3000" b="1">
                <a:solidFill>
                  <a:srgbClr val="081426"/>
                </a:solidFill>
              </a:rPr>
              <a:t>Qeffective ≤ QKTP</a:t>
            </a:r>
          </a:p>
        </p:txBody>
      </p:sp>
    </p:spTree>
    <p:extLst>
      <p:ext uri="{BB962C8B-B14F-4D97-AF65-F5344CB8AC3E}">
        <p14:creationId xmlns:p14="http://schemas.microsoft.com/office/powerpoint/2010/main" val="149583065"/>
      </p:ext>
    </p:extLst>
  </p:cSld>
</p:sld>
</file>

<file path=ppt/slides/slide1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9C09A4E-7D76-4A4E-8497-447F28C56055}"/>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250D3F74-354F-400E-871B-A1D36247A2A3}"/>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48F3845A-C6EB-42A8-B3A3-A437BAF89903}"/>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2FD83591-8ED4-4F05-936C-BA4FF95F27B5}"/>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AB902971-C55C-480B-AFD8-6B4166357DBB}"/>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383C93DB-509D-465B-A9C2-A742E7297F1C}"/>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195C9D65-C36F-4655-85C6-F5CCC1C2EF81}"/>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7D038EDB-A6A0-4D9C-9F09-D0B488C4C0A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BF1FE647-FE89-44E5-BA37-05CDBFD3E3B8}"/>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174FBB15-0295-489E-BD33-4888985F604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84C7C135-E552-4C3D-823D-3E58EE071B1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9E3273A5-6819-4960-A7D3-65A36958A02E}"/>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7A906708-0ECA-46C2-9CB6-43BABED2146F}"/>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CE944E18-A35D-4D0C-8B74-52A79CD23ED8}"/>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B5755777-5E00-4948-94F5-8B8E0BA8376C}"/>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23455239-FEDE-4F91-979D-0D40A6D6B139}"/>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9E824B1D-FDE1-4CD7-A70D-41CFF4221624}"/>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A91E6518-4538-4A0C-83BA-8D25E5F58943}"/>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94A9C06B-1F31-4CAF-8F0E-DC3CF3A3E2BF}"/>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868F557F-11D9-4B9E-AAAA-0899CDF832C4}"/>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4763FCA9-5D64-4868-9ECB-4780F17902E0}"/>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C0A980CB-C7A7-4C6C-90C3-952572639474}"/>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9C736881-BC4C-43C9-924D-4CB20D6AE8D1}"/>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DE736BB2-AADF-4676-B0DE-93E44B4169D2}"/>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D79EEB74-FD09-44F1-B54A-B8D0A688E9FD}"/>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E661AE42-9361-438F-BB05-A34701C16F98}"/>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18A3E6D2-E716-44DE-A516-44AA6EC65D43}"/>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02BB0DDB-74EC-4D0D-8900-1BB4058A90C1}"/>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92B937DF-5CD7-41B5-913B-DD6152B0FD1B}"/>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EA8978F5-A631-4390-AF5C-FC32A642748D}"/>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FC6C327D-4C95-40C4-AFFA-BC3227FA0135}"/>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B3B7645F-9AF8-4A1E-B0B2-4F5838258895}"/>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A55D4603-DED3-4ECB-819A-8B1E76824CE3}"/>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Local evidence may tighten the decision but can never add authority</a:t>
            </a:r>
          </a:p>
        </p:txBody>
      </p:sp>
      <p:sp>
        <p:nvSpPr>
          <p:cNvPr id="34" name="">
            <a:extLst xmlns:a="http://schemas.openxmlformats.org/drawingml/2006/main">
              <a:ext uri="{FF2B5EF4-FFF2-40B4-BE49-F238E27FC236}">
                <a16:creationId xmlns:a16="http://schemas.microsoft.com/office/drawing/2014/main" id="{05FA5D45-34D5-428D-9EDE-5FDE2FA349B0}"/>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5A</a:t>
            </a:r>
          </a:p>
        </p:txBody>
      </p:sp>
      <p:sp>
        <p:nvSpPr>
          <p:cNvPr id="35" name="">
            <a:extLst xmlns:a="http://schemas.openxmlformats.org/drawingml/2006/main">
              <a:ext uri="{FF2B5EF4-FFF2-40B4-BE49-F238E27FC236}">
                <a16:creationId xmlns:a16="http://schemas.microsoft.com/office/drawing/2014/main" id="{E1B8FA8F-53E8-481F-AB8D-204A5927D995}"/>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EB2DA9DE-B9EC-4C93-B73E-75046E23F655}"/>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6DD5AF9B-F30E-4513-9836-A0A234240E90}"/>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PROPOSED INVARIANT</a:t>
            </a:r>
          </a:p>
        </p:txBody>
      </p:sp>
      <p:sp>
        <p:nvSpPr>
          <p:cNvPr id="38" name="">
            <a:extLst xmlns:a="http://schemas.openxmlformats.org/drawingml/2006/main">
              <a:ext uri="{FF2B5EF4-FFF2-40B4-BE49-F238E27FC236}">
                <a16:creationId xmlns:a16="http://schemas.microsoft.com/office/drawing/2014/main" id="{3957C7AF-2A76-4F29-A10F-8EE7E866C780}"/>
              </a:ext>
            </a:extLst>
          </p:cNvPr>
          <p:cNvSpPr>
            <a:spLocks xmlns:a="http://schemas.openxmlformats.org/drawingml/2006/main" noGrp="1"/>
          </p:cNvSpPr>
          <p:nvPr/>
        </p:nvSpPr>
        <p:spPr>
          <a:xfrm xmlns:a="http://schemas.openxmlformats.org/drawingml/2006/main">
            <a:off x="2238375" y="1952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3450" b="1">
                <a:solidFill>
                  <a:srgbClr val="2276E3"/>
                </a:solidFill>
              </a:defRPr>
            </a:pPr>
            <a:r>
              <a:rPr sz="3450" b="1">
                <a:solidFill>
                  <a:srgbClr val="2276E3"/>
                </a:solidFill>
              </a:rPr>
              <a:t>Qeff = min(QKTP, Qlocal)</a:t>
            </a:r>
          </a:p>
        </p:txBody>
      </p:sp>
      <p:sp>
        <p:nvSpPr>
          <p:cNvPr id="39" name="">
            <a:extLst xmlns:a="http://schemas.openxmlformats.org/drawingml/2006/main">
              <a:ext uri="{FF2B5EF4-FFF2-40B4-BE49-F238E27FC236}">
                <a16:creationId xmlns:a16="http://schemas.microsoft.com/office/drawing/2014/main" id="{5D54F94A-C968-4470-9567-A529E6BFDE24}"/>
              </a:ext>
            </a:extLst>
          </p:cNvPr>
          <p:cNvSpPr>
            <a:spLocks xmlns:a="http://schemas.openxmlformats.org/drawingml/2006/main" noGrp="1"/>
          </p:cNvSpPr>
          <p:nvPr/>
        </p:nvSpPr>
        <p:spPr>
          <a:xfrm xmlns:a="http://schemas.openxmlformats.org/drawingml/2006/main">
            <a:off x="2381250" y="3143250"/>
            <a:ext cx="7429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0" name="">
            <a:extLst xmlns:a="http://schemas.openxmlformats.org/drawingml/2006/main">
              <a:ext uri="{FF2B5EF4-FFF2-40B4-BE49-F238E27FC236}">
                <a16:creationId xmlns:a16="http://schemas.microsoft.com/office/drawing/2014/main" id="{50FA8D55-343F-4F58-ACF9-387CD2D0AFF5}"/>
              </a:ext>
            </a:extLst>
          </p:cNvPr>
          <p:cNvSpPr>
            <a:spLocks xmlns:a="http://schemas.openxmlformats.org/drawingml/2006/main" noGrp="1"/>
          </p:cNvSpPr>
          <p:nvPr/>
        </p:nvSpPr>
        <p:spPr>
          <a:xfrm xmlns:a="http://schemas.openxmlformats.org/drawingml/2006/main">
            <a:off x="1762125" y="3667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37465B"/>
                </a:solidFill>
              </a:defRPr>
            </a:pPr>
            <a:r>
              <a:rPr sz="1500" b="1">
                <a:solidFill>
                  <a:srgbClr val="37465B"/>
                </a:solidFill>
              </a:rPr>
              <a:t>freshness</a:t>
            </a:r>
          </a:p>
        </p:txBody>
      </p:sp>
      <p:sp>
        <p:nvSpPr>
          <p:cNvPr id="41" name="">
            <a:extLst xmlns:a="http://schemas.openxmlformats.org/drawingml/2006/main">
              <a:ext uri="{FF2B5EF4-FFF2-40B4-BE49-F238E27FC236}">
                <a16:creationId xmlns:a16="http://schemas.microsoft.com/office/drawing/2014/main" id="{8DB90AA8-9A73-44CF-A21B-606720E11513}"/>
              </a:ext>
            </a:extLst>
          </p:cNvPr>
          <p:cNvSpPr>
            <a:spLocks xmlns:a="http://schemas.openxmlformats.org/drawingml/2006/main" noGrp="1"/>
          </p:cNvSpPr>
          <p:nvPr/>
        </p:nvSpPr>
        <p:spPr>
          <a:xfrm xmlns:a="http://schemas.openxmlformats.org/drawingml/2006/main">
            <a:off x="5095875" y="3667125"/>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D7473F"/>
                </a:solidFill>
              </a:defRPr>
            </a:pPr>
            <a:r>
              <a:rPr sz="1500" b="1">
                <a:solidFill>
                  <a:srgbClr val="D7473F"/>
                </a:solidFill>
              </a:rPr>
              <a:t>reducing-only</a:t>
            </a:r>
          </a:p>
        </p:txBody>
      </p:sp>
      <p:sp>
        <p:nvSpPr>
          <p:cNvPr id="42" name="">
            <a:extLst xmlns:a="http://schemas.openxmlformats.org/drawingml/2006/main">
              <a:ext uri="{FF2B5EF4-FFF2-40B4-BE49-F238E27FC236}">
                <a16:creationId xmlns:a16="http://schemas.microsoft.com/office/drawing/2014/main" id="{456B946C-0D04-489C-AB1F-EBB5DDE56D3F}"/>
              </a:ext>
            </a:extLst>
          </p:cNvPr>
          <p:cNvSpPr>
            <a:spLocks xmlns:a="http://schemas.openxmlformats.org/drawingml/2006/main" noGrp="1"/>
          </p:cNvSpPr>
          <p:nvPr/>
        </p:nvSpPr>
        <p:spPr>
          <a:xfrm xmlns:a="http://schemas.openxmlformats.org/drawingml/2006/main">
            <a:off x="8334375" y="36671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2F9B69"/>
                </a:solidFill>
              </a:defRPr>
            </a:pPr>
            <a:r>
              <a:rPr sz="1500" b="1">
                <a:solidFill>
                  <a:srgbClr val="2F9B69"/>
                </a:solidFill>
              </a:rPr>
              <a:t>reconciliation</a:t>
            </a:r>
          </a:p>
        </p:txBody>
      </p:sp>
      <p:sp>
        <p:nvSpPr>
          <p:cNvPr id="43" name="">
            <a:extLst xmlns:a="http://schemas.openxmlformats.org/drawingml/2006/main">
              <a:ext uri="{FF2B5EF4-FFF2-40B4-BE49-F238E27FC236}">
                <a16:creationId xmlns:a16="http://schemas.microsoft.com/office/drawing/2014/main" id="{E10B1AC6-FF11-4D4A-B460-AC97DCCF968A}"/>
              </a:ext>
            </a:extLst>
          </p:cNvPr>
          <p:cNvSpPr>
            <a:spLocks xmlns:a="http://schemas.openxmlformats.org/drawingml/2006/main" noGrp="1"/>
          </p:cNvSpPr>
          <p:nvPr/>
        </p:nvSpPr>
        <p:spPr>
          <a:xfrm xmlns:a="http://schemas.openxmlformats.org/drawingml/2006/main">
            <a:off x="3333750" y="49053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025" b="1">
                <a:solidFill>
                  <a:srgbClr val="081426"/>
                </a:solidFill>
              </a:defRPr>
            </a:pPr>
            <a:r>
              <a:rPr sz="2025" b="1">
                <a:solidFill>
                  <a:srgbClr val="081426"/>
                </a:solidFill>
              </a:rPr>
              <a:t>KTP vetoes remain absolute.</a:t>
            </a:r>
          </a:p>
        </p:txBody>
      </p:sp>
    </p:spTree>
    <p:extLst>
      <p:ext uri="{BB962C8B-B14F-4D97-AF65-F5344CB8AC3E}">
        <p14:creationId xmlns:p14="http://schemas.microsoft.com/office/powerpoint/2010/main" val="484721698"/>
      </p:ext>
    </p:extLst>
  </p:cSld>
</p:sld>
</file>

<file path=ppt/slides/slide2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646C3B3-2464-4E9B-BF38-819427276B4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5AF37447-7C34-4692-A64F-935AAFE5903A}"/>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0A881B86-AF9E-41A1-83DD-24D92A156BD6}"/>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3DBB4500-6A0C-45D1-A41B-392ECEB9EE6C}"/>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4D0EE929-DD9D-400E-863B-056E85BB3C4E}"/>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9773A9B4-458E-4A92-B600-6C29A9158A2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CDB7C6CC-7D31-4363-A382-B217C233DEAB}"/>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B1A5C8D4-DDDE-4AB3-8947-A1F094B75704}"/>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03C3DED6-BC77-45F6-AC24-3BA9AE415575}"/>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8CDD7AED-EB42-475B-BF5D-27A1C71F58D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CFC30431-ACD5-4CA3-BAFB-C43D1BD8882F}"/>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B03620BA-3284-441B-A8D0-F1D65690D9E0}"/>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736463A3-30DC-4EDF-B4F4-1E926C4C5850}"/>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7F2288AB-93A9-4560-8246-487A1BFEDF9E}"/>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D58D773F-7ECB-491E-97AF-8D5887012188}"/>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DB8695C3-2A73-490E-8965-212F5A6A7D49}"/>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8816409E-617E-44C6-9ED7-B195FB091668}"/>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8DBB7759-3CE4-4AC9-B8CC-24B053D98C9A}"/>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BAC11C7A-8A14-4335-8681-5287C3BFAA3F}"/>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E40E3D5D-A0FF-4D01-B59F-F8273F33E9B7}"/>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82072808-64BE-497B-9925-8FA379C3D2EE}"/>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DE6C5CBE-B071-4A01-B429-4C2CA04882BC}"/>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1A685604-5473-445B-A5FE-189F30795DAF}"/>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3BF7BB56-63DB-4A57-93E2-82EB9C9926A2}"/>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A4962DE2-DB23-4789-B0DA-C0A41693C723}"/>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30C11C5A-A25D-45AC-A0C9-1E2F299E35B4}"/>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283F8649-745A-4136-A097-846D1860E5CA}"/>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11FEF850-EB67-4043-8E85-F5AE27E80428}"/>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60426412-FDB5-495F-99EF-5657021E1E4B}"/>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174A7758-BD25-474D-889D-0135638F6B49}"/>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FD6585D6-50EA-4592-BD52-1E2828A94E93}"/>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CD249D97-E12F-4B84-B468-3B20B98454F8}"/>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E4610A6D-2DF1-44A6-AFE0-108DAACD03E6}"/>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Safety requires constrained failure and auditable change</a:t>
            </a:r>
          </a:p>
        </p:txBody>
      </p:sp>
      <p:sp>
        <p:nvSpPr>
          <p:cNvPr id="34" name="">
            <a:extLst xmlns:a="http://schemas.openxmlformats.org/drawingml/2006/main">
              <a:ext uri="{FF2B5EF4-FFF2-40B4-BE49-F238E27FC236}">
                <a16:creationId xmlns:a16="http://schemas.microsoft.com/office/drawing/2014/main" id="{C1CF5FFF-356F-46D6-B29E-DA5E4F02014C}"/>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5B</a:t>
            </a:r>
          </a:p>
        </p:txBody>
      </p:sp>
      <p:sp>
        <p:nvSpPr>
          <p:cNvPr id="35" name="">
            <a:extLst xmlns:a="http://schemas.openxmlformats.org/drawingml/2006/main">
              <a:ext uri="{FF2B5EF4-FFF2-40B4-BE49-F238E27FC236}">
                <a16:creationId xmlns:a16="http://schemas.microsoft.com/office/drawing/2014/main" id="{07E4F25E-54E4-4C8B-B193-AA5A537C6E7F}"/>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8307C045-4120-4A51-8F74-9A8AA6637B18}"/>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9630543D-DABC-4AF2-96DD-45512FDB2CB8}"/>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PROPOSED SAFETY + GOVERNANCE</a:t>
            </a:r>
          </a:p>
        </p:txBody>
      </p:sp>
      <p:sp>
        <p:nvSpPr>
          <p:cNvPr id="38" name="">
            <a:extLst xmlns:a="http://schemas.openxmlformats.org/drawingml/2006/main">
              <a:ext uri="{FF2B5EF4-FFF2-40B4-BE49-F238E27FC236}">
                <a16:creationId xmlns:a16="http://schemas.microsoft.com/office/drawing/2014/main" id="{35797A56-E957-4B6E-ACD6-FFEE8B438489}"/>
              </a:ext>
            </a:extLst>
          </p:cNvPr>
          <p:cNvSpPr>
            <a:spLocks xmlns:a="http://schemas.openxmlformats.org/drawingml/2006/main" noGrp="1"/>
          </p:cNvSpPr>
          <p:nvPr/>
        </p:nvSpPr>
        <p:spPr>
          <a:xfrm xmlns:a="http://schemas.openxmlformats.org/drawingml/2006/main">
            <a:off x="523875" y="2476500"/>
            <a:ext cx="204787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4288">
            <a:solidFill>
              <a:srgbClr val="D7473F"/>
            </a:solidFill>
          </a:ln>
        </p:spPr>
      </p:sp>
      <p:sp>
        <p:nvSpPr>
          <p:cNvPr id="39" name="">
            <a:extLst xmlns:a="http://schemas.openxmlformats.org/drawingml/2006/main">
              <a:ext uri="{FF2B5EF4-FFF2-40B4-BE49-F238E27FC236}">
                <a16:creationId xmlns:a16="http://schemas.microsoft.com/office/drawing/2014/main" id="{6A098032-B61F-4CF3-BDBE-D76A64FABFCE}"/>
              </a:ext>
            </a:extLst>
          </p:cNvPr>
          <p:cNvSpPr>
            <a:spLocks xmlns:a="http://schemas.openxmlformats.org/drawingml/2006/main" noGrp="1"/>
          </p:cNvSpPr>
          <p:nvPr/>
        </p:nvSpPr>
        <p:spPr>
          <a:xfrm xmlns:a="http://schemas.openxmlformats.org/drawingml/2006/main">
            <a:off x="523875" y="2476500"/>
            <a:ext cx="66675" cy="109537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0" name="">
            <a:extLst xmlns:a="http://schemas.openxmlformats.org/drawingml/2006/main">
              <a:ext uri="{FF2B5EF4-FFF2-40B4-BE49-F238E27FC236}">
                <a16:creationId xmlns:a16="http://schemas.microsoft.com/office/drawing/2014/main" id="{11765EDD-B537-4DE0-B56F-9DB2A9187564}"/>
              </a:ext>
            </a:extLst>
          </p:cNvPr>
          <p:cNvSpPr>
            <a:spLocks xmlns:a="http://schemas.openxmlformats.org/drawingml/2006/main" noGrp="1"/>
          </p:cNvSpPr>
          <p:nvPr/>
        </p:nvSpPr>
        <p:spPr>
          <a:xfrm xmlns:a="http://schemas.openxmlformats.org/drawingml/2006/main">
            <a:off x="685800" y="2552700"/>
            <a:ext cx="1781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FAIL CLOSED</a:t>
            </a:r>
          </a:p>
          <a:p xmlns:a="http://schemas.openxmlformats.org/drawingml/2006/main">
            <a:pPr algn="ctr">
              <a:defRPr sz="1350" b="1">
                <a:solidFill>
                  <a:srgbClr val="081426"/>
                </a:solidFill>
              </a:defRPr>
            </a:pPr>
            <a:r>
              <a:rPr sz="1350" b="1">
                <a:solidFill>
                  <a:srgbClr val="081426"/>
                </a:solidFill>
              </a:rPr>
              <a:t>high consequence</a:t>
            </a:r>
          </a:p>
        </p:txBody>
      </p:sp>
      <p:sp>
        <p:nvSpPr>
          <p:cNvPr id="41" name="">
            <a:extLst xmlns:a="http://schemas.openxmlformats.org/drawingml/2006/main">
              <a:ext uri="{FF2B5EF4-FFF2-40B4-BE49-F238E27FC236}">
                <a16:creationId xmlns:a16="http://schemas.microsoft.com/office/drawing/2014/main" id="{06902E80-C481-4359-B5EF-FD633C5881B6}"/>
              </a:ext>
            </a:extLst>
          </p:cNvPr>
          <p:cNvSpPr>
            <a:spLocks xmlns:a="http://schemas.openxmlformats.org/drawingml/2006/main" noGrp="1"/>
          </p:cNvSpPr>
          <p:nvPr/>
        </p:nvSpPr>
        <p:spPr>
          <a:xfrm xmlns:a="http://schemas.openxmlformats.org/drawingml/2006/main">
            <a:off x="2857500" y="2476500"/>
            <a:ext cx="204787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4288">
            <a:solidFill>
              <a:srgbClr val="D7473F"/>
            </a:solidFill>
          </a:ln>
        </p:spPr>
      </p:sp>
      <p:sp>
        <p:nvSpPr>
          <p:cNvPr id="42" name="">
            <a:extLst xmlns:a="http://schemas.openxmlformats.org/drawingml/2006/main">
              <a:ext uri="{FF2B5EF4-FFF2-40B4-BE49-F238E27FC236}">
                <a16:creationId xmlns:a16="http://schemas.microsoft.com/office/drawing/2014/main" id="{160765D3-6085-4795-85D2-5A3056DCA2F8}"/>
              </a:ext>
            </a:extLst>
          </p:cNvPr>
          <p:cNvSpPr>
            <a:spLocks xmlns:a="http://schemas.openxmlformats.org/drawingml/2006/main" noGrp="1"/>
          </p:cNvSpPr>
          <p:nvPr/>
        </p:nvSpPr>
        <p:spPr>
          <a:xfrm xmlns:a="http://schemas.openxmlformats.org/drawingml/2006/main">
            <a:off x="2857500" y="2476500"/>
            <a:ext cx="66675" cy="109537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3" name="">
            <a:extLst xmlns:a="http://schemas.openxmlformats.org/drawingml/2006/main">
              <a:ext uri="{FF2B5EF4-FFF2-40B4-BE49-F238E27FC236}">
                <a16:creationId xmlns:a16="http://schemas.microsoft.com/office/drawing/2014/main" id="{6AD01C77-7FE2-40A3-B9A4-F6393A6F9B56}"/>
              </a:ext>
            </a:extLst>
          </p:cNvPr>
          <p:cNvSpPr>
            <a:spLocks xmlns:a="http://schemas.openxmlformats.org/drawingml/2006/main" noGrp="1"/>
          </p:cNvSpPr>
          <p:nvPr/>
        </p:nvSpPr>
        <p:spPr>
          <a:xfrm xmlns:a="http://schemas.openxmlformats.org/drawingml/2006/main">
            <a:off x="3019425" y="2552700"/>
            <a:ext cx="1781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FAIL CONSTRAINED</a:t>
            </a:r>
          </a:p>
          <a:p xmlns:a="http://schemas.openxmlformats.org/drawingml/2006/main">
            <a:pPr algn="ctr">
              <a:defRPr sz="1350" b="1">
                <a:solidFill>
                  <a:srgbClr val="081426"/>
                </a:solidFill>
              </a:defRPr>
            </a:pPr>
            <a:r>
              <a:rPr sz="1350" b="1">
                <a:solidFill>
                  <a:srgbClr val="081426"/>
                </a:solidFill>
              </a:rPr>
              <a:t>continuity-sensitive</a:t>
            </a:r>
          </a:p>
        </p:txBody>
      </p:sp>
      <p:sp>
        <p:nvSpPr>
          <p:cNvPr id="44" name="">
            <a:extLst xmlns:a="http://schemas.openxmlformats.org/drawingml/2006/main">
              <a:ext uri="{FF2B5EF4-FFF2-40B4-BE49-F238E27FC236}">
                <a16:creationId xmlns:a16="http://schemas.microsoft.com/office/drawing/2014/main" id="{3F915CFC-F399-45D0-98E6-5221A451B68F}"/>
              </a:ext>
            </a:extLst>
          </p:cNvPr>
          <p:cNvSpPr>
            <a:spLocks xmlns:a="http://schemas.openxmlformats.org/drawingml/2006/main" noGrp="1"/>
          </p:cNvSpPr>
          <p:nvPr/>
        </p:nvSpPr>
        <p:spPr>
          <a:xfrm xmlns:a="http://schemas.openxmlformats.org/drawingml/2006/main">
            <a:off x="5191125" y="2476500"/>
            <a:ext cx="204787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4288">
            <a:solidFill>
              <a:srgbClr val="D49A2A"/>
            </a:solidFill>
          </a:ln>
        </p:spPr>
      </p:sp>
      <p:sp>
        <p:nvSpPr>
          <p:cNvPr id="45" name="">
            <a:extLst xmlns:a="http://schemas.openxmlformats.org/drawingml/2006/main">
              <a:ext uri="{FF2B5EF4-FFF2-40B4-BE49-F238E27FC236}">
                <a16:creationId xmlns:a16="http://schemas.microsoft.com/office/drawing/2014/main" id="{BFDF110A-6EBF-4088-9428-51A066746A62}"/>
              </a:ext>
            </a:extLst>
          </p:cNvPr>
          <p:cNvSpPr>
            <a:spLocks xmlns:a="http://schemas.openxmlformats.org/drawingml/2006/main" noGrp="1"/>
          </p:cNvSpPr>
          <p:nvPr/>
        </p:nvSpPr>
        <p:spPr>
          <a:xfrm xmlns:a="http://schemas.openxmlformats.org/drawingml/2006/main">
            <a:off x="5191125" y="2476500"/>
            <a:ext cx="66675" cy="1095375"/>
          </a:xfrm>
          <a:prstGeom xmlns:a="http://schemas.openxmlformats.org/drawingml/2006/main" prst="rect">
            <a:avLst/>
          </a:prstGeom>
          <a:solidFill xmlns:a="http://schemas.openxmlformats.org/drawingml/2006/main">
            <a:srgbClr val="D49A2A"/>
          </a:solidFill>
          <a:ln xmlns:a="http://schemas.openxmlformats.org/drawingml/2006/main" w="14288">
            <a:solidFill>
              <a:srgbClr val="D49A2A"/>
            </a:solidFill>
          </a:ln>
        </p:spPr>
      </p:sp>
      <p:sp>
        <p:nvSpPr>
          <p:cNvPr id="46" name="">
            <a:extLst xmlns:a="http://schemas.openxmlformats.org/drawingml/2006/main">
              <a:ext uri="{FF2B5EF4-FFF2-40B4-BE49-F238E27FC236}">
                <a16:creationId xmlns:a16="http://schemas.microsoft.com/office/drawing/2014/main" id="{8CC7019D-F42E-4C52-8D81-A587A09CE90E}"/>
              </a:ext>
            </a:extLst>
          </p:cNvPr>
          <p:cNvSpPr>
            <a:spLocks xmlns:a="http://schemas.openxmlformats.org/drawingml/2006/main" noGrp="1"/>
          </p:cNvSpPr>
          <p:nvPr/>
        </p:nvSpPr>
        <p:spPr>
          <a:xfrm xmlns:a="http://schemas.openxmlformats.org/drawingml/2006/main">
            <a:off x="5353050" y="2552700"/>
            <a:ext cx="1781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DECLARED CHANGE</a:t>
            </a:r>
          </a:p>
          <a:p xmlns:a="http://schemas.openxmlformats.org/drawingml/2006/main">
            <a:pPr algn="ctr">
              <a:defRPr sz="1350" b="1">
                <a:solidFill>
                  <a:srgbClr val="081426"/>
                </a:solidFill>
              </a:defRPr>
            </a:pPr>
            <a:r>
              <a:rPr sz="1350" b="1">
                <a:solidFill>
                  <a:srgbClr val="081426"/>
                </a:solidFill>
              </a:rPr>
              <a:t>envelope</a:t>
            </a:r>
          </a:p>
        </p:txBody>
      </p:sp>
      <p:sp>
        <p:nvSpPr>
          <p:cNvPr id="47" name="">
            <a:extLst xmlns:a="http://schemas.openxmlformats.org/drawingml/2006/main">
              <a:ext uri="{FF2B5EF4-FFF2-40B4-BE49-F238E27FC236}">
                <a16:creationId xmlns:a16="http://schemas.microsoft.com/office/drawing/2014/main" id="{03901E7E-6F73-48F0-8E19-7F39EEB56CA5}"/>
              </a:ext>
            </a:extLst>
          </p:cNvPr>
          <p:cNvSpPr>
            <a:spLocks xmlns:a="http://schemas.openxmlformats.org/drawingml/2006/main" noGrp="1"/>
          </p:cNvSpPr>
          <p:nvPr/>
        </p:nvSpPr>
        <p:spPr>
          <a:xfrm xmlns:a="http://schemas.openxmlformats.org/drawingml/2006/main">
            <a:off x="7524750" y="2476500"/>
            <a:ext cx="204787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4288">
            <a:solidFill>
              <a:srgbClr val="2276E3"/>
            </a:solidFill>
          </a:ln>
        </p:spPr>
      </p:sp>
      <p:sp>
        <p:nvSpPr>
          <p:cNvPr id="48" name="">
            <a:extLst xmlns:a="http://schemas.openxmlformats.org/drawingml/2006/main">
              <a:ext uri="{FF2B5EF4-FFF2-40B4-BE49-F238E27FC236}">
                <a16:creationId xmlns:a16="http://schemas.microsoft.com/office/drawing/2014/main" id="{3764BBAB-E764-48E6-922F-35C154BE7FF4}"/>
              </a:ext>
            </a:extLst>
          </p:cNvPr>
          <p:cNvSpPr>
            <a:spLocks xmlns:a="http://schemas.openxmlformats.org/drawingml/2006/main" noGrp="1"/>
          </p:cNvSpPr>
          <p:nvPr/>
        </p:nvSpPr>
        <p:spPr>
          <a:xfrm xmlns:a="http://schemas.openxmlformats.org/drawingml/2006/main">
            <a:off x="7524750" y="2476500"/>
            <a:ext cx="66675" cy="10953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9" name="">
            <a:extLst xmlns:a="http://schemas.openxmlformats.org/drawingml/2006/main">
              <a:ext uri="{FF2B5EF4-FFF2-40B4-BE49-F238E27FC236}">
                <a16:creationId xmlns:a16="http://schemas.microsoft.com/office/drawing/2014/main" id="{22048DAE-2B46-4CF9-8355-1740211DED23}"/>
              </a:ext>
            </a:extLst>
          </p:cNvPr>
          <p:cNvSpPr>
            <a:spLocks xmlns:a="http://schemas.openxmlformats.org/drawingml/2006/main" noGrp="1"/>
          </p:cNvSpPr>
          <p:nvPr/>
        </p:nvSpPr>
        <p:spPr>
          <a:xfrm xmlns:a="http://schemas.openxmlformats.org/drawingml/2006/main">
            <a:off x="7686675" y="2552700"/>
            <a:ext cx="1781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RECOVERY</a:t>
            </a:r>
          </a:p>
          <a:p xmlns:a="http://schemas.openxmlformats.org/drawingml/2006/main">
            <a:pPr algn="ctr">
              <a:defRPr sz="1350" b="1">
                <a:solidFill>
                  <a:srgbClr val="081426"/>
                </a:solidFill>
              </a:defRPr>
            </a:pPr>
            <a:r>
              <a:rPr sz="1350" b="1">
                <a:solidFill>
                  <a:srgbClr val="081426"/>
                </a:solidFill>
              </a:rPr>
              <a:t>provenance</a:t>
            </a:r>
          </a:p>
        </p:txBody>
      </p:sp>
      <p:sp>
        <p:nvSpPr>
          <p:cNvPr id="50" name="">
            <a:extLst xmlns:a="http://schemas.openxmlformats.org/drawingml/2006/main">
              <a:ext uri="{FF2B5EF4-FFF2-40B4-BE49-F238E27FC236}">
                <a16:creationId xmlns:a16="http://schemas.microsoft.com/office/drawing/2014/main" id="{AEE1224B-34D6-47A5-BAB3-BA5DC450EE0F}"/>
              </a:ext>
            </a:extLst>
          </p:cNvPr>
          <p:cNvSpPr>
            <a:spLocks xmlns:a="http://schemas.openxmlformats.org/drawingml/2006/main" noGrp="1"/>
          </p:cNvSpPr>
          <p:nvPr/>
        </p:nvSpPr>
        <p:spPr>
          <a:xfrm xmlns:a="http://schemas.openxmlformats.org/drawingml/2006/main">
            <a:off x="9858375" y="2476500"/>
            <a:ext cx="204787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4288">
            <a:solidFill>
              <a:srgbClr val="2276E3"/>
            </a:solidFill>
          </a:ln>
        </p:spPr>
      </p:sp>
      <p:sp>
        <p:nvSpPr>
          <p:cNvPr id="51" name="">
            <a:extLst xmlns:a="http://schemas.openxmlformats.org/drawingml/2006/main">
              <a:ext uri="{FF2B5EF4-FFF2-40B4-BE49-F238E27FC236}">
                <a16:creationId xmlns:a16="http://schemas.microsoft.com/office/drawing/2014/main" id="{ADEA095D-1C78-4AA7-B6A4-EB0EC917824A}"/>
              </a:ext>
            </a:extLst>
          </p:cNvPr>
          <p:cNvSpPr>
            <a:spLocks xmlns:a="http://schemas.openxmlformats.org/drawingml/2006/main" noGrp="1"/>
          </p:cNvSpPr>
          <p:nvPr/>
        </p:nvSpPr>
        <p:spPr>
          <a:xfrm xmlns:a="http://schemas.openxmlformats.org/drawingml/2006/main">
            <a:off x="9858375" y="2476500"/>
            <a:ext cx="66675" cy="10953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2" name="">
            <a:extLst xmlns:a="http://schemas.openxmlformats.org/drawingml/2006/main">
              <a:ext uri="{FF2B5EF4-FFF2-40B4-BE49-F238E27FC236}">
                <a16:creationId xmlns:a16="http://schemas.microsoft.com/office/drawing/2014/main" id="{7867CB40-9DE1-4650-975F-E523B0271512}"/>
              </a:ext>
            </a:extLst>
          </p:cNvPr>
          <p:cNvSpPr>
            <a:spLocks xmlns:a="http://schemas.openxmlformats.org/drawingml/2006/main" noGrp="1"/>
          </p:cNvSpPr>
          <p:nvPr/>
        </p:nvSpPr>
        <p:spPr>
          <a:xfrm xmlns:a="http://schemas.openxmlformats.org/drawingml/2006/main">
            <a:off x="10020300" y="2552700"/>
            <a:ext cx="1781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CONTESTED DECISION</a:t>
            </a:r>
          </a:p>
          <a:p xmlns:a="http://schemas.openxmlformats.org/drawingml/2006/main">
            <a:pPr algn="ctr">
              <a:defRPr sz="1350" b="1">
                <a:solidFill>
                  <a:srgbClr val="081426"/>
                </a:solidFill>
              </a:defRPr>
            </a:pPr>
            <a:r>
              <a:rPr sz="1350" b="1">
                <a:solidFill>
                  <a:srgbClr val="081426"/>
                </a:solidFill>
              </a:rPr>
              <a:t>governance</a:t>
            </a:r>
          </a:p>
        </p:txBody>
      </p:sp>
      <p:sp>
        <p:nvSpPr>
          <p:cNvPr id="53" name="">
            <a:extLst xmlns:a="http://schemas.openxmlformats.org/drawingml/2006/main">
              <a:ext uri="{FF2B5EF4-FFF2-40B4-BE49-F238E27FC236}">
                <a16:creationId xmlns:a16="http://schemas.microsoft.com/office/drawing/2014/main" id="{A2D201D3-92FF-4155-91EF-1A6C5F47E98C}"/>
              </a:ext>
            </a:extLst>
          </p:cNvPr>
          <p:cNvSpPr>
            <a:spLocks xmlns:a="http://schemas.openxmlformats.org/drawingml/2006/main" noGrp="1"/>
          </p:cNvSpPr>
          <p:nvPr/>
        </p:nvSpPr>
        <p:spPr>
          <a:xfrm xmlns:a="http://schemas.openxmlformats.org/drawingml/2006/main">
            <a:off x="2190750" y="4762500"/>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025" b="1">
                <a:solidFill>
                  <a:srgbClr val="081426"/>
                </a:solidFill>
              </a:defRPr>
            </a:pPr>
            <a:r>
              <a:rPr sz="2025" b="1">
                <a:solidFill>
                  <a:srgbClr val="081426"/>
                </a:solidFill>
              </a:rPr>
              <a:t>Autonomy without provenance is not acceptable enforcement.</a:t>
            </a:r>
          </a:p>
        </p:txBody>
      </p:sp>
    </p:spTree>
    <p:extLst>
      <p:ext uri="{BB962C8B-B14F-4D97-AF65-F5344CB8AC3E}">
        <p14:creationId xmlns:p14="http://schemas.microsoft.com/office/powerpoint/2010/main" val="743231088"/>
      </p:ext>
    </p:extLst>
  </p:cSld>
</p:sld>
</file>

<file path=ppt/slides/slide2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928F0784-33FD-47EB-BCD1-C8147AF52CF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B4B9D14D-C779-4081-8FDF-1E0D6062C36F}"/>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1E123A55-C40F-4D91-B978-5C3515DA7312}"/>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FCA25509-63C0-4A3A-9BB5-4370BBE0D22A}"/>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5FD3CBB1-2E73-4106-B9E3-D9E2FE61315F}"/>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DAF320BF-0742-43A4-BE82-2CC8077EB115}"/>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B822863F-783D-4F34-AF43-0FE323C7A26C}"/>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DB4B3BE2-39DC-438B-9651-6F30A6AE54AC}"/>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3AE5EA2A-5C0C-4921-AC9B-097EBCEAF96C}"/>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837257CB-B440-4140-BD08-D8B594473764}"/>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F7407F6E-C95C-4952-A235-3C6EB74D6A35}"/>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3F90F21E-1581-4743-872F-64846D900268}"/>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CFEC0E8B-311B-40AE-BA69-D1EC6D50DE27}"/>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877E7B8B-109E-40C9-9D4C-38D8C739935B}"/>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8365AF68-DFB4-47F0-B868-5F65A9DBC274}"/>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3D758D3D-2472-46D5-A02A-28940A443A07}"/>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EB79DA3A-3156-4DB3-B09C-A07F44ABFF10}"/>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FF67694F-753D-4EE0-B5FE-A01E1284B41F}"/>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FC0B5725-39C5-4C5F-B536-032382E4155B}"/>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4AC1B337-4A6A-4DE3-A4D3-8BBAA781B3DE}"/>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5D397DCC-0DED-4DED-9945-7ADAC1B29DA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64249D08-6C3D-4838-BF21-97B580B217AF}"/>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89EF36B8-9C21-4F65-B046-37A487F3B52D}"/>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2B3F7D8B-00A5-4270-B4D0-B166A5FD15C9}"/>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08C75AD8-E733-4C71-8FA0-61B7BE424C41}"/>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D893A934-5B1D-45F8-9E1F-716EB40B08ED}"/>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CD3AB27F-4FCA-491A-BB67-E616ECCAD47A}"/>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E9C5871B-37FD-4B17-A404-2F9B55259EA7}"/>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F6F2CA26-87ED-46D1-BB33-F2F216BCFDCF}"/>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D3E94699-CF3E-4AA2-8A67-249682B47B3E}"/>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9EE6C52D-316C-46C3-9516-7A3696C1714B}"/>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BCBB135C-5C9D-43E2-A526-D8EAB59D017C}"/>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7F6E17B2-FB93-43D8-9C42-780394546C0E}"/>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The lab reproduces one enforcement boundary—not the historical intrusion</a:t>
            </a:r>
          </a:p>
        </p:txBody>
      </p:sp>
      <p:sp>
        <p:nvSpPr>
          <p:cNvPr id="34" name="">
            <a:extLst xmlns:a="http://schemas.openxmlformats.org/drawingml/2006/main">
              <a:ext uri="{FF2B5EF4-FFF2-40B4-BE49-F238E27FC236}">
                <a16:creationId xmlns:a16="http://schemas.microsoft.com/office/drawing/2014/main" id="{022A0484-D4B4-496B-9A81-DAD6B6E47C13}"/>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6</a:t>
            </a:r>
          </a:p>
        </p:txBody>
      </p:sp>
      <p:sp>
        <p:nvSpPr>
          <p:cNvPr id="35" name="">
            <a:extLst xmlns:a="http://schemas.openxmlformats.org/drawingml/2006/main">
              <a:ext uri="{FF2B5EF4-FFF2-40B4-BE49-F238E27FC236}">
                <a16:creationId xmlns:a16="http://schemas.microsoft.com/office/drawing/2014/main" id="{32A36A14-1965-4A3E-AAD1-50D54D861DED}"/>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6" name="">
            <a:extLst xmlns:a="http://schemas.openxmlformats.org/drawingml/2006/main">
              <a:ext uri="{FF2B5EF4-FFF2-40B4-BE49-F238E27FC236}">
                <a16:creationId xmlns:a16="http://schemas.microsoft.com/office/drawing/2014/main" id="{0BA3B510-7F11-46CE-9FE3-B3E850C25DB3}"/>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MODELED LAB MAPPING</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2ccdea81afbc44b5"/>
          <a:srcRect xmlns:a="http://schemas.openxmlformats.org/drawingml/2006/main" l="0" t="10438" r="0" b="10438"/>
          <a:stretch xmlns:a="http://schemas.openxmlformats.org/drawingml/2006/main">
            <a:fillRect l="0" t="0" r="0" b="0"/>
          </a:stretch>
        </p:blipFill>
        <p:spPr>
          <a:xfrm xmlns:a="http://schemas.openxmlformats.org/drawingml/2006/main">
            <a:off x="0" y="1428750"/>
            <a:ext cx="12192000" cy="54292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4DD7D7F3-2984-44C5-B66B-1462A316FA6D}"/>
              </a:ext>
            </a:extLst>
          </p:cNvPr>
          <p:cNvSpPr>
            <a:spLocks xmlns:a="http://schemas.openxmlformats.org/drawingml/2006/main" noGrp="1"/>
          </p:cNvSpPr>
          <p:nvPr/>
        </p:nvSpPr>
        <p:spPr>
          <a:xfrm xmlns:a="http://schemas.openxmlformats.org/drawingml/2006/main">
            <a:off x="666750" y="5619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37465B"/>
                </a:solidFill>
              </a:defRPr>
            </a:pPr>
            <a:r>
              <a:rPr sz="1200" b="1">
                <a:solidFill>
                  <a:srgbClr val="37465B"/>
                </a:solidFill>
              </a:rPr>
              <a:t>REQUEST DRIVER</a:t>
            </a:r>
          </a:p>
        </p:txBody>
      </p:sp>
      <p:sp>
        <p:nvSpPr>
          <p:cNvPr id="39" name="">
            <a:extLst xmlns:a="http://schemas.openxmlformats.org/drawingml/2006/main">
              <a:ext uri="{FF2B5EF4-FFF2-40B4-BE49-F238E27FC236}">
                <a16:creationId xmlns:a16="http://schemas.microsoft.com/office/drawing/2014/main" id="{E10F3E8F-2AE8-4A10-BE7E-3FA057CE0316}"/>
              </a:ext>
            </a:extLst>
          </p:cNvPr>
          <p:cNvSpPr>
            <a:spLocks xmlns:a="http://schemas.openxmlformats.org/drawingml/2006/main" noGrp="1"/>
          </p:cNvSpPr>
          <p:nvPr/>
        </p:nvSpPr>
        <p:spPr>
          <a:xfrm xmlns:a="http://schemas.openxmlformats.org/drawingml/2006/main">
            <a:off x="4857750" y="5619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2276E3"/>
                </a:solidFill>
              </a:defRPr>
            </a:pPr>
            <a:r>
              <a:rPr sz="1200" b="1">
                <a:solidFill>
                  <a:srgbClr val="2276E3"/>
                </a:solidFill>
              </a:rPr>
              <a:t>ENVOY</a:t>
            </a:r>
          </a:p>
        </p:txBody>
      </p:sp>
      <p:sp>
        <p:nvSpPr>
          <p:cNvPr id="40" name="">
            <a:extLst xmlns:a="http://schemas.openxmlformats.org/drawingml/2006/main">
              <a:ext uri="{FF2B5EF4-FFF2-40B4-BE49-F238E27FC236}">
                <a16:creationId xmlns:a16="http://schemas.microsoft.com/office/drawing/2014/main" id="{901501AF-26F6-4CDB-97A8-D859431990D2}"/>
              </a:ext>
            </a:extLst>
          </p:cNvPr>
          <p:cNvSpPr>
            <a:spLocks xmlns:a="http://schemas.openxmlformats.org/drawingml/2006/main" noGrp="1"/>
          </p:cNvSpPr>
          <p:nvPr/>
        </p:nvSpPr>
        <p:spPr>
          <a:xfrm xmlns:a="http://schemas.openxmlformats.org/drawingml/2006/main">
            <a:off x="8763000" y="56197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2F9B69"/>
                </a:solidFill>
              </a:defRPr>
            </a:pPr>
            <a:r>
              <a:rPr sz="1200" b="1">
                <a:solidFill>
                  <a:srgbClr val="2F9B69"/>
                </a:solidFill>
              </a:rPr>
              <a:t>AUTHZ + TARGET</a:t>
            </a:r>
          </a:p>
        </p:txBody>
      </p:sp>
    </p:spTree>
    <p:extLst>
      <p:ext uri="{BB962C8B-B14F-4D97-AF65-F5344CB8AC3E}">
        <p14:creationId xmlns:p14="http://schemas.microsoft.com/office/powerpoint/2010/main" val="660601647"/>
      </p:ext>
    </p:extLst>
  </p:cSld>
</p:sld>
</file>

<file path=ppt/slides/slide2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7C7758E-864D-44AA-8A15-DDFAEE47011B}"/>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098B489C-9E9C-43CB-BAD3-E7E4BDC3ABD2}"/>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DC6F3F08-8C9F-48A0-A3A0-DB0543A9059E}"/>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C2A613A5-38E2-480E-B100-2EE5441F134E}"/>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EA936120-981E-48C0-A0C1-75CFFFE51427}"/>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225ABCA5-2A53-4439-A5D5-4FE38883B160}"/>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997FDCAF-BC6F-4EBF-B331-36AA96450B17}"/>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445F6A98-D4A0-4ABF-8E5A-4D46170B3F42}"/>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34C6F03C-2CA9-4081-A764-0361F299B17C}"/>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1E463CFB-DF54-460A-87E5-7A6737A2879D}"/>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40DB88AA-2C8B-47C3-8A78-BBD6CBE07664}"/>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9BDF954C-10E3-44D3-A3FD-9399BE10460E}"/>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0D2FF983-454D-4AF7-B08A-4E2E4BDE5B5D}"/>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A5262115-FB9B-4F09-A5BC-5520780B4F9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B0C53B53-3E0E-4A7A-9786-9C827EB024E0}"/>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0A2E963D-1E9C-46C8-A564-277680FA8F51}"/>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7F2E0645-2CF5-4B99-B0F3-EC7612630385}"/>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E6A66835-CEE1-4B69-AD90-18CEF25EAB95}"/>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306FF9C8-6747-4776-9B01-372BF2EE3715}"/>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3A19CF83-57A1-4A0F-84D9-6F48B86FB3D5}"/>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8B01F3A2-7942-4292-A101-AF191D67B012}"/>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E8F2B122-EC66-47D6-9F21-AAAEB08F92E5}"/>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5AF01E23-E892-4007-B49A-D2E005A25DAA}"/>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3220F98D-D1CC-4FEC-9AAE-9B0D079E87A3}"/>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2AB1DFA2-E08F-40F0-9522-B743EB8A3B8A}"/>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64CDAD29-28F4-442D-92BB-EAE6470A1D4F}"/>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B58F9222-DFDD-43B7-98DE-8A9B28AEF79E}"/>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66808A29-85AF-4324-9FD3-39C3873350CC}"/>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E0B98073-DC39-4755-BF0F-529CB91E60D2}"/>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B06138A2-0631-4577-8A8E-5857CB18F612}"/>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363B645F-3379-4CF0-A55A-D94C5CE30DE5}"/>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B20DE40D-D3D4-4813-974E-3FFCA699B803}"/>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B5FFD97E-7637-48D5-9AB6-BAC949F2D2E1}"/>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Six isolated segments and one-shot drivers constrain the experiment</a:t>
            </a:r>
          </a:p>
        </p:txBody>
      </p:sp>
      <p:sp>
        <p:nvSpPr>
          <p:cNvPr id="34" name="">
            <a:extLst xmlns:a="http://schemas.openxmlformats.org/drawingml/2006/main">
              <a:ext uri="{FF2B5EF4-FFF2-40B4-BE49-F238E27FC236}">
                <a16:creationId xmlns:a16="http://schemas.microsoft.com/office/drawing/2014/main" id="{B40B12FC-6E73-4FCF-99F3-E895D2CE15BF}"/>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6A</a:t>
            </a:r>
          </a:p>
        </p:txBody>
      </p:sp>
      <p:sp>
        <p:nvSpPr>
          <p:cNvPr id="35" name="">
            <a:extLst xmlns:a="http://schemas.openxmlformats.org/drawingml/2006/main">
              <a:ext uri="{FF2B5EF4-FFF2-40B4-BE49-F238E27FC236}">
                <a16:creationId xmlns:a16="http://schemas.microsoft.com/office/drawing/2014/main" id="{2D62BD8C-1574-466A-99B1-BBFCE95F1611}"/>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DD5518AC-BC9E-4513-957B-0AF69F3F4FAD}"/>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7" name="">
            <a:extLst xmlns:a="http://schemas.openxmlformats.org/drawingml/2006/main">
              <a:ext uri="{FF2B5EF4-FFF2-40B4-BE49-F238E27FC236}">
                <a16:creationId xmlns:a16="http://schemas.microsoft.com/office/drawing/2014/main" id="{3AC723EE-9046-459D-9E38-F3AFA453E444}"/>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IMPLEMENTED ARCHITECTURE — LIVE RESULT PENDING</a:t>
            </a:r>
          </a:p>
        </p:txBody>
      </p:sp>
      <p:sp>
        <p:nvSpPr>
          <p:cNvPr id="38" name="">
            <a:extLst xmlns:a="http://schemas.openxmlformats.org/drawingml/2006/main">
              <a:ext uri="{FF2B5EF4-FFF2-40B4-BE49-F238E27FC236}">
                <a16:creationId xmlns:a16="http://schemas.microsoft.com/office/drawing/2014/main" id="{B148D855-173F-46F2-AE6F-EE4DED578986}"/>
              </a:ext>
            </a:extLst>
          </p:cNvPr>
          <p:cNvSpPr>
            <a:spLocks xmlns:a="http://schemas.openxmlformats.org/drawingml/2006/main" noGrp="1"/>
          </p:cNvSpPr>
          <p:nvPr/>
        </p:nvSpPr>
        <p:spPr>
          <a:xfrm xmlns:a="http://schemas.openxmlformats.org/drawingml/2006/main">
            <a:off x="523875" y="2905125"/>
            <a:ext cx="1619250" cy="809625"/>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4288">
            <a:solidFill>
              <a:srgbClr val="37465B"/>
            </a:solidFill>
          </a:ln>
        </p:spPr>
      </p:sp>
      <p:sp>
        <p:nvSpPr>
          <p:cNvPr id="39" name="">
            <a:extLst xmlns:a="http://schemas.openxmlformats.org/drawingml/2006/main">
              <a:ext uri="{FF2B5EF4-FFF2-40B4-BE49-F238E27FC236}">
                <a16:creationId xmlns:a16="http://schemas.microsoft.com/office/drawing/2014/main" id="{5C44BB98-09DA-4EB7-A80E-3245D05FE675}"/>
              </a:ext>
            </a:extLst>
          </p:cNvPr>
          <p:cNvSpPr>
            <a:spLocks xmlns:a="http://schemas.openxmlformats.org/drawingml/2006/main" noGrp="1"/>
          </p:cNvSpPr>
          <p:nvPr/>
        </p:nvSpPr>
        <p:spPr>
          <a:xfrm xmlns:a="http://schemas.openxmlformats.org/drawingml/2006/main">
            <a:off x="523875" y="2905125"/>
            <a:ext cx="66675" cy="809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0" name="">
            <a:extLst xmlns:a="http://schemas.openxmlformats.org/drawingml/2006/main">
              <a:ext uri="{FF2B5EF4-FFF2-40B4-BE49-F238E27FC236}">
                <a16:creationId xmlns:a16="http://schemas.microsoft.com/office/drawing/2014/main" id="{06469765-25A3-47ED-8016-5EE3DAD2B005}"/>
              </a:ext>
            </a:extLst>
          </p:cNvPr>
          <p:cNvSpPr>
            <a:spLocks xmlns:a="http://schemas.openxmlformats.org/drawingml/2006/main" noGrp="1"/>
          </p:cNvSpPr>
          <p:nvPr/>
        </p:nvSpPr>
        <p:spPr>
          <a:xfrm xmlns:a="http://schemas.openxmlformats.org/drawingml/2006/main">
            <a:off x="685800" y="2981325"/>
            <a:ext cx="1352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driver A</a:t>
            </a:r>
          </a:p>
        </p:txBody>
      </p:sp>
      <p:sp>
        <p:nvSpPr>
          <p:cNvPr id="41" name="">
            <a:extLst xmlns:a="http://schemas.openxmlformats.org/drawingml/2006/main">
              <a:ext uri="{FF2B5EF4-FFF2-40B4-BE49-F238E27FC236}">
                <a16:creationId xmlns:a16="http://schemas.microsoft.com/office/drawing/2014/main" id="{05D6729F-7357-4EBD-A876-17F905A60DC8}"/>
              </a:ext>
            </a:extLst>
          </p:cNvPr>
          <p:cNvSpPr>
            <a:spLocks xmlns:a="http://schemas.openxmlformats.org/drawingml/2006/main" noGrp="1"/>
          </p:cNvSpPr>
          <p:nvPr/>
        </p:nvSpPr>
        <p:spPr>
          <a:xfrm xmlns:a="http://schemas.openxmlformats.org/drawingml/2006/main">
            <a:off x="2428875" y="2905125"/>
            <a:ext cx="1619250" cy="809625"/>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4288">
            <a:solidFill>
              <a:srgbClr val="37465B"/>
            </a:solidFill>
          </a:ln>
        </p:spPr>
      </p:sp>
      <p:sp>
        <p:nvSpPr>
          <p:cNvPr id="42" name="">
            <a:extLst xmlns:a="http://schemas.openxmlformats.org/drawingml/2006/main">
              <a:ext uri="{FF2B5EF4-FFF2-40B4-BE49-F238E27FC236}">
                <a16:creationId xmlns:a16="http://schemas.microsoft.com/office/drawing/2014/main" id="{B2FFED01-E8D0-4D6C-843F-A91F4B9E8148}"/>
              </a:ext>
            </a:extLst>
          </p:cNvPr>
          <p:cNvSpPr>
            <a:spLocks xmlns:a="http://schemas.openxmlformats.org/drawingml/2006/main" noGrp="1"/>
          </p:cNvSpPr>
          <p:nvPr/>
        </p:nvSpPr>
        <p:spPr>
          <a:xfrm xmlns:a="http://schemas.openxmlformats.org/drawingml/2006/main">
            <a:off x="2428875" y="2905125"/>
            <a:ext cx="66675" cy="809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3" name="">
            <a:extLst xmlns:a="http://schemas.openxmlformats.org/drawingml/2006/main">
              <a:ext uri="{FF2B5EF4-FFF2-40B4-BE49-F238E27FC236}">
                <a16:creationId xmlns:a16="http://schemas.microsoft.com/office/drawing/2014/main" id="{1B75F48C-8102-4581-8AFE-EFFB2D63F7E4}"/>
              </a:ext>
            </a:extLst>
          </p:cNvPr>
          <p:cNvSpPr>
            <a:spLocks xmlns:a="http://schemas.openxmlformats.org/drawingml/2006/main" noGrp="1"/>
          </p:cNvSpPr>
          <p:nvPr/>
        </p:nvSpPr>
        <p:spPr>
          <a:xfrm xmlns:a="http://schemas.openxmlformats.org/drawingml/2006/main">
            <a:off x="2590800" y="2981325"/>
            <a:ext cx="1352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driver B</a:t>
            </a:r>
          </a:p>
        </p:txBody>
      </p:sp>
      <p:sp>
        <p:nvSpPr>
          <p:cNvPr id="44" name="">
            <a:extLst xmlns:a="http://schemas.openxmlformats.org/drawingml/2006/main">
              <a:ext uri="{FF2B5EF4-FFF2-40B4-BE49-F238E27FC236}">
                <a16:creationId xmlns:a16="http://schemas.microsoft.com/office/drawing/2014/main" id="{365877C7-2AA1-4FCB-9170-9C1BBC091C7A}"/>
              </a:ext>
            </a:extLst>
          </p:cNvPr>
          <p:cNvSpPr>
            <a:spLocks xmlns:a="http://schemas.openxmlformats.org/drawingml/2006/main" noGrp="1"/>
          </p:cNvSpPr>
          <p:nvPr/>
        </p:nvSpPr>
        <p:spPr>
          <a:xfrm xmlns:a="http://schemas.openxmlformats.org/drawingml/2006/main">
            <a:off x="4333875" y="2905125"/>
            <a:ext cx="1619250" cy="809625"/>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4288">
            <a:solidFill>
              <a:srgbClr val="37465B"/>
            </a:solidFill>
          </a:ln>
        </p:spPr>
      </p:sp>
      <p:sp>
        <p:nvSpPr>
          <p:cNvPr id="45" name="">
            <a:extLst xmlns:a="http://schemas.openxmlformats.org/drawingml/2006/main">
              <a:ext uri="{FF2B5EF4-FFF2-40B4-BE49-F238E27FC236}">
                <a16:creationId xmlns:a16="http://schemas.microsoft.com/office/drawing/2014/main" id="{3A5CC9F9-D208-4D8E-ADB2-EBE9FDEEF194}"/>
              </a:ext>
            </a:extLst>
          </p:cNvPr>
          <p:cNvSpPr>
            <a:spLocks xmlns:a="http://schemas.openxmlformats.org/drawingml/2006/main" noGrp="1"/>
          </p:cNvSpPr>
          <p:nvPr/>
        </p:nvSpPr>
        <p:spPr>
          <a:xfrm xmlns:a="http://schemas.openxmlformats.org/drawingml/2006/main">
            <a:off x="4333875" y="2905125"/>
            <a:ext cx="66675" cy="809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6" name="">
            <a:extLst xmlns:a="http://schemas.openxmlformats.org/drawingml/2006/main">
              <a:ext uri="{FF2B5EF4-FFF2-40B4-BE49-F238E27FC236}">
                <a16:creationId xmlns:a16="http://schemas.microsoft.com/office/drawing/2014/main" id="{F4F494A0-AB20-4EC5-A9B9-9EA9FA65285F}"/>
              </a:ext>
            </a:extLst>
          </p:cNvPr>
          <p:cNvSpPr>
            <a:spLocks xmlns:a="http://schemas.openxmlformats.org/drawingml/2006/main" noGrp="1"/>
          </p:cNvSpPr>
          <p:nvPr/>
        </p:nvSpPr>
        <p:spPr>
          <a:xfrm xmlns:a="http://schemas.openxmlformats.org/drawingml/2006/main">
            <a:off x="4495800" y="2981325"/>
            <a:ext cx="1352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driver C</a:t>
            </a:r>
          </a:p>
        </p:txBody>
      </p:sp>
      <p:sp>
        <p:nvSpPr>
          <p:cNvPr id="47" name="">
            <a:extLst xmlns:a="http://schemas.openxmlformats.org/drawingml/2006/main">
              <a:ext uri="{FF2B5EF4-FFF2-40B4-BE49-F238E27FC236}">
                <a16:creationId xmlns:a16="http://schemas.microsoft.com/office/drawing/2014/main" id="{8D9A0914-EF88-4002-9652-C63A50917B85}"/>
              </a:ext>
            </a:extLst>
          </p:cNvPr>
          <p:cNvSpPr>
            <a:spLocks xmlns:a="http://schemas.openxmlformats.org/drawingml/2006/main" noGrp="1"/>
          </p:cNvSpPr>
          <p:nvPr/>
        </p:nvSpPr>
        <p:spPr>
          <a:xfrm xmlns:a="http://schemas.openxmlformats.org/drawingml/2006/main">
            <a:off x="6238875" y="2905125"/>
            <a:ext cx="1619250" cy="809625"/>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4288">
            <a:solidFill>
              <a:srgbClr val="2276E3"/>
            </a:solidFill>
          </a:ln>
        </p:spPr>
      </p:sp>
      <p:sp>
        <p:nvSpPr>
          <p:cNvPr id="48" name="">
            <a:extLst xmlns:a="http://schemas.openxmlformats.org/drawingml/2006/main">
              <a:ext uri="{FF2B5EF4-FFF2-40B4-BE49-F238E27FC236}">
                <a16:creationId xmlns:a16="http://schemas.microsoft.com/office/drawing/2014/main" id="{2991DC5D-162A-4787-8606-3C221B95B2A6}"/>
              </a:ext>
            </a:extLst>
          </p:cNvPr>
          <p:cNvSpPr>
            <a:spLocks xmlns:a="http://schemas.openxmlformats.org/drawingml/2006/main" noGrp="1"/>
          </p:cNvSpPr>
          <p:nvPr/>
        </p:nvSpPr>
        <p:spPr>
          <a:xfrm xmlns:a="http://schemas.openxmlformats.org/drawingml/2006/main">
            <a:off x="6238875" y="2905125"/>
            <a:ext cx="66675" cy="809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9" name="">
            <a:extLst xmlns:a="http://schemas.openxmlformats.org/drawingml/2006/main">
              <a:ext uri="{FF2B5EF4-FFF2-40B4-BE49-F238E27FC236}">
                <a16:creationId xmlns:a16="http://schemas.microsoft.com/office/drawing/2014/main" id="{4D32906E-13FC-499D-89B3-FD5F2AB15EA7}"/>
              </a:ext>
            </a:extLst>
          </p:cNvPr>
          <p:cNvSpPr>
            <a:spLocks xmlns:a="http://schemas.openxmlformats.org/drawingml/2006/main" noGrp="1"/>
          </p:cNvSpPr>
          <p:nvPr/>
        </p:nvSpPr>
        <p:spPr>
          <a:xfrm xmlns:a="http://schemas.openxmlformats.org/drawingml/2006/main">
            <a:off x="6400800" y="2981325"/>
            <a:ext cx="1352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Envoy</a:t>
            </a:r>
          </a:p>
        </p:txBody>
      </p:sp>
      <p:sp>
        <p:nvSpPr>
          <p:cNvPr id="50" name="">
            <a:extLst xmlns:a="http://schemas.openxmlformats.org/drawingml/2006/main">
              <a:ext uri="{FF2B5EF4-FFF2-40B4-BE49-F238E27FC236}">
                <a16:creationId xmlns:a16="http://schemas.microsoft.com/office/drawing/2014/main" id="{31FA4C7C-ACDE-4B81-8A75-F94157C4187A}"/>
              </a:ext>
            </a:extLst>
          </p:cNvPr>
          <p:cNvSpPr>
            <a:spLocks xmlns:a="http://schemas.openxmlformats.org/drawingml/2006/main" noGrp="1"/>
          </p:cNvSpPr>
          <p:nvPr/>
        </p:nvSpPr>
        <p:spPr>
          <a:xfrm xmlns:a="http://schemas.openxmlformats.org/drawingml/2006/main">
            <a:off x="8143875" y="2905125"/>
            <a:ext cx="1619250" cy="809625"/>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4288">
            <a:solidFill>
              <a:srgbClr val="2F9B69"/>
            </a:solidFill>
          </a:ln>
        </p:spPr>
      </p:sp>
      <p:sp>
        <p:nvSpPr>
          <p:cNvPr id="51" name="">
            <a:extLst xmlns:a="http://schemas.openxmlformats.org/drawingml/2006/main">
              <a:ext uri="{FF2B5EF4-FFF2-40B4-BE49-F238E27FC236}">
                <a16:creationId xmlns:a16="http://schemas.microsoft.com/office/drawing/2014/main" id="{24D09726-6341-4936-8300-78048F01F3D2}"/>
              </a:ext>
            </a:extLst>
          </p:cNvPr>
          <p:cNvSpPr>
            <a:spLocks xmlns:a="http://schemas.openxmlformats.org/drawingml/2006/main" noGrp="1"/>
          </p:cNvSpPr>
          <p:nvPr/>
        </p:nvSpPr>
        <p:spPr>
          <a:xfrm xmlns:a="http://schemas.openxmlformats.org/drawingml/2006/main">
            <a:off x="8143875" y="2905125"/>
            <a:ext cx="66675" cy="809625"/>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2" name="">
            <a:extLst xmlns:a="http://schemas.openxmlformats.org/drawingml/2006/main">
              <a:ext uri="{FF2B5EF4-FFF2-40B4-BE49-F238E27FC236}">
                <a16:creationId xmlns:a16="http://schemas.microsoft.com/office/drawing/2014/main" id="{C8A04DDB-44E3-41B4-BDA7-762C0022132B}"/>
              </a:ext>
            </a:extLst>
          </p:cNvPr>
          <p:cNvSpPr>
            <a:spLocks xmlns:a="http://schemas.openxmlformats.org/drawingml/2006/main" noGrp="1"/>
          </p:cNvSpPr>
          <p:nvPr/>
        </p:nvSpPr>
        <p:spPr>
          <a:xfrm xmlns:a="http://schemas.openxmlformats.org/drawingml/2006/main">
            <a:off x="8305800" y="2981325"/>
            <a:ext cx="1352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ext_authz</a:t>
            </a:r>
          </a:p>
        </p:txBody>
      </p:sp>
      <p:sp>
        <p:nvSpPr>
          <p:cNvPr id="53" name="">
            <a:extLst xmlns:a="http://schemas.openxmlformats.org/drawingml/2006/main">
              <a:ext uri="{FF2B5EF4-FFF2-40B4-BE49-F238E27FC236}">
                <a16:creationId xmlns:a16="http://schemas.microsoft.com/office/drawing/2014/main" id="{35FABFE6-49E3-4CA2-9E79-041DA789E9FC}"/>
              </a:ext>
            </a:extLst>
          </p:cNvPr>
          <p:cNvSpPr>
            <a:spLocks xmlns:a="http://schemas.openxmlformats.org/drawingml/2006/main" noGrp="1"/>
          </p:cNvSpPr>
          <p:nvPr/>
        </p:nvSpPr>
        <p:spPr>
          <a:xfrm xmlns:a="http://schemas.openxmlformats.org/drawingml/2006/main">
            <a:off x="10048875" y="2905125"/>
            <a:ext cx="1619250" cy="809625"/>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4288">
            <a:solidFill>
              <a:srgbClr val="2F9B69"/>
            </a:solidFill>
          </a:ln>
        </p:spPr>
      </p:sp>
      <p:sp>
        <p:nvSpPr>
          <p:cNvPr id="54" name="">
            <a:extLst xmlns:a="http://schemas.openxmlformats.org/drawingml/2006/main">
              <a:ext uri="{FF2B5EF4-FFF2-40B4-BE49-F238E27FC236}">
                <a16:creationId xmlns:a16="http://schemas.microsoft.com/office/drawing/2014/main" id="{2F9E0485-F2CF-47BE-BF9B-B7945E8B11DD}"/>
              </a:ext>
            </a:extLst>
          </p:cNvPr>
          <p:cNvSpPr>
            <a:spLocks xmlns:a="http://schemas.openxmlformats.org/drawingml/2006/main" noGrp="1"/>
          </p:cNvSpPr>
          <p:nvPr/>
        </p:nvSpPr>
        <p:spPr>
          <a:xfrm xmlns:a="http://schemas.openxmlformats.org/drawingml/2006/main">
            <a:off x="10048875" y="2905125"/>
            <a:ext cx="66675" cy="809625"/>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5" name="">
            <a:extLst xmlns:a="http://schemas.openxmlformats.org/drawingml/2006/main">
              <a:ext uri="{FF2B5EF4-FFF2-40B4-BE49-F238E27FC236}">
                <a16:creationId xmlns:a16="http://schemas.microsoft.com/office/drawing/2014/main" id="{E511D4C2-6F92-494C-A431-07EDCB68C953}"/>
              </a:ext>
            </a:extLst>
          </p:cNvPr>
          <p:cNvSpPr>
            <a:spLocks xmlns:a="http://schemas.openxmlformats.org/drawingml/2006/main" noGrp="1"/>
          </p:cNvSpPr>
          <p:nvPr/>
        </p:nvSpPr>
        <p:spPr>
          <a:xfrm xmlns:a="http://schemas.openxmlformats.org/drawingml/2006/main">
            <a:off x="10210800" y="2981325"/>
            <a:ext cx="1352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target</a:t>
            </a:r>
          </a:p>
        </p:txBody>
      </p:sp>
      <p:sp>
        <p:nvSpPr>
          <p:cNvPr id="56" name="">
            <a:extLst xmlns:a="http://schemas.openxmlformats.org/drawingml/2006/main">
              <a:ext uri="{FF2B5EF4-FFF2-40B4-BE49-F238E27FC236}">
                <a16:creationId xmlns:a16="http://schemas.microsoft.com/office/drawing/2014/main" id="{B0B821F1-48AF-45B9-B599-ADC78101EAEC}"/>
              </a:ext>
            </a:extLst>
          </p:cNvPr>
          <p:cNvSpPr>
            <a:spLocks xmlns:a="http://schemas.openxmlformats.org/drawingml/2006/main" noGrp="1"/>
          </p:cNvSpPr>
          <p:nvPr/>
        </p:nvSpPr>
        <p:spPr>
          <a:xfrm xmlns:a="http://schemas.openxmlformats.org/drawingml/2006/main" rot="0">
            <a:off x="2143125" y="3305175"/>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7" name="">
            <a:extLst xmlns:a="http://schemas.openxmlformats.org/drawingml/2006/main">
              <a:ext uri="{FF2B5EF4-FFF2-40B4-BE49-F238E27FC236}">
                <a16:creationId xmlns:a16="http://schemas.microsoft.com/office/drawing/2014/main" id="{0BE51299-E790-456A-8E68-F9D6FE09AFF4}"/>
              </a:ext>
            </a:extLst>
          </p:cNvPr>
          <p:cNvSpPr>
            <a:spLocks xmlns:a="http://schemas.openxmlformats.org/drawingml/2006/main" noGrp="1"/>
          </p:cNvSpPr>
          <p:nvPr/>
        </p:nvSpPr>
        <p:spPr>
          <a:xfrm xmlns:a="http://schemas.openxmlformats.org/drawingml/2006/main" rot="5400000">
            <a:off x="2238375" y="321945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58" name="">
            <a:extLst xmlns:a="http://schemas.openxmlformats.org/drawingml/2006/main">
              <a:ext uri="{FF2B5EF4-FFF2-40B4-BE49-F238E27FC236}">
                <a16:creationId xmlns:a16="http://schemas.microsoft.com/office/drawing/2014/main" id="{1C90011E-5687-4324-A916-536185130A62}"/>
              </a:ext>
            </a:extLst>
          </p:cNvPr>
          <p:cNvSpPr>
            <a:spLocks xmlns:a="http://schemas.openxmlformats.org/drawingml/2006/main" noGrp="1"/>
          </p:cNvSpPr>
          <p:nvPr/>
        </p:nvSpPr>
        <p:spPr>
          <a:xfrm xmlns:a="http://schemas.openxmlformats.org/drawingml/2006/main" rot="0">
            <a:off x="4048125" y="3305175"/>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9" name="">
            <a:extLst xmlns:a="http://schemas.openxmlformats.org/drawingml/2006/main">
              <a:ext uri="{FF2B5EF4-FFF2-40B4-BE49-F238E27FC236}">
                <a16:creationId xmlns:a16="http://schemas.microsoft.com/office/drawing/2014/main" id="{646C95BD-4C5A-471D-83B4-A371C9E3EC4A}"/>
              </a:ext>
            </a:extLst>
          </p:cNvPr>
          <p:cNvSpPr>
            <a:spLocks xmlns:a="http://schemas.openxmlformats.org/drawingml/2006/main" noGrp="1"/>
          </p:cNvSpPr>
          <p:nvPr/>
        </p:nvSpPr>
        <p:spPr>
          <a:xfrm xmlns:a="http://schemas.openxmlformats.org/drawingml/2006/main" rot="5400000">
            <a:off x="4143375" y="321945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0" name="">
            <a:extLst xmlns:a="http://schemas.openxmlformats.org/drawingml/2006/main">
              <a:ext uri="{FF2B5EF4-FFF2-40B4-BE49-F238E27FC236}">
                <a16:creationId xmlns:a16="http://schemas.microsoft.com/office/drawing/2014/main" id="{51D2F3E9-117B-49DA-B324-7CB0C77A324B}"/>
              </a:ext>
            </a:extLst>
          </p:cNvPr>
          <p:cNvSpPr>
            <a:spLocks xmlns:a="http://schemas.openxmlformats.org/drawingml/2006/main" noGrp="1"/>
          </p:cNvSpPr>
          <p:nvPr/>
        </p:nvSpPr>
        <p:spPr>
          <a:xfrm xmlns:a="http://schemas.openxmlformats.org/drawingml/2006/main" rot="0">
            <a:off x="5953125" y="3305175"/>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1" name="">
            <a:extLst xmlns:a="http://schemas.openxmlformats.org/drawingml/2006/main">
              <a:ext uri="{FF2B5EF4-FFF2-40B4-BE49-F238E27FC236}">
                <a16:creationId xmlns:a16="http://schemas.microsoft.com/office/drawing/2014/main" id="{C8193B38-4C8E-4B53-BB14-3E1A29C18D26}"/>
              </a:ext>
            </a:extLst>
          </p:cNvPr>
          <p:cNvSpPr>
            <a:spLocks xmlns:a="http://schemas.openxmlformats.org/drawingml/2006/main" noGrp="1"/>
          </p:cNvSpPr>
          <p:nvPr/>
        </p:nvSpPr>
        <p:spPr>
          <a:xfrm xmlns:a="http://schemas.openxmlformats.org/drawingml/2006/main" rot="5400000">
            <a:off x="6048375" y="321945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2" name="">
            <a:extLst xmlns:a="http://schemas.openxmlformats.org/drawingml/2006/main">
              <a:ext uri="{FF2B5EF4-FFF2-40B4-BE49-F238E27FC236}">
                <a16:creationId xmlns:a16="http://schemas.microsoft.com/office/drawing/2014/main" id="{395C0A71-C883-4627-A831-B43A23E8BB23}"/>
              </a:ext>
            </a:extLst>
          </p:cNvPr>
          <p:cNvSpPr>
            <a:spLocks xmlns:a="http://schemas.openxmlformats.org/drawingml/2006/main" noGrp="1"/>
          </p:cNvSpPr>
          <p:nvPr/>
        </p:nvSpPr>
        <p:spPr>
          <a:xfrm xmlns:a="http://schemas.openxmlformats.org/drawingml/2006/main" rot="0">
            <a:off x="7858125" y="3305175"/>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3" name="">
            <a:extLst xmlns:a="http://schemas.openxmlformats.org/drawingml/2006/main">
              <a:ext uri="{FF2B5EF4-FFF2-40B4-BE49-F238E27FC236}">
                <a16:creationId xmlns:a16="http://schemas.microsoft.com/office/drawing/2014/main" id="{0093D1AA-2D0C-4322-B788-D23A0C060BD8}"/>
              </a:ext>
            </a:extLst>
          </p:cNvPr>
          <p:cNvSpPr>
            <a:spLocks xmlns:a="http://schemas.openxmlformats.org/drawingml/2006/main" noGrp="1"/>
          </p:cNvSpPr>
          <p:nvPr/>
        </p:nvSpPr>
        <p:spPr>
          <a:xfrm xmlns:a="http://schemas.openxmlformats.org/drawingml/2006/main" rot="5400000">
            <a:off x="7953375" y="321945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4" name="">
            <a:extLst xmlns:a="http://schemas.openxmlformats.org/drawingml/2006/main">
              <a:ext uri="{FF2B5EF4-FFF2-40B4-BE49-F238E27FC236}">
                <a16:creationId xmlns:a16="http://schemas.microsoft.com/office/drawing/2014/main" id="{EBA83A8A-039A-497E-815A-C8405FECE012}"/>
              </a:ext>
            </a:extLst>
          </p:cNvPr>
          <p:cNvSpPr>
            <a:spLocks xmlns:a="http://schemas.openxmlformats.org/drawingml/2006/main" noGrp="1"/>
          </p:cNvSpPr>
          <p:nvPr/>
        </p:nvSpPr>
        <p:spPr>
          <a:xfrm xmlns:a="http://schemas.openxmlformats.org/drawingml/2006/main" rot="0">
            <a:off x="9763125" y="3305175"/>
            <a:ext cx="190500"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5" name="">
            <a:extLst xmlns:a="http://schemas.openxmlformats.org/drawingml/2006/main">
              <a:ext uri="{FF2B5EF4-FFF2-40B4-BE49-F238E27FC236}">
                <a16:creationId xmlns:a16="http://schemas.microsoft.com/office/drawing/2014/main" id="{8B123D73-7F89-4D3E-9D76-AD4B40CD5207}"/>
              </a:ext>
            </a:extLst>
          </p:cNvPr>
          <p:cNvSpPr>
            <a:spLocks xmlns:a="http://schemas.openxmlformats.org/drawingml/2006/main" noGrp="1"/>
          </p:cNvSpPr>
          <p:nvPr/>
        </p:nvSpPr>
        <p:spPr>
          <a:xfrm xmlns:a="http://schemas.openxmlformats.org/drawingml/2006/main" rot="5400000">
            <a:off x="9858375" y="321945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6" name="">
            <a:extLst xmlns:a="http://schemas.openxmlformats.org/drawingml/2006/main">
              <a:ext uri="{FF2B5EF4-FFF2-40B4-BE49-F238E27FC236}">
                <a16:creationId xmlns:a16="http://schemas.microsoft.com/office/drawing/2014/main" id="{5F5AD362-A6A5-4AA7-B28C-78EC1C850105}"/>
              </a:ext>
            </a:extLst>
          </p:cNvPr>
          <p:cNvSpPr>
            <a:spLocks xmlns:a="http://schemas.openxmlformats.org/drawingml/2006/main" noGrp="1"/>
          </p:cNvSpPr>
          <p:nvPr/>
        </p:nvSpPr>
        <p:spPr>
          <a:xfrm xmlns:a="http://schemas.openxmlformats.org/drawingml/2006/main">
            <a:off x="1619250" y="447675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081426"/>
                </a:solidFill>
              </a:defRPr>
            </a:pPr>
            <a:r>
              <a:rPr sz="1800" b="1">
                <a:solidFill>
                  <a:srgbClr val="081426"/>
                </a:solidFill>
              </a:rPr>
              <a:t>isolated network segments • no host publication • fixed one-shot execution</a:t>
            </a:r>
          </a:p>
        </p:txBody>
      </p:sp>
    </p:spTree>
    <p:extLst>
      <p:ext uri="{BB962C8B-B14F-4D97-AF65-F5344CB8AC3E}">
        <p14:creationId xmlns:p14="http://schemas.microsoft.com/office/powerpoint/2010/main" val="1718871513"/>
      </p:ext>
    </p:extLst>
  </p:cSld>
</p:sld>
</file>

<file path=ppt/slides/slide2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807A3C75-59A4-4760-B11C-E82623B0B3FE}"/>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0617F7BC-5BA8-4CE1-8714-39C4A7E0687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61D290C3-AABA-4222-A417-6C17D1742E1E}"/>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9D99289F-558C-4997-8377-C60464AF3F49}"/>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4C87D617-FBD0-4A4B-8602-731DC45991DE}"/>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B44546CA-E3A4-424A-8615-D9A5BF0535FA}"/>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4210971E-33A9-4416-862C-855BB637BE1A}"/>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C0458E45-E636-44B3-B6C1-72663C0A5EFC}"/>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95EEFB24-C83B-45B4-899D-A230AA3F2596}"/>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B90897FB-5465-48AA-B72D-5662DC37701E}"/>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BAE9429B-9771-4A14-AA35-237FF33B3DB8}"/>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C94777F4-C906-4777-A464-FD31D4FD793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93D96A52-42AB-4D82-BA21-24591FF618BA}"/>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F3C25C7D-AEA5-4DBB-BD1C-23572E6410CF}"/>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52C16D01-A2A7-466D-B52B-5E0DABDDF8AA}"/>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3B236571-86CB-4B7B-AB2F-BAC92A57D544}"/>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2EE95E5C-D5EB-47C9-8B72-BCDBB78FE458}"/>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350F518F-342A-44C0-A7DD-D9906921E225}"/>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167C1E6C-1388-4587-9815-00090821B451}"/>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37C6B6EE-7638-4CDC-B42E-1382352AF271}"/>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7F44FA33-CC8C-4C1D-949D-783E9BA68035}"/>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1C8FE700-F93F-47A0-BB6C-65320A9569CA}"/>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4E720BE7-6AC4-4AA5-89AA-F61EC8A3F645}"/>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6B30090A-26B9-46E4-A105-EB70E94562A0}"/>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11F36FE3-6CDC-433C-8490-D35B8B5E374B}"/>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CA10D91A-5F84-4A66-A3B1-4BF44A032714}"/>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734AB18C-64ED-4118-A2BB-60CDF57A0AF7}"/>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DF3C49F8-8A12-47FB-A2D5-468EA7161F84}"/>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2A3C561A-C80D-48D7-9525-D499975C73A2}"/>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9697D91E-F2AC-4E9A-ADCB-E87228135591}"/>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DD3FF6E0-7134-49B6-96EC-11DE36C51775}"/>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B1B439C6-5E68-4DE4-A993-05BBF167340A}"/>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33C2AA2E-1F64-45A1-8524-5A225097249A}"/>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Canonical records join request, decision, proxy, and target evidence</a:t>
            </a:r>
          </a:p>
        </p:txBody>
      </p:sp>
      <p:sp>
        <p:nvSpPr>
          <p:cNvPr id="34" name="">
            <a:extLst xmlns:a="http://schemas.openxmlformats.org/drawingml/2006/main">
              <a:ext uri="{FF2B5EF4-FFF2-40B4-BE49-F238E27FC236}">
                <a16:creationId xmlns:a16="http://schemas.microsoft.com/office/drawing/2014/main" id="{9E60575C-71F4-4BDA-9175-304996D7D3DE}"/>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6B</a:t>
            </a:r>
          </a:p>
        </p:txBody>
      </p:sp>
      <p:sp>
        <p:nvSpPr>
          <p:cNvPr id="35" name="">
            <a:extLst xmlns:a="http://schemas.openxmlformats.org/drawingml/2006/main">
              <a:ext uri="{FF2B5EF4-FFF2-40B4-BE49-F238E27FC236}">
                <a16:creationId xmlns:a16="http://schemas.microsoft.com/office/drawing/2014/main" id="{C44729DF-4667-40D7-A343-F32A1BEC962F}"/>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A60FB1D9-C7B0-4340-AA62-35B0CC7D4F67}"/>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7" name="">
            <a:extLst xmlns:a="http://schemas.openxmlformats.org/drawingml/2006/main">
              <a:ext uri="{FF2B5EF4-FFF2-40B4-BE49-F238E27FC236}">
                <a16:creationId xmlns:a16="http://schemas.microsoft.com/office/drawing/2014/main" id="{4EC87359-A102-4FAF-89EC-0E458931F91F}"/>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IMPLEMENTED EVIDENCE CONTRACT — LIVE RESULT PENDING</a:t>
            </a:r>
          </a:p>
        </p:txBody>
      </p:sp>
      <p:sp>
        <p:nvSpPr>
          <p:cNvPr id="38" name="">
            <a:extLst xmlns:a="http://schemas.openxmlformats.org/drawingml/2006/main">
              <a:ext uri="{FF2B5EF4-FFF2-40B4-BE49-F238E27FC236}">
                <a16:creationId xmlns:a16="http://schemas.microsoft.com/office/drawing/2014/main" id="{451F22C7-F45B-43AF-8211-D4399A0E19A4}"/>
              </a:ext>
            </a:extLst>
          </p:cNvPr>
          <p:cNvSpPr>
            <a:spLocks xmlns:a="http://schemas.openxmlformats.org/drawingml/2006/main" noGrp="1"/>
          </p:cNvSpPr>
          <p:nvPr/>
        </p:nvSpPr>
        <p:spPr>
          <a:xfrm xmlns:a="http://schemas.openxmlformats.org/drawingml/2006/main">
            <a:off x="857250" y="2619375"/>
            <a:ext cx="2190750"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37465B"/>
            </a:solidFill>
          </a:ln>
        </p:spPr>
      </p:sp>
      <p:sp>
        <p:nvSpPr>
          <p:cNvPr id="39" name="">
            <a:extLst xmlns:a="http://schemas.openxmlformats.org/drawingml/2006/main">
              <a:ext uri="{FF2B5EF4-FFF2-40B4-BE49-F238E27FC236}">
                <a16:creationId xmlns:a16="http://schemas.microsoft.com/office/drawing/2014/main" id="{88063E4E-8461-400F-A614-AAD84AB841E3}"/>
              </a:ext>
            </a:extLst>
          </p:cNvPr>
          <p:cNvSpPr>
            <a:spLocks xmlns:a="http://schemas.openxmlformats.org/drawingml/2006/main" noGrp="1"/>
          </p:cNvSpPr>
          <p:nvPr/>
        </p:nvSpPr>
        <p:spPr>
          <a:xfrm xmlns:a="http://schemas.openxmlformats.org/drawingml/2006/main">
            <a:off x="857250" y="2619375"/>
            <a:ext cx="66675" cy="90487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0" name="">
            <a:extLst xmlns:a="http://schemas.openxmlformats.org/drawingml/2006/main">
              <a:ext uri="{FF2B5EF4-FFF2-40B4-BE49-F238E27FC236}">
                <a16:creationId xmlns:a16="http://schemas.microsoft.com/office/drawing/2014/main" id="{9E534A3C-BC57-4872-8F82-30194C6C3DB6}"/>
              </a:ext>
            </a:extLst>
          </p:cNvPr>
          <p:cNvSpPr>
            <a:spLocks xmlns:a="http://schemas.openxmlformats.org/drawingml/2006/main" noGrp="1"/>
          </p:cNvSpPr>
          <p:nvPr/>
        </p:nvSpPr>
        <p:spPr>
          <a:xfrm xmlns:a="http://schemas.openxmlformats.org/drawingml/2006/main">
            <a:off x="1019175" y="2695575"/>
            <a:ext cx="1924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request intent</a:t>
            </a:r>
          </a:p>
        </p:txBody>
      </p:sp>
      <p:sp>
        <p:nvSpPr>
          <p:cNvPr id="41" name="">
            <a:extLst xmlns:a="http://schemas.openxmlformats.org/drawingml/2006/main">
              <a:ext uri="{FF2B5EF4-FFF2-40B4-BE49-F238E27FC236}">
                <a16:creationId xmlns:a16="http://schemas.microsoft.com/office/drawing/2014/main" id="{358A7D9A-6B80-4506-BB49-ECEA56A6E766}"/>
              </a:ext>
            </a:extLst>
          </p:cNvPr>
          <p:cNvSpPr>
            <a:spLocks xmlns:a="http://schemas.openxmlformats.org/drawingml/2006/main" noGrp="1"/>
          </p:cNvSpPr>
          <p:nvPr/>
        </p:nvSpPr>
        <p:spPr>
          <a:xfrm xmlns:a="http://schemas.openxmlformats.org/drawingml/2006/main">
            <a:off x="3571875" y="2619375"/>
            <a:ext cx="2190750"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42" name="">
            <a:extLst xmlns:a="http://schemas.openxmlformats.org/drawingml/2006/main">
              <a:ext uri="{FF2B5EF4-FFF2-40B4-BE49-F238E27FC236}">
                <a16:creationId xmlns:a16="http://schemas.microsoft.com/office/drawing/2014/main" id="{6C86B470-72A5-4EA1-8DBD-CDF04635260E}"/>
              </a:ext>
            </a:extLst>
          </p:cNvPr>
          <p:cNvSpPr>
            <a:spLocks xmlns:a="http://schemas.openxmlformats.org/drawingml/2006/main" noGrp="1"/>
          </p:cNvSpPr>
          <p:nvPr/>
        </p:nvSpPr>
        <p:spPr>
          <a:xfrm xmlns:a="http://schemas.openxmlformats.org/drawingml/2006/main">
            <a:off x="3571875" y="2619375"/>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229F04C0-B540-4F21-9F6F-3C4D8661C4DC}"/>
              </a:ext>
            </a:extLst>
          </p:cNvPr>
          <p:cNvSpPr>
            <a:spLocks xmlns:a="http://schemas.openxmlformats.org/drawingml/2006/main" noGrp="1"/>
          </p:cNvSpPr>
          <p:nvPr/>
        </p:nvSpPr>
        <p:spPr>
          <a:xfrm xmlns:a="http://schemas.openxmlformats.org/drawingml/2006/main">
            <a:off x="3733800" y="2695575"/>
            <a:ext cx="1924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authz decision</a:t>
            </a:r>
          </a:p>
        </p:txBody>
      </p:sp>
      <p:sp>
        <p:nvSpPr>
          <p:cNvPr id="44" name="">
            <a:extLst xmlns:a="http://schemas.openxmlformats.org/drawingml/2006/main">
              <a:ext uri="{FF2B5EF4-FFF2-40B4-BE49-F238E27FC236}">
                <a16:creationId xmlns:a16="http://schemas.microsoft.com/office/drawing/2014/main" id="{8285A69B-8695-46B6-B4B5-8BE40BBFF350}"/>
              </a:ext>
            </a:extLst>
          </p:cNvPr>
          <p:cNvSpPr>
            <a:spLocks xmlns:a="http://schemas.openxmlformats.org/drawingml/2006/main" noGrp="1"/>
          </p:cNvSpPr>
          <p:nvPr/>
        </p:nvSpPr>
        <p:spPr>
          <a:xfrm xmlns:a="http://schemas.openxmlformats.org/drawingml/2006/main">
            <a:off x="6286500" y="2619375"/>
            <a:ext cx="2190750"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37465B"/>
            </a:solidFill>
          </a:ln>
        </p:spPr>
      </p:sp>
      <p:sp>
        <p:nvSpPr>
          <p:cNvPr id="45" name="">
            <a:extLst xmlns:a="http://schemas.openxmlformats.org/drawingml/2006/main">
              <a:ext uri="{FF2B5EF4-FFF2-40B4-BE49-F238E27FC236}">
                <a16:creationId xmlns:a16="http://schemas.microsoft.com/office/drawing/2014/main" id="{ACA81C6C-16D7-4906-82AE-151782BD230A}"/>
              </a:ext>
            </a:extLst>
          </p:cNvPr>
          <p:cNvSpPr>
            <a:spLocks xmlns:a="http://schemas.openxmlformats.org/drawingml/2006/main" noGrp="1"/>
          </p:cNvSpPr>
          <p:nvPr/>
        </p:nvSpPr>
        <p:spPr>
          <a:xfrm xmlns:a="http://schemas.openxmlformats.org/drawingml/2006/main">
            <a:off x="6286500" y="2619375"/>
            <a:ext cx="66675" cy="90487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6" name="">
            <a:extLst xmlns:a="http://schemas.openxmlformats.org/drawingml/2006/main">
              <a:ext uri="{FF2B5EF4-FFF2-40B4-BE49-F238E27FC236}">
                <a16:creationId xmlns:a16="http://schemas.microsoft.com/office/drawing/2014/main" id="{50F87F7C-A7EC-470C-9753-5C56839822A6}"/>
              </a:ext>
            </a:extLst>
          </p:cNvPr>
          <p:cNvSpPr>
            <a:spLocks xmlns:a="http://schemas.openxmlformats.org/drawingml/2006/main" noGrp="1"/>
          </p:cNvSpPr>
          <p:nvPr/>
        </p:nvSpPr>
        <p:spPr>
          <a:xfrm xmlns:a="http://schemas.openxmlformats.org/drawingml/2006/main">
            <a:off x="6448425" y="2695575"/>
            <a:ext cx="1924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Envoy access</a:t>
            </a:r>
          </a:p>
        </p:txBody>
      </p:sp>
      <p:sp>
        <p:nvSpPr>
          <p:cNvPr id="47" name="">
            <a:extLst xmlns:a="http://schemas.openxmlformats.org/drawingml/2006/main">
              <a:ext uri="{FF2B5EF4-FFF2-40B4-BE49-F238E27FC236}">
                <a16:creationId xmlns:a16="http://schemas.microsoft.com/office/drawing/2014/main" id="{DB1FC37E-608D-408E-BB07-08B39AE0F4EE}"/>
              </a:ext>
            </a:extLst>
          </p:cNvPr>
          <p:cNvSpPr>
            <a:spLocks xmlns:a="http://schemas.openxmlformats.org/drawingml/2006/main" noGrp="1"/>
          </p:cNvSpPr>
          <p:nvPr/>
        </p:nvSpPr>
        <p:spPr>
          <a:xfrm xmlns:a="http://schemas.openxmlformats.org/drawingml/2006/main">
            <a:off x="9001125" y="2619375"/>
            <a:ext cx="2190750"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F9B69"/>
            </a:solidFill>
          </a:ln>
        </p:spPr>
      </p:sp>
      <p:sp>
        <p:nvSpPr>
          <p:cNvPr id="48" name="">
            <a:extLst xmlns:a="http://schemas.openxmlformats.org/drawingml/2006/main">
              <a:ext uri="{FF2B5EF4-FFF2-40B4-BE49-F238E27FC236}">
                <a16:creationId xmlns:a16="http://schemas.microsoft.com/office/drawing/2014/main" id="{2B5EAC82-2AB6-4F18-81AF-26CC123F8D6C}"/>
              </a:ext>
            </a:extLst>
          </p:cNvPr>
          <p:cNvSpPr>
            <a:spLocks xmlns:a="http://schemas.openxmlformats.org/drawingml/2006/main" noGrp="1"/>
          </p:cNvSpPr>
          <p:nvPr/>
        </p:nvSpPr>
        <p:spPr>
          <a:xfrm xmlns:a="http://schemas.openxmlformats.org/drawingml/2006/main">
            <a:off x="9001125" y="2619375"/>
            <a:ext cx="66675" cy="904875"/>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49" name="">
            <a:extLst xmlns:a="http://schemas.openxmlformats.org/drawingml/2006/main">
              <a:ext uri="{FF2B5EF4-FFF2-40B4-BE49-F238E27FC236}">
                <a16:creationId xmlns:a16="http://schemas.microsoft.com/office/drawing/2014/main" id="{9593F330-3FB5-46FE-BB7F-8569B8DABE46}"/>
              </a:ext>
            </a:extLst>
          </p:cNvPr>
          <p:cNvSpPr>
            <a:spLocks xmlns:a="http://schemas.openxmlformats.org/drawingml/2006/main" noGrp="1"/>
          </p:cNvSpPr>
          <p:nvPr/>
        </p:nvSpPr>
        <p:spPr>
          <a:xfrm xmlns:a="http://schemas.openxmlformats.org/drawingml/2006/main">
            <a:off x="9163050" y="2695575"/>
            <a:ext cx="1924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target marker</a:t>
            </a:r>
          </a:p>
        </p:txBody>
      </p:sp>
      <p:sp>
        <p:nvSpPr>
          <p:cNvPr id="50" name="">
            <a:extLst xmlns:a="http://schemas.openxmlformats.org/drawingml/2006/main">
              <a:ext uri="{FF2B5EF4-FFF2-40B4-BE49-F238E27FC236}">
                <a16:creationId xmlns:a16="http://schemas.microsoft.com/office/drawing/2014/main" id="{C1E922E7-CB31-4D3D-9708-5118ACD02072}"/>
              </a:ext>
            </a:extLst>
          </p:cNvPr>
          <p:cNvSpPr>
            <a:spLocks xmlns:a="http://schemas.openxmlformats.org/drawingml/2006/main" noGrp="1"/>
          </p:cNvSpPr>
          <p:nvPr/>
        </p:nvSpPr>
        <p:spPr>
          <a:xfrm xmlns:a="http://schemas.openxmlformats.org/drawingml/2006/main" rot="739167">
            <a:off x="1952625" y="3714750"/>
            <a:ext cx="4241032"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1" name="">
            <a:extLst xmlns:a="http://schemas.openxmlformats.org/drawingml/2006/main">
              <a:ext uri="{FF2B5EF4-FFF2-40B4-BE49-F238E27FC236}">
                <a16:creationId xmlns:a16="http://schemas.microsoft.com/office/drawing/2014/main" id="{0BE5141B-875E-41C8-A731-4BECD1E80CDB}"/>
              </a:ext>
            </a:extLst>
          </p:cNvPr>
          <p:cNvSpPr>
            <a:spLocks xmlns:a="http://schemas.openxmlformats.org/drawingml/2006/main" noGrp="1"/>
          </p:cNvSpPr>
          <p:nvPr/>
        </p:nvSpPr>
        <p:spPr>
          <a:xfrm xmlns:a="http://schemas.openxmlformats.org/drawingml/2006/main" rot="6139167">
            <a:off x="6000750" y="4533900"/>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52" name="">
            <a:extLst xmlns:a="http://schemas.openxmlformats.org/drawingml/2006/main">
              <a:ext uri="{FF2B5EF4-FFF2-40B4-BE49-F238E27FC236}">
                <a16:creationId xmlns:a16="http://schemas.microsoft.com/office/drawing/2014/main" id="{9591BA8E-EB58-4DDE-A156-82AECC20EB13}"/>
              </a:ext>
            </a:extLst>
          </p:cNvPr>
          <p:cNvSpPr>
            <a:spLocks xmlns:a="http://schemas.openxmlformats.org/drawingml/2006/main" noGrp="1"/>
          </p:cNvSpPr>
          <p:nvPr/>
        </p:nvSpPr>
        <p:spPr>
          <a:xfrm xmlns:a="http://schemas.openxmlformats.org/drawingml/2006/main" rot="1940847">
            <a:off x="4667250" y="3714750"/>
            <a:ext cx="1691191"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3" name="">
            <a:extLst xmlns:a="http://schemas.openxmlformats.org/drawingml/2006/main">
              <a:ext uri="{FF2B5EF4-FFF2-40B4-BE49-F238E27FC236}">
                <a16:creationId xmlns:a16="http://schemas.microsoft.com/office/drawing/2014/main" id="{C48A7938-F848-4A2B-8ECD-5A7131DEDD34}"/>
              </a:ext>
            </a:extLst>
          </p:cNvPr>
          <p:cNvSpPr>
            <a:spLocks xmlns:a="http://schemas.openxmlformats.org/drawingml/2006/main" noGrp="1"/>
          </p:cNvSpPr>
          <p:nvPr/>
        </p:nvSpPr>
        <p:spPr>
          <a:xfrm xmlns:a="http://schemas.openxmlformats.org/drawingml/2006/main" rot="7340847">
            <a:off x="6000750" y="4533900"/>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54" name="">
            <a:extLst xmlns:a="http://schemas.openxmlformats.org/drawingml/2006/main">
              <a:ext uri="{FF2B5EF4-FFF2-40B4-BE49-F238E27FC236}">
                <a16:creationId xmlns:a16="http://schemas.microsoft.com/office/drawing/2014/main" id="{AFC19288-B686-4A29-96BA-54398BA1FAF7}"/>
              </a:ext>
            </a:extLst>
          </p:cNvPr>
          <p:cNvSpPr>
            <a:spLocks xmlns:a="http://schemas.openxmlformats.org/drawingml/2006/main" noGrp="1"/>
          </p:cNvSpPr>
          <p:nvPr/>
        </p:nvSpPr>
        <p:spPr>
          <a:xfrm xmlns:a="http://schemas.openxmlformats.org/drawingml/2006/main" rot="8691948">
            <a:off x="7381875" y="3714750"/>
            <a:ext cx="1572346"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5" name="">
            <a:extLst xmlns:a="http://schemas.openxmlformats.org/drawingml/2006/main">
              <a:ext uri="{FF2B5EF4-FFF2-40B4-BE49-F238E27FC236}">
                <a16:creationId xmlns:a16="http://schemas.microsoft.com/office/drawing/2014/main" id="{1C8DC3BD-67EE-4162-9AD1-539804720DDD}"/>
              </a:ext>
            </a:extLst>
          </p:cNvPr>
          <p:cNvSpPr>
            <a:spLocks xmlns:a="http://schemas.openxmlformats.org/drawingml/2006/main" noGrp="1"/>
          </p:cNvSpPr>
          <p:nvPr/>
        </p:nvSpPr>
        <p:spPr>
          <a:xfrm xmlns:a="http://schemas.openxmlformats.org/drawingml/2006/main" rot="14091948">
            <a:off x="6000750" y="4533900"/>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56" name="">
            <a:extLst xmlns:a="http://schemas.openxmlformats.org/drawingml/2006/main">
              <a:ext uri="{FF2B5EF4-FFF2-40B4-BE49-F238E27FC236}">
                <a16:creationId xmlns:a16="http://schemas.microsoft.com/office/drawing/2014/main" id="{AD824C2E-F8E0-4984-848F-0BA4ED005704}"/>
              </a:ext>
            </a:extLst>
          </p:cNvPr>
          <p:cNvSpPr>
            <a:spLocks xmlns:a="http://schemas.openxmlformats.org/drawingml/2006/main" noGrp="1"/>
          </p:cNvSpPr>
          <p:nvPr/>
        </p:nvSpPr>
        <p:spPr>
          <a:xfrm xmlns:a="http://schemas.openxmlformats.org/drawingml/2006/main" rot="10035283">
            <a:off x="10096500" y="3714750"/>
            <a:ext cx="4101561" cy="4762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7" name="">
            <a:extLst xmlns:a="http://schemas.openxmlformats.org/drawingml/2006/main">
              <a:ext uri="{FF2B5EF4-FFF2-40B4-BE49-F238E27FC236}">
                <a16:creationId xmlns:a16="http://schemas.microsoft.com/office/drawing/2014/main" id="{B3ED3B09-6116-401E-AFEB-9D774FAC31BA}"/>
              </a:ext>
            </a:extLst>
          </p:cNvPr>
          <p:cNvSpPr>
            <a:spLocks xmlns:a="http://schemas.openxmlformats.org/drawingml/2006/main" noGrp="1"/>
          </p:cNvSpPr>
          <p:nvPr/>
        </p:nvSpPr>
        <p:spPr>
          <a:xfrm xmlns:a="http://schemas.openxmlformats.org/drawingml/2006/main" rot="15435283">
            <a:off x="6000750" y="4533900"/>
            <a:ext cx="190500" cy="171450"/>
          </a:xfrm>
          <a:prstGeom xmlns:a="http://schemas.openxmlformats.org/drawingml/2006/main" prst="triangle">
            <a:avLst/>
          </a:prstGeom>
          <a:solidFill xmlns:a="http://schemas.openxmlformats.org/drawingml/2006/main">
            <a:srgbClr val="2276E3"/>
          </a:solidFill>
          <a:ln xmlns:a="http://schemas.openxmlformats.org/drawingml/2006/main" w="0">
            <a:solidFill>
              <a:srgbClr val="2276E3"/>
            </a:solidFill>
          </a:ln>
        </p:spPr>
      </p:sp>
      <p:sp>
        <p:nvSpPr>
          <p:cNvPr id="58" name="">
            <a:extLst xmlns:a="http://schemas.openxmlformats.org/drawingml/2006/main">
              <a:ext uri="{FF2B5EF4-FFF2-40B4-BE49-F238E27FC236}">
                <a16:creationId xmlns:a16="http://schemas.microsoft.com/office/drawing/2014/main" id="{DBD5E31E-5732-46FB-AEA7-C020CA758BF0}"/>
              </a:ext>
            </a:extLst>
          </p:cNvPr>
          <p:cNvSpPr>
            <a:spLocks xmlns:a="http://schemas.openxmlformats.org/drawingml/2006/main" noGrp="1"/>
          </p:cNvSpPr>
          <p:nvPr/>
        </p:nvSpPr>
        <p:spPr>
          <a:xfrm xmlns:a="http://schemas.openxmlformats.org/drawingml/2006/main">
            <a:off x="4762500" y="4619625"/>
            <a:ext cx="26670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2276E3"/>
            </a:solidFill>
          </a:ln>
        </p:spPr>
      </p:sp>
      <p:sp>
        <p:nvSpPr>
          <p:cNvPr id="59" name="">
            <a:extLst xmlns:a="http://schemas.openxmlformats.org/drawingml/2006/main">
              <a:ext uri="{FF2B5EF4-FFF2-40B4-BE49-F238E27FC236}">
                <a16:creationId xmlns:a16="http://schemas.microsoft.com/office/drawing/2014/main" id="{B2D0CB6C-16E9-46FC-AC54-52F0A2774A34}"/>
              </a:ext>
            </a:extLst>
          </p:cNvPr>
          <p:cNvSpPr>
            <a:spLocks xmlns:a="http://schemas.openxmlformats.org/drawingml/2006/main" noGrp="1"/>
          </p:cNvSpPr>
          <p:nvPr/>
        </p:nvSpPr>
        <p:spPr>
          <a:xfrm xmlns:a="http://schemas.openxmlformats.org/drawingml/2006/main">
            <a:off x="4762500" y="4619625"/>
            <a:ext cx="66675" cy="9525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60" name="">
            <a:extLst xmlns:a="http://schemas.openxmlformats.org/drawingml/2006/main">
              <a:ext uri="{FF2B5EF4-FFF2-40B4-BE49-F238E27FC236}">
                <a16:creationId xmlns:a16="http://schemas.microsoft.com/office/drawing/2014/main" id="{F3A232DE-A948-46EF-9DC7-ED75FDA201F1}"/>
              </a:ext>
            </a:extLst>
          </p:cNvPr>
          <p:cNvSpPr>
            <a:spLocks xmlns:a="http://schemas.openxmlformats.org/drawingml/2006/main" noGrp="1"/>
          </p:cNvSpPr>
          <p:nvPr/>
        </p:nvSpPr>
        <p:spPr>
          <a:xfrm xmlns:a="http://schemas.openxmlformats.org/drawingml/2006/main">
            <a:off x="4924425" y="4695825"/>
            <a:ext cx="2400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INTEGRITY-JOINED</a:t>
            </a:r>
          </a:p>
          <a:p xmlns:a="http://schemas.openxmlformats.org/drawingml/2006/main">
            <a:pPr algn="ctr">
              <a:defRPr sz="1350" b="1">
                <a:solidFill>
                  <a:srgbClr val="081426"/>
                </a:solidFill>
              </a:defRPr>
            </a:pPr>
            <a:r>
              <a:rPr sz="1350" b="1">
                <a:solidFill>
                  <a:srgbClr val="081426"/>
                </a:solidFill>
              </a:rPr>
              <a:t>RUN BUNDLE</a:t>
            </a:r>
          </a:p>
        </p:txBody>
      </p:sp>
    </p:spTree>
    <p:extLst>
      <p:ext uri="{BB962C8B-B14F-4D97-AF65-F5344CB8AC3E}">
        <p14:creationId xmlns:p14="http://schemas.microsoft.com/office/powerpoint/2010/main" val="1741971533"/>
      </p:ext>
    </p:extLst>
  </p:cSld>
</p:sld>
</file>

<file path=ppt/slides/slide2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D8F820D-E5A3-4CB0-9117-5C5B109D676D}"/>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3C1F2A25-0650-49E1-BBFB-C6A4D93977CC}"/>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1F661D92-DD2E-428F-930A-A185E9F5DD54}"/>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AB96DFCE-DDD4-4A07-BCCD-E3DCDDE13227}"/>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88F91CFC-D23C-4CFF-B3B2-9DA59497C513}"/>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77F82E9D-49FF-4856-A85F-3E9BED90369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7F41F7FF-5EC8-485B-A7E0-4E85750EA503}"/>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BD4D487B-09AF-4512-B1C0-D15BF2727104}"/>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C3521AF8-1C43-4F0D-A0E0-8930625E3A50}"/>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E70F9C41-BBED-439A-B4F9-4535491E126A}"/>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0E3CAF64-530E-4407-81A1-3FCF6FC527BD}"/>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73A050A7-AC83-4C8C-904A-7CDDEB3908B3}"/>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E1433CC0-418C-49FC-800B-429E9D31A33A}"/>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E15DBCBA-0C9A-4E3D-BAC8-491AC2CBD848}"/>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16221BCA-CC71-45D7-972B-5DFCF8E19728}"/>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EBF83A5F-E12D-4AC4-A2A6-72E95A0A2C4E}"/>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35425379-C47C-4C32-87A0-AA7DBE921B11}"/>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06539954-9A8D-4A57-B272-C87515EFC12A}"/>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D8FF2701-D18F-4964-8BF0-E0F596E75323}"/>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03363D72-6C65-49BD-A4CB-F9B790751C91}"/>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5A91B4B8-DF34-4EBB-919A-4088DB48726D}"/>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76897968-F080-4182-9CDA-13EBB391B147}"/>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8D8FBDA3-501B-41E9-9A49-5EDCB1AC379A}"/>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B1A5ECDB-CD79-4602-8E3B-ABC444BD7E3E}"/>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69219261-2309-43B9-933C-B7192B8F7821}"/>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01085403-6E99-4A0A-9E3F-CADB6F869C86}"/>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3BFFE0CA-A94D-4CBD-A1CA-D64984E2383A}"/>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06899585-D255-4B72-AE89-2ADBD8B0A043}"/>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41B63A91-28D3-40D7-BD98-8F19E9E3B41F}"/>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CFEA20EC-D150-46E4-A82A-219C3E1531BA}"/>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19B9B374-63CC-4AB2-A88C-7B3DE68EC57E}"/>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07A62621-9EEF-4ED6-9B57-F94B7786990D}"/>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8BDBD31B-F0C1-43F5-80B4-DACE874664A6}"/>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The same request produces a modeled permit / permit / deny comparison</a:t>
            </a:r>
          </a:p>
        </p:txBody>
      </p:sp>
      <p:sp>
        <p:nvSpPr>
          <p:cNvPr id="34" name="">
            <a:extLst xmlns:a="http://schemas.openxmlformats.org/drawingml/2006/main">
              <a:ext uri="{FF2B5EF4-FFF2-40B4-BE49-F238E27FC236}">
                <a16:creationId xmlns:a16="http://schemas.microsoft.com/office/drawing/2014/main" id="{90451463-25E7-4EA5-B6A1-8F371BD30266}"/>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7</a:t>
            </a:r>
          </a:p>
        </p:txBody>
      </p:sp>
      <p:sp>
        <p:nvSpPr>
          <p:cNvPr id="35" name="">
            <a:extLst xmlns:a="http://schemas.openxmlformats.org/drawingml/2006/main">
              <a:ext uri="{FF2B5EF4-FFF2-40B4-BE49-F238E27FC236}">
                <a16:creationId xmlns:a16="http://schemas.microsoft.com/office/drawing/2014/main" id="{BD23EEF0-1EA4-4956-A6EF-E3E1AA69C95C}"/>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6" name="">
            <a:extLst xmlns:a="http://schemas.openxmlformats.org/drawingml/2006/main">
              <a:ext uri="{FF2B5EF4-FFF2-40B4-BE49-F238E27FC236}">
                <a16:creationId xmlns:a16="http://schemas.microsoft.com/office/drawing/2014/main" id="{2DB0A53B-85CB-45C8-99B5-45053B86B229}"/>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V3A MODELED — V3B-1 PENDING</a:t>
            </a:r>
          </a:p>
        </p:txBody>
      </p:sp>
      <p:sp>
        <p:nvSpPr>
          <p:cNvPr id="37" name="">
            <a:extLst xmlns:a="http://schemas.openxmlformats.org/drawingml/2006/main">
              <a:ext uri="{FF2B5EF4-FFF2-40B4-BE49-F238E27FC236}">
                <a16:creationId xmlns:a16="http://schemas.microsoft.com/office/drawing/2014/main" id="{451D08B9-A67D-4C13-A307-1BE520407B97}"/>
              </a:ext>
            </a:extLst>
          </p:cNvPr>
          <p:cNvSpPr>
            <a:spLocks xmlns:a="http://schemas.openxmlformats.org/drawingml/2006/main" noGrp="1"/>
          </p:cNvSpPr>
          <p:nvPr/>
        </p:nvSpPr>
        <p:spPr>
          <a:xfrm xmlns:a="http://schemas.openxmlformats.org/drawingml/2006/main">
            <a:off x="857250" y="2047875"/>
            <a:ext cx="3048000"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4288">
            <a:solidFill>
              <a:srgbClr val="2276E3"/>
            </a:solidFill>
          </a:ln>
        </p:spPr>
      </p:sp>
      <p:sp>
        <p:nvSpPr>
          <p:cNvPr id="38" name="">
            <a:extLst xmlns:a="http://schemas.openxmlformats.org/drawingml/2006/main">
              <a:ext uri="{FF2B5EF4-FFF2-40B4-BE49-F238E27FC236}">
                <a16:creationId xmlns:a16="http://schemas.microsoft.com/office/drawing/2014/main" id="{EEE47C0D-9A7A-4C43-8235-1C215AC66E42}"/>
              </a:ext>
            </a:extLst>
          </p:cNvPr>
          <p:cNvSpPr>
            <a:spLocks xmlns:a="http://schemas.openxmlformats.org/drawingml/2006/main" noGrp="1"/>
          </p:cNvSpPr>
          <p:nvPr/>
        </p:nvSpPr>
        <p:spPr>
          <a:xfrm xmlns:a="http://schemas.openxmlformats.org/drawingml/2006/main">
            <a:off x="857250" y="2047875"/>
            <a:ext cx="66675" cy="7143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39" name="">
            <a:extLst xmlns:a="http://schemas.openxmlformats.org/drawingml/2006/main">
              <a:ext uri="{FF2B5EF4-FFF2-40B4-BE49-F238E27FC236}">
                <a16:creationId xmlns:a16="http://schemas.microsoft.com/office/drawing/2014/main" id="{ED2746C2-7011-48C4-AF49-3C358C91FF71}"/>
              </a:ext>
            </a:extLst>
          </p:cNvPr>
          <p:cNvSpPr>
            <a:spLocks xmlns:a="http://schemas.openxmlformats.org/drawingml/2006/main" noGrp="1"/>
          </p:cNvSpPr>
          <p:nvPr/>
        </p:nvSpPr>
        <p:spPr>
          <a:xfrm xmlns:a="http://schemas.openxmlformats.org/drawingml/2006/main">
            <a:off x="1019175" y="2124075"/>
            <a:ext cx="2781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KTP baseline</a:t>
            </a:r>
          </a:p>
        </p:txBody>
      </p:sp>
      <p:sp>
        <p:nvSpPr>
          <p:cNvPr id="40" name="">
            <a:extLst xmlns:a="http://schemas.openxmlformats.org/drawingml/2006/main">
              <a:ext uri="{FF2B5EF4-FFF2-40B4-BE49-F238E27FC236}">
                <a16:creationId xmlns:a16="http://schemas.microsoft.com/office/drawing/2014/main" id="{6F226EAB-6AC1-4152-909B-D96428DB5E32}"/>
              </a:ext>
            </a:extLst>
          </p:cNvPr>
          <p:cNvSpPr>
            <a:spLocks xmlns:a="http://schemas.openxmlformats.org/drawingml/2006/main" noGrp="1"/>
          </p:cNvSpPr>
          <p:nvPr/>
        </p:nvSpPr>
        <p:spPr>
          <a:xfrm xmlns:a="http://schemas.openxmlformats.org/drawingml/2006/main">
            <a:off x="857250" y="30003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100" b="1">
                <a:solidFill>
                  <a:srgbClr val="2F9B69"/>
                </a:solidFill>
              </a:defRPr>
            </a:pPr>
            <a:r>
              <a:rPr sz="2100" b="1">
                <a:solidFill>
                  <a:srgbClr val="2F9B69"/>
                </a:solidFill>
              </a:rPr>
              <a:t>PERMIT</a:t>
            </a:r>
          </a:p>
        </p:txBody>
      </p:sp>
      <p:sp>
        <p:nvSpPr>
          <p:cNvPr id="41" name="">
            <a:extLst xmlns:a="http://schemas.openxmlformats.org/drawingml/2006/main">
              <a:ext uri="{FF2B5EF4-FFF2-40B4-BE49-F238E27FC236}">
                <a16:creationId xmlns:a16="http://schemas.microsoft.com/office/drawing/2014/main" id="{BD0D19BD-B1BF-4D8E-AA9B-7AB306510A06}"/>
              </a:ext>
            </a:extLst>
          </p:cNvPr>
          <p:cNvSpPr>
            <a:spLocks xmlns:a="http://schemas.openxmlformats.org/drawingml/2006/main" noGrp="1"/>
          </p:cNvSpPr>
          <p:nvPr/>
        </p:nvSpPr>
        <p:spPr>
          <a:xfrm xmlns:a="http://schemas.openxmlformats.org/drawingml/2006/main">
            <a:off x="857250" y="36671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37465B"/>
                </a:solidFill>
              </a:defRPr>
            </a:pPr>
            <a:r>
              <a:rPr sz="1650" b="1">
                <a:solidFill>
                  <a:srgbClr val="37465B"/>
                </a:solidFill>
              </a:rPr>
              <a:t>200  /  target 1</a:t>
            </a:r>
          </a:p>
        </p:txBody>
      </p:sp>
      <p:sp>
        <p:nvSpPr>
          <p:cNvPr id="42" name="">
            <a:extLst xmlns:a="http://schemas.openxmlformats.org/drawingml/2006/main">
              <a:ext uri="{FF2B5EF4-FFF2-40B4-BE49-F238E27FC236}">
                <a16:creationId xmlns:a16="http://schemas.microsoft.com/office/drawing/2014/main" id="{AB456700-3CA8-4556-996F-F24B0DD24198}"/>
              </a:ext>
            </a:extLst>
          </p:cNvPr>
          <p:cNvSpPr>
            <a:spLocks xmlns:a="http://schemas.openxmlformats.org/drawingml/2006/main" noGrp="1"/>
          </p:cNvSpPr>
          <p:nvPr/>
        </p:nvSpPr>
        <p:spPr>
          <a:xfrm xmlns:a="http://schemas.openxmlformats.org/drawingml/2006/main">
            <a:off x="4572000" y="2047875"/>
            <a:ext cx="3048000"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0F1EB076-4053-411D-B745-AFD495F99BB6}"/>
              </a:ext>
            </a:extLst>
          </p:cNvPr>
          <p:cNvSpPr>
            <a:spLocks xmlns:a="http://schemas.openxmlformats.org/drawingml/2006/main" noGrp="1"/>
          </p:cNvSpPr>
          <p:nvPr/>
        </p:nvSpPr>
        <p:spPr>
          <a:xfrm xmlns:a="http://schemas.openxmlformats.org/drawingml/2006/main">
            <a:off x="4572000" y="2047875"/>
            <a:ext cx="66675" cy="7143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4" name="">
            <a:extLst xmlns:a="http://schemas.openxmlformats.org/drawingml/2006/main">
              <a:ext uri="{FF2B5EF4-FFF2-40B4-BE49-F238E27FC236}">
                <a16:creationId xmlns:a16="http://schemas.microsoft.com/office/drawing/2014/main" id="{74BC0F3A-6D6C-4F7D-B1DA-B1E2D32DFC61}"/>
              </a:ext>
            </a:extLst>
          </p:cNvPr>
          <p:cNvSpPr>
            <a:spLocks xmlns:a="http://schemas.openxmlformats.org/drawingml/2006/main" noGrp="1"/>
          </p:cNvSpPr>
          <p:nvPr/>
        </p:nvSpPr>
        <p:spPr>
          <a:xfrm xmlns:a="http://schemas.openxmlformats.org/drawingml/2006/main">
            <a:off x="4733925" y="2124075"/>
            <a:ext cx="2781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KTP + benign local</a:t>
            </a:r>
          </a:p>
        </p:txBody>
      </p:sp>
      <p:sp>
        <p:nvSpPr>
          <p:cNvPr id="45" name="">
            <a:extLst xmlns:a="http://schemas.openxmlformats.org/drawingml/2006/main">
              <a:ext uri="{FF2B5EF4-FFF2-40B4-BE49-F238E27FC236}">
                <a16:creationId xmlns:a16="http://schemas.microsoft.com/office/drawing/2014/main" id="{2168A350-010A-4D68-B20A-5415E3399B1D}"/>
              </a:ext>
            </a:extLst>
          </p:cNvPr>
          <p:cNvSpPr>
            <a:spLocks xmlns:a="http://schemas.openxmlformats.org/drawingml/2006/main" noGrp="1"/>
          </p:cNvSpPr>
          <p:nvPr/>
        </p:nvSpPr>
        <p:spPr>
          <a:xfrm xmlns:a="http://schemas.openxmlformats.org/drawingml/2006/main">
            <a:off x="4572000" y="30003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100" b="1">
                <a:solidFill>
                  <a:srgbClr val="2F9B69"/>
                </a:solidFill>
              </a:defRPr>
            </a:pPr>
            <a:r>
              <a:rPr sz="2100" b="1">
                <a:solidFill>
                  <a:srgbClr val="2F9B69"/>
                </a:solidFill>
              </a:rPr>
              <a:t>PERMIT</a:t>
            </a:r>
          </a:p>
        </p:txBody>
      </p:sp>
      <p:sp>
        <p:nvSpPr>
          <p:cNvPr id="46" name="">
            <a:extLst xmlns:a="http://schemas.openxmlformats.org/drawingml/2006/main">
              <a:ext uri="{FF2B5EF4-FFF2-40B4-BE49-F238E27FC236}">
                <a16:creationId xmlns:a16="http://schemas.microsoft.com/office/drawing/2014/main" id="{39A3B952-49BB-4035-A76E-9B52CD062224}"/>
              </a:ext>
            </a:extLst>
          </p:cNvPr>
          <p:cNvSpPr>
            <a:spLocks xmlns:a="http://schemas.openxmlformats.org/drawingml/2006/main" noGrp="1"/>
          </p:cNvSpPr>
          <p:nvPr/>
        </p:nvSpPr>
        <p:spPr>
          <a:xfrm xmlns:a="http://schemas.openxmlformats.org/drawingml/2006/main">
            <a:off x="4572000" y="36671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37465B"/>
                </a:solidFill>
              </a:defRPr>
            </a:pPr>
            <a:r>
              <a:rPr sz="1650" b="1">
                <a:solidFill>
                  <a:srgbClr val="37465B"/>
                </a:solidFill>
              </a:rPr>
              <a:t>200  /  target 1</a:t>
            </a:r>
          </a:p>
        </p:txBody>
      </p:sp>
      <p:sp>
        <p:nvSpPr>
          <p:cNvPr id="47" name="">
            <a:extLst xmlns:a="http://schemas.openxmlformats.org/drawingml/2006/main">
              <a:ext uri="{FF2B5EF4-FFF2-40B4-BE49-F238E27FC236}">
                <a16:creationId xmlns:a16="http://schemas.microsoft.com/office/drawing/2014/main" id="{EB004A50-6925-4B58-92C7-AD35A4B0C675}"/>
              </a:ext>
            </a:extLst>
          </p:cNvPr>
          <p:cNvSpPr>
            <a:spLocks xmlns:a="http://schemas.openxmlformats.org/drawingml/2006/main" noGrp="1"/>
          </p:cNvSpPr>
          <p:nvPr/>
        </p:nvSpPr>
        <p:spPr>
          <a:xfrm xmlns:a="http://schemas.openxmlformats.org/drawingml/2006/main">
            <a:off x="8286750" y="2047875"/>
            <a:ext cx="3048000"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4288">
            <a:solidFill>
              <a:srgbClr val="2276E3"/>
            </a:solidFill>
          </a:ln>
        </p:spPr>
      </p:sp>
      <p:sp>
        <p:nvSpPr>
          <p:cNvPr id="48" name="">
            <a:extLst xmlns:a="http://schemas.openxmlformats.org/drawingml/2006/main">
              <a:ext uri="{FF2B5EF4-FFF2-40B4-BE49-F238E27FC236}">
                <a16:creationId xmlns:a16="http://schemas.microsoft.com/office/drawing/2014/main" id="{50A0E7FD-14AD-4541-AB33-8C518312D281}"/>
              </a:ext>
            </a:extLst>
          </p:cNvPr>
          <p:cNvSpPr>
            <a:spLocks xmlns:a="http://schemas.openxmlformats.org/drawingml/2006/main" noGrp="1"/>
          </p:cNvSpPr>
          <p:nvPr/>
        </p:nvSpPr>
        <p:spPr>
          <a:xfrm xmlns:a="http://schemas.openxmlformats.org/drawingml/2006/main">
            <a:off x="8286750" y="2047875"/>
            <a:ext cx="66675" cy="7143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9" name="">
            <a:extLst xmlns:a="http://schemas.openxmlformats.org/drawingml/2006/main">
              <a:ext uri="{FF2B5EF4-FFF2-40B4-BE49-F238E27FC236}">
                <a16:creationId xmlns:a16="http://schemas.microsoft.com/office/drawing/2014/main" id="{FBE0CA35-A240-4067-A7B2-042DD9625F5E}"/>
              </a:ext>
            </a:extLst>
          </p:cNvPr>
          <p:cNvSpPr>
            <a:spLocks xmlns:a="http://schemas.openxmlformats.org/drawingml/2006/main" noGrp="1"/>
          </p:cNvSpPr>
          <p:nvPr/>
        </p:nvSpPr>
        <p:spPr>
          <a:xfrm xmlns:a="http://schemas.openxmlformats.org/drawingml/2006/main">
            <a:off x="8448675" y="2124075"/>
            <a:ext cx="2781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KTP + divergence</a:t>
            </a:r>
          </a:p>
        </p:txBody>
      </p:sp>
      <p:sp>
        <p:nvSpPr>
          <p:cNvPr id="50" name="">
            <a:extLst xmlns:a="http://schemas.openxmlformats.org/drawingml/2006/main">
              <a:ext uri="{FF2B5EF4-FFF2-40B4-BE49-F238E27FC236}">
                <a16:creationId xmlns:a16="http://schemas.microsoft.com/office/drawing/2014/main" id="{7B705F0E-64D8-4274-8408-DECCEEF38A09}"/>
              </a:ext>
            </a:extLst>
          </p:cNvPr>
          <p:cNvSpPr>
            <a:spLocks xmlns:a="http://schemas.openxmlformats.org/drawingml/2006/main" noGrp="1"/>
          </p:cNvSpPr>
          <p:nvPr/>
        </p:nvSpPr>
        <p:spPr>
          <a:xfrm xmlns:a="http://schemas.openxmlformats.org/drawingml/2006/main">
            <a:off x="8286750" y="30003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100" b="1">
                <a:solidFill>
                  <a:srgbClr val="D7473F"/>
                </a:solidFill>
              </a:defRPr>
            </a:pPr>
            <a:r>
              <a:rPr sz="2100" b="1">
                <a:solidFill>
                  <a:srgbClr val="D7473F"/>
                </a:solidFill>
              </a:rPr>
              <a:t>DENY</a:t>
            </a:r>
          </a:p>
        </p:txBody>
      </p:sp>
      <p:sp>
        <p:nvSpPr>
          <p:cNvPr id="51" name="">
            <a:extLst xmlns:a="http://schemas.openxmlformats.org/drawingml/2006/main">
              <a:ext uri="{FF2B5EF4-FFF2-40B4-BE49-F238E27FC236}">
                <a16:creationId xmlns:a16="http://schemas.microsoft.com/office/drawing/2014/main" id="{6390D5D4-CE14-4123-8EAC-C6482A640738}"/>
              </a:ext>
            </a:extLst>
          </p:cNvPr>
          <p:cNvSpPr>
            <a:spLocks xmlns:a="http://schemas.openxmlformats.org/drawingml/2006/main" noGrp="1"/>
          </p:cNvSpPr>
          <p:nvPr/>
        </p:nvSpPr>
        <p:spPr>
          <a:xfrm xmlns:a="http://schemas.openxmlformats.org/drawingml/2006/main">
            <a:off x="8286750" y="36671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37465B"/>
                </a:solidFill>
              </a:defRPr>
            </a:pPr>
            <a:r>
              <a:rPr sz="1650" b="1">
                <a:solidFill>
                  <a:srgbClr val="37465B"/>
                </a:solidFill>
              </a:rPr>
              <a:t>403  /  target 0</a:t>
            </a:r>
          </a:p>
        </p:txBody>
      </p:sp>
      <p:sp>
        <p:nvSpPr>
          <p:cNvPr id="52" name="">
            <a:extLst xmlns:a="http://schemas.openxmlformats.org/drawingml/2006/main">
              <a:ext uri="{FF2B5EF4-FFF2-40B4-BE49-F238E27FC236}">
                <a16:creationId xmlns:a16="http://schemas.microsoft.com/office/drawing/2014/main" id="{5306CAE5-8C67-4789-8BF8-0BA544B7D1F4}"/>
              </a:ext>
            </a:extLst>
          </p:cNvPr>
          <p:cNvSpPr>
            <a:spLocks xmlns:a="http://schemas.openxmlformats.org/drawingml/2006/main" noGrp="1"/>
          </p:cNvSpPr>
          <p:nvPr/>
        </p:nvSpPr>
        <p:spPr>
          <a:xfrm xmlns:a="http://schemas.openxmlformats.org/drawingml/2006/main">
            <a:off x="2476500" y="47625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081426"/>
                </a:solidFill>
              </a:defRPr>
            </a:pPr>
            <a:r>
              <a:rPr sz="1800" b="1">
                <a:solidFill>
                  <a:srgbClr val="081426"/>
                </a:solidFill>
              </a:rPr>
              <a:t>Decision  →  Envoy HTTP effect  →  target marker</a:t>
            </a:r>
          </a:p>
        </p:txBody>
      </p:sp>
    </p:spTree>
    <p:extLst>
      <p:ext uri="{BB962C8B-B14F-4D97-AF65-F5344CB8AC3E}">
        <p14:creationId xmlns:p14="http://schemas.microsoft.com/office/powerpoint/2010/main" val="309548327"/>
      </p:ext>
    </p:extLst>
  </p:cSld>
</p:sld>
</file>

<file path=ppt/slides/slide2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186A077B-30E2-46D7-B30F-4AB31685EF5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68262500-309C-4FEC-841D-3E05A47A8CDA}"/>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67F6DF59-760E-4931-B8BE-795B3F4E0724}"/>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081C5CBA-BBFF-4A43-B7C1-61D7C339BC3A}"/>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8AFB2CBF-0FCF-4906-8BF0-28BD87D2679B}"/>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E105A2B8-1427-465A-90E5-C57E19FC03CA}"/>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EC478BD2-1D1E-40B8-A643-A3A0A60D582B}"/>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23B1A92A-90B4-4D71-8817-0A73D769DE6A}"/>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FAF42B79-0F1D-4FD5-A1DB-2045BBE5536E}"/>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856C6B36-D37E-46A4-8DDD-92EDB5557931}"/>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EC1E7EF8-7D3D-440F-A388-436EC427F107}"/>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CD444A2C-1D86-486C-B958-9FA7B569B3CD}"/>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942E119F-D9FD-48A9-963C-4B5394B34E9A}"/>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0EFCB7A5-BA1B-4857-A1FE-6DB294F5BF9B}"/>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342B8F33-938D-49D1-B859-CF5518EE742E}"/>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78DBB841-1FEF-4CEC-B9B8-6922DA91ABD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D4B41F71-0431-459D-AFBA-AFCE4D79EF20}"/>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EA03C9A5-75B1-4FA7-9503-9804815A9FF4}"/>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6FD227D0-C091-4163-9A54-A38B7905A72A}"/>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9F188548-9BB4-460D-8D5F-2CBB550A3C69}"/>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31DE9394-B53C-42C2-9E3D-B0B2C703665A}"/>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55D2F8B2-7EB6-4863-95BD-97FD1E6714D1}"/>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11341A71-B33D-46B6-BC14-CA0323978CFF}"/>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7DE37818-2A1B-4549-A328-8E73299B862A}"/>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EC06C452-0E48-45F2-914B-262127127D4A}"/>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EF775878-3F30-49D5-AE08-4B38918E194F}"/>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D2E4BA64-D3DF-4169-B2DD-2FDDC9AA4D67}"/>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673FCC71-6CDF-41C2-A00F-FC6C2A6F47BE}"/>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8DB4AF4D-E467-489C-9B22-774509426A64}"/>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D2AC5FDE-6200-413C-9D36-FF5E97C235B7}"/>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8D2E1440-CE8B-4A02-9137-5F06A8E9140F}"/>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6012621E-4FC1-4B4D-B675-DB8ADEBCEA65}"/>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A65A4F3D-2536-450B-85C6-9B6FC9B3E849}"/>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The third track isolates fresh reducing-only local divergence</a:t>
            </a:r>
          </a:p>
        </p:txBody>
      </p:sp>
      <p:sp>
        <p:nvSpPr>
          <p:cNvPr id="34" name="">
            <a:extLst xmlns:a="http://schemas.openxmlformats.org/drawingml/2006/main">
              <a:ext uri="{FF2B5EF4-FFF2-40B4-BE49-F238E27FC236}">
                <a16:creationId xmlns:a16="http://schemas.microsoft.com/office/drawing/2014/main" id="{13663EE0-206A-4717-8256-1CE2DD523BB7}"/>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7A</a:t>
            </a:r>
          </a:p>
        </p:txBody>
      </p:sp>
      <p:sp>
        <p:nvSpPr>
          <p:cNvPr id="35" name="">
            <a:extLst xmlns:a="http://schemas.openxmlformats.org/drawingml/2006/main">
              <a:ext uri="{FF2B5EF4-FFF2-40B4-BE49-F238E27FC236}">
                <a16:creationId xmlns:a16="http://schemas.microsoft.com/office/drawing/2014/main" id="{0A5C23EE-D78A-47AE-83F8-318A21E93B49}"/>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64B650E8-AD53-47E5-9D77-E1080547D48E}"/>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E2FE61EA-1EF8-4452-A5A2-7041A942A547}"/>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MODELED PROCESS CONTRACT</a:t>
            </a:r>
          </a:p>
        </p:txBody>
      </p:sp>
      <p:sp>
        <p:nvSpPr>
          <p:cNvPr id="38" name="">
            <a:extLst xmlns:a="http://schemas.openxmlformats.org/drawingml/2006/main">
              <a:ext uri="{FF2B5EF4-FFF2-40B4-BE49-F238E27FC236}">
                <a16:creationId xmlns:a16="http://schemas.microsoft.com/office/drawing/2014/main" id="{DEF141A5-ACC4-4689-92A7-86F82E818D19}"/>
              </a:ext>
            </a:extLst>
          </p:cNvPr>
          <p:cNvSpPr>
            <a:spLocks xmlns:a="http://schemas.openxmlformats.org/drawingml/2006/main" noGrp="1"/>
          </p:cNvSpPr>
          <p:nvPr/>
        </p:nvSpPr>
        <p:spPr>
          <a:xfrm xmlns:a="http://schemas.openxmlformats.org/drawingml/2006/main">
            <a:off x="80962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00" b="1">
                <a:solidFill>
                  <a:srgbClr val="D7473F"/>
                </a:solidFill>
              </a:defRPr>
            </a:pPr>
            <a:r>
              <a:rPr sz="1800" b="1">
                <a:solidFill>
                  <a:srgbClr val="D7473F"/>
                </a:solidFill>
              </a:rPr>
              <a:t>TRACKS 1 + 2</a:t>
            </a:r>
          </a:p>
        </p:txBody>
      </p:sp>
      <p:sp>
        <p:nvSpPr>
          <p:cNvPr id="39" name="">
            <a:extLst xmlns:a="http://schemas.openxmlformats.org/drawingml/2006/main">
              <a:ext uri="{FF2B5EF4-FFF2-40B4-BE49-F238E27FC236}">
                <a16:creationId xmlns:a16="http://schemas.microsoft.com/office/drawing/2014/main" id="{8B7216F2-A36D-4651-A5AA-F75AE6CFDFA5}"/>
              </a:ext>
            </a:extLst>
          </p:cNvPr>
          <p:cNvSpPr>
            <a:spLocks xmlns:a="http://schemas.openxmlformats.org/drawingml/2006/main" noGrp="1"/>
          </p:cNvSpPr>
          <p:nvPr/>
        </p:nvSpPr>
        <p:spPr>
          <a:xfrm xmlns:a="http://schemas.openxmlformats.org/drawingml/2006/main">
            <a:off x="66198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00" b="1">
                <a:solidFill>
                  <a:srgbClr val="2276E3"/>
                </a:solidFill>
              </a:defRPr>
            </a:pPr>
            <a:r>
              <a:rPr sz="1800" b="1">
                <a:solidFill>
                  <a:srgbClr val="2276E3"/>
                </a:solidFill>
              </a:rPr>
              <a:t>TRACK 3</a:t>
            </a:r>
          </a:p>
        </p:txBody>
      </p:sp>
      <p:sp>
        <p:nvSpPr>
          <p:cNvPr id="40" name="">
            <a:extLst xmlns:a="http://schemas.openxmlformats.org/drawingml/2006/main">
              <a:ext uri="{FF2B5EF4-FFF2-40B4-BE49-F238E27FC236}">
                <a16:creationId xmlns:a16="http://schemas.microsoft.com/office/drawing/2014/main" id="{7B8CD465-7A32-410B-A041-D8B57781964F}"/>
              </a:ext>
            </a:extLst>
          </p:cNvPr>
          <p:cNvSpPr>
            <a:spLocks xmlns:a="http://schemas.openxmlformats.org/drawingml/2006/main" noGrp="1"/>
          </p:cNvSpPr>
          <p:nvPr/>
        </p:nvSpPr>
        <p:spPr>
          <a:xfrm xmlns:a="http://schemas.openxmlformats.org/drawingml/2006/main">
            <a:off x="6096000" y="1571625"/>
            <a:ext cx="19050" cy="3810000"/>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41" name="">
            <a:extLst xmlns:a="http://schemas.openxmlformats.org/drawingml/2006/main">
              <a:ext uri="{FF2B5EF4-FFF2-40B4-BE49-F238E27FC236}">
                <a16:creationId xmlns:a16="http://schemas.microsoft.com/office/drawing/2014/main" id="{DEFBD01C-6F4A-4610-A6DE-F4B4E34A5FE2}"/>
              </a:ext>
            </a:extLst>
          </p:cNvPr>
          <p:cNvSpPr>
            <a:spLocks xmlns:a="http://schemas.openxmlformats.org/drawingml/2006/main" noGrp="1"/>
          </p:cNvSpPr>
          <p:nvPr/>
        </p:nvSpPr>
        <p:spPr>
          <a:xfrm xmlns:a="http://schemas.openxmlformats.org/drawingml/2006/main">
            <a:off x="809625" y="233362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D7473F"/>
            </a:solidFill>
          </a:ln>
        </p:spPr>
      </p:sp>
      <p:sp>
        <p:nvSpPr>
          <p:cNvPr id="42" name="">
            <a:extLst xmlns:a="http://schemas.openxmlformats.org/drawingml/2006/main">
              <a:ext uri="{FF2B5EF4-FFF2-40B4-BE49-F238E27FC236}">
                <a16:creationId xmlns:a16="http://schemas.microsoft.com/office/drawing/2014/main" id="{C89B397C-E026-4CF0-ABBB-D788A71D2CA5}"/>
              </a:ext>
            </a:extLst>
          </p:cNvPr>
          <p:cNvSpPr>
            <a:spLocks xmlns:a="http://schemas.openxmlformats.org/drawingml/2006/main" noGrp="1"/>
          </p:cNvSpPr>
          <p:nvPr/>
        </p:nvSpPr>
        <p:spPr>
          <a:xfrm xmlns:a="http://schemas.openxmlformats.org/drawingml/2006/main">
            <a:off x="809625" y="2333625"/>
            <a:ext cx="66675" cy="6477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3" name="">
            <a:extLst xmlns:a="http://schemas.openxmlformats.org/drawingml/2006/main">
              <a:ext uri="{FF2B5EF4-FFF2-40B4-BE49-F238E27FC236}">
                <a16:creationId xmlns:a16="http://schemas.microsoft.com/office/drawing/2014/main" id="{4CA6133A-174E-4C26-AB5C-621EE5A10BCC}"/>
              </a:ext>
            </a:extLst>
          </p:cNvPr>
          <p:cNvSpPr>
            <a:spLocks xmlns:a="http://schemas.openxmlformats.org/drawingml/2006/main" noGrp="1"/>
          </p:cNvSpPr>
          <p:nvPr/>
        </p:nvSpPr>
        <p:spPr>
          <a:xfrm xmlns:a="http://schemas.openxmlformats.org/drawingml/2006/main">
            <a:off x="971550" y="240982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KTP state fresh</a:t>
            </a:r>
          </a:p>
        </p:txBody>
      </p:sp>
      <p:sp>
        <p:nvSpPr>
          <p:cNvPr id="44" name="">
            <a:extLst xmlns:a="http://schemas.openxmlformats.org/drawingml/2006/main">
              <a:ext uri="{FF2B5EF4-FFF2-40B4-BE49-F238E27FC236}">
                <a16:creationId xmlns:a16="http://schemas.microsoft.com/office/drawing/2014/main" id="{0AE65B9C-94E0-4AFD-8488-5DA9C825215F}"/>
              </a:ext>
            </a:extLst>
          </p:cNvPr>
          <p:cNvSpPr>
            <a:spLocks xmlns:a="http://schemas.openxmlformats.org/drawingml/2006/main" noGrp="1"/>
          </p:cNvSpPr>
          <p:nvPr/>
        </p:nvSpPr>
        <p:spPr>
          <a:xfrm xmlns:a="http://schemas.openxmlformats.org/drawingml/2006/main">
            <a:off x="809625" y="3238500"/>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D7473F"/>
            </a:solidFill>
          </a:ln>
        </p:spPr>
      </p:sp>
      <p:sp>
        <p:nvSpPr>
          <p:cNvPr id="45" name="">
            <a:extLst xmlns:a="http://schemas.openxmlformats.org/drawingml/2006/main">
              <a:ext uri="{FF2B5EF4-FFF2-40B4-BE49-F238E27FC236}">
                <a16:creationId xmlns:a16="http://schemas.microsoft.com/office/drawing/2014/main" id="{ADEDDE66-9FA6-41D6-B44A-7F30145AEEEA}"/>
              </a:ext>
            </a:extLst>
          </p:cNvPr>
          <p:cNvSpPr>
            <a:spLocks xmlns:a="http://schemas.openxmlformats.org/drawingml/2006/main" noGrp="1"/>
          </p:cNvSpPr>
          <p:nvPr/>
        </p:nvSpPr>
        <p:spPr>
          <a:xfrm xmlns:a="http://schemas.openxmlformats.org/drawingml/2006/main">
            <a:off x="809625" y="3238500"/>
            <a:ext cx="66675" cy="6477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6" name="">
            <a:extLst xmlns:a="http://schemas.openxmlformats.org/drawingml/2006/main">
              <a:ext uri="{FF2B5EF4-FFF2-40B4-BE49-F238E27FC236}">
                <a16:creationId xmlns:a16="http://schemas.microsoft.com/office/drawing/2014/main" id="{838CAB2F-18F2-49F5-BE11-86D849574245}"/>
              </a:ext>
            </a:extLst>
          </p:cNvPr>
          <p:cNvSpPr>
            <a:spLocks xmlns:a="http://schemas.openxmlformats.org/drawingml/2006/main" noGrp="1"/>
          </p:cNvSpPr>
          <p:nvPr/>
        </p:nvSpPr>
        <p:spPr>
          <a:xfrm xmlns:a="http://schemas.openxmlformats.org/drawingml/2006/main">
            <a:off x="971550" y="3314700"/>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no reducing divergence</a:t>
            </a:r>
          </a:p>
        </p:txBody>
      </p:sp>
      <p:sp>
        <p:nvSpPr>
          <p:cNvPr id="47" name="">
            <a:extLst xmlns:a="http://schemas.openxmlformats.org/drawingml/2006/main">
              <a:ext uri="{FF2B5EF4-FFF2-40B4-BE49-F238E27FC236}">
                <a16:creationId xmlns:a16="http://schemas.microsoft.com/office/drawing/2014/main" id="{0E1EB638-8228-4C6C-A2C5-EE6CA5FCD619}"/>
              </a:ext>
            </a:extLst>
          </p:cNvPr>
          <p:cNvSpPr>
            <a:spLocks xmlns:a="http://schemas.openxmlformats.org/drawingml/2006/main" noGrp="1"/>
          </p:cNvSpPr>
          <p:nvPr/>
        </p:nvSpPr>
        <p:spPr>
          <a:xfrm xmlns:a="http://schemas.openxmlformats.org/drawingml/2006/main">
            <a:off x="809625" y="414337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D7473F"/>
            </a:solidFill>
          </a:ln>
        </p:spPr>
      </p:sp>
      <p:sp>
        <p:nvSpPr>
          <p:cNvPr id="48" name="">
            <a:extLst xmlns:a="http://schemas.openxmlformats.org/drawingml/2006/main">
              <a:ext uri="{FF2B5EF4-FFF2-40B4-BE49-F238E27FC236}">
                <a16:creationId xmlns:a16="http://schemas.microsoft.com/office/drawing/2014/main" id="{356554C2-4E24-43B3-A275-6C0DA0DD3324}"/>
              </a:ext>
            </a:extLst>
          </p:cNvPr>
          <p:cNvSpPr>
            <a:spLocks xmlns:a="http://schemas.openxmlformats.org/drawingml/2006/main" noGrp="1"/>
          </p:cNvSpPr>
          <p:nvPr/>
        </p:nvSpPr>
        <p:spPr>
          <a:xfrm xmlns:a="http://schemas.openxmlformats.org/drawingml/2006/main">
            <a:off x="809625" y="4143375"/>
            <a:ext cx="66675" cy="64770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9" name="">
            <a:extLst xmlns:a="http://schemas.openxmlformats.org/drawingml/2006/main">
              <a:ext uri="{FF2B5EF4-FFF2-40B4-BE49-F238E27FC236}">
                <a16:creationId xmlns:a16="http://schemas.microsoft.com/office/drawing/2014/main" id="{4C02F9CC-D51A-4103-8CDA-E074881C02B6}"/>
              </a:ext>
            </a:extLst>
          </p:cNvPr>
          <p:cNvSpPr>
            <a:spLocks xmlns:a="http://schemas.openxmlformats.org/drawingml/2006/main" noGrp="1"/>
          </p:cNvSpPr>
          <p:nvPr/>
        </p:nvSpPr>
        <p:spPr>
          <a:xfrm xmlns:a="http://schemas.openxmlformats.org/drawingml/2006/main">
            <a:off x="971550" y="421957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decision: permit</a:t>
            </a:r>
          </a:p>
        </p:txBody>
      </p:sp>
      <p:sp>
        <p:nvSpPr>
          <p:cNvPr id="50" name="">
            <a:extLst xmlns:a="http://schemas.openxmlformats.org/drawingml/2006/main">
              <a:ext uri="{FF2B5EF4-FFF2-40B4-BE49-F238E27FC236}">
                <a16:creationId xmlns:a16="http://schemas.microsoft.com/office/drawing/2014/main" id="{2E7FE79B-4AE5-4E9D-9D8C-B00DD8E70335}"/>
              </a:ext>
            </a:extLst>
          </p:cNvPr>
          <p:cNvSpPr>
            <a:spLocks xmlns:a="http://schemas.openxmlformats.org/drawingml/2006/main" noGrp="1"/>
          </p:cNvSpPr>
          <p:nvPr/>
        </p:nvSpPr>
        <p:spPr>
          <a:xfrm xmlns:a="http://schemas.openxmlformats.org/drawingml/2006/main">
            <a:off x="6619875" y="233362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2276E3"/>
            </a:solidFill>
          </a:ln>
        </p:spPr>
      </p:sp>
      <p:sp>
        <p:nvSpPr>
          <p:cNvPr id="51" name="">
            <a:extLst xmlns:a="http://schemas.openxmlformats.org/drawingml/2006/main">
              <a:ext uri="{FF2B5EF4-FFF2-40B4-BE49-F238E27FC236}">
                <a16:creationId xmlns:a16="http://schemas.microsoft.com/office/drawing/2014/main" id="{B0BD7F02-5660-4B88-87B9-8DA13E0C33CF}"/>
              </a:ext>
            </a:extLst>
          </p:cNvPr>
          <p:cNvSpPr>
            <a:spLocks xmlns:a="http://schemas.openxmlformats.org/drawingml/2006/main" noGrp="1"/>
          </p:cNvSpPr>
          <p:nvPr/>
        </p:nvSpPr>
        <p:spPr>
          <a:xfrm xmlns:a="http://schemas.openxmlformats.org/drawingml/2006/main">
            <a:off x="6619875" y="2333625"/>
            <a:ext cx="66675" cy="6477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2" name="">
            <a:extLst xmlns:a="http://schemas.openxmlformats.org/drawingml/2006/main">
              <a:ext uri="{FF2B5EF4-FFF2-40B4-BE49-F238E27FC236}">
                <a16:creationId xmlns:a16="http://schemas.microsoft.com/office/drawing/2014/main" id="{BD813583-7DE7-4923-AD01-23C1AD72D8D7}"/>
              </a:ext>
            </a:extLst>
          </p:cNvPr>
          <p:cNvSpPr>
            <a:spLocks xmlns:a="http://schemas.openxmlformats.org/drawingml/2006/main" noGrp="1"/>
          </p:cNvSpPr>
          <p:nvPr/>
        </p:nvSpPr>
        <p:spPr>
          <a:xfrm xmlns:a="http://schemas.openxmlformats.org/drawingml/2006/main">
            <a:off x="6781800" y="240982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same normalized request</a:t>
            </a:r>
          </a:p>
        </p:txBody>
      </p:sp>
      <p:sp>
        <p:nvSpPr>
          <p:cNvPr id="53" name="">
            <a:extLst xmlns:a="http://schemas.openxmlformats.org/drawingml/2006/main">
              <a:ext uri="{FF2B5EF4-FFF2-40B4-BE49-F238E27FC236}">
                <a16:creationId xmlns:a16="http://schemas.microsoft.com/office/drawing/2014/main" id="{7CAE5D9B-E88E-417C-9BA1-461F1F4973A9}"/>
              </a:ext>
            </a:extLst>
          </p:cNvPr>
          <p:cNvSpPr>
            <a:spLocks xmlns:a="http://schemas.openxmlformats.org/drawingml/2006/main" noGrp="1"/>
          </p:cNvSpPr>
          <p:nvPr/>
        </p:nvSpPr>
        <p:spPr>
          <a:xfrm xmlns:a="http://schemas.openxmlformats.org/drawingml/2006/main">
            <a:off x="6619875" y="3238500"/>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2276E3"/>
            </a:solidFill>
          </a:ln>
        </p:spPr>
      </p:sp>
      <p:sp>
        <p:nvSpPr>
          <p:cNvPr id="54" name="">
            <a:extLst xmlns:a="http://schemas.openxmlformats.org/drawingml/2006/main">
              <a:ext uri="{FF2B5EF4-FFF2-40B4-BE49-F238E27FC236}">
                <a16:creationId xmlns:a16="http://schemas.microsoft.com/office/drawing/2014/main" id="{402C8A68-4975-4F8A-B01D-3F79A22D488C}"/>
              </a:ext>
            </a:extLst>
          </p:cNvPr>
          <p:cNvSpPr>
            <a:spLocks xmlns:a="http://schemas.openxmlformats.org/drawingml/2006/main" noGrp="1"/>
          </p:cNvSpPr>
          <p:nvPr/>
        </p:nvSpPr>
        <p:spPr>
          <a:xfrm xmlns:a="http://schemas.openxmlformats.org/drawingml/2006/main">
            <a:off x="6619875" y="3238500"/>
            <a:ext cx="66675" cy="6477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5" name="">
            <a:extLst xmlns:a="http://schemas.openxmlformats.org/drawingml/2006/main">
              <a:ext uri="{FF2B5EF4-FFF2-40B4-BE49-F238E27FC236}">
                <a16:creationId xmlns:a16="http://schemas.microsoft.com/office/drawing/2014/main" id="{91B5E35A-0541-4D33-9752-77C3F525EF9D}"/>
              </a:ext>
            </a:extLst>
          </p:cNvPr>
          <p:cNvSpPr>
            <a:spLocks xmlns:a="http://schemas.openxmlformats.org/drawingml/2006/main" noGrp="1"/>
          </p:cNvSpPr>
          <p:nvPr/>
        </p:nvSpPr>
        <p:spPr>
          <a:xfrm xmlns:a="http://schemas.openxmlformats.org/drawingml/2006/main">
            <a:off x="6781800" y="3314700"/>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fresh local divergence</a:t>
            </a:r>
          </a:p>
        </p:txBody>
      </p:sp>
      <p:sp>
        <p:nvSpPr>
          <p:cNvPr id="56" name="">
            <a:extLst xmlns:a="http://schemas.openxmlformats.org/drawingml/2006/main">
              <a:ext uri="{FF2B5EF4-FFF2-40B4-BE49-F238E27FC236}">
                <a16:creationId xmlns:a16="http://schemas.microsoft.com/office/drawing/2014/main" id="{E067EE68-9F13-4929-AFA9-9D87DCB438DD}"/>
              </a:ext>
            </a:extLst>
          </p:cNvPr>
          <p:cNvSpPr>
            <a:spLocks xmlns:a="http://schemas.openxmlformats.org/drawingml/2006/main" noGrp="1"/>
          </p:cNvSpPr>
          <p:nvPr/>
        </p:nvSpPr>
        <p:spPr>
          <a:xfrm xmlns:a="http://schemas.openxmlformats.org/drawingml/2006/main">
            <a:off x="6619875" y="4143375"/>
            <a:ext cx="4762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4288">
            <a:solidFill>
              <a:srgbClr val="2276E3"/>
            </a:solidFill>
          </a:ln>
        </p:spPr>
      </p:sp>
      <p:sp>
        <p:nvSpPr>
          <p:cNvPr id="57" name="">
            <a:extLst xmlns:a="http://schemas.openxmlformats.org/drawingml/2006/main">
              <a:ext uri="{FF2B5EF4-FFF2-40B4-BE49-F238E27FC236}">
                <a16:creationId xmlns:a16="http://schemas.microsoft.com/office/drawing/2014/main" id="{B1895B60-0452-41E7-B01B-B66AA1D0360E}"/>
              </a:ext>
            </a:extLst>
          </p:cNvPr>
          <p:cNvSpPr>
            <a:spLocks xmlns:a="http://schemas.openxmlformats.org/drawingml/2006/main" noGrp="1"/>
          </p:cNvSpPr>
          <p:nvPr/>
        </p:nvSpPr>
        <p:spPr>
          <a:xfrm xmlns:a="http://schemas.openxmlformats.org/drawingml/2006/main">
            <a:off x="6619875" y="4143375"/>
            <a:ext cx="66675" cy="64770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8" name="">
            <a:extLst xmlns:a="http://schemas.openxmlformats.org/drawingml/2006/main">
              <a:ext uri="{FF2B5EF4-FFF2-40B4-BE49-F238E27FC236}">
                <a16:creationId xmlns:a16="http://schemas.microsoft.com/office/drawing/2014/main" id="{73B12D5D-AD29-4EDA-9455-8CEC1A39654F}"/>
              </a:ext>
            </a:extLst>
          </p:cNvPr>
          <p:cNvSpPr>
            <a:spLocks xmlns:a="http://schemas.openxmlformats.org/drawingml/2006/main" noGrp="1"/>
          </p:cNvSpPr>
          <p:nvPr/>
        </p:nvSpPr>
        <p:spPr>
          <a:xfrm xmlns:a="http://schemas.openxmlformats.org/drawingml/2006/main">
            <a:off x="6781800" y="4219575"/>
            <a:ext cx="449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decision: deny</a:t>
            </a:r>
          </a:p>
        </p:txBody>
      </p:sp>
      <p:sp>
        <p:nvSpPr>
          <p:cNvPr id="59" name="">
            <a:extLst xmlns:a="http://schemas.openxmlformats.org/drawingml/2006/main">
              <a:ext uri="{FF2B5EF4-FFF2-40B4-BE49-F238E27FC236}">
                <a16:creationId xmlns:a16="http://schemas.microsoft.com/office/drawing/2014/main" id="{414CC24D-48AE-4CB1-AD90-442015890328}"/>
              </a:ext>
            </a:extLst>
          </p:cNvPr>
          <p:cNvSpPr>
            <a:spLocks xmlns:a="http://schemas.openxmlformats.org/drawingml/2006/main" noGrp="1"/>
          </p:cNvSpPr>
          <p:nvPr/>
        </p:nvSpPr>
        <p:spPr>
          <a:xfrm xmlns:a="http://schemas.openxmlformats.org/drawingml/2006/main">
            <a:off x="2190750" y="547687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081426"/>
                </a:solidFill>
              </a:defRPr>
            </a:pPr>
            <a:r>
              <a:rPr sz="1650" b="1">
                <a:solidFill>
                  <a:srgbClr val="081426"/>
                </a:solidFill>
              </a:rPr>
              <a:t>HTTP status is an Envoy effect—not a KTP wire decision.</a:t>
            </a:r>
          </a:p>
        </p:txBody>
      </p:sp>
    </p:spTree>
    <p:extLst>
      <p:ext uri="{BB962C8B-B14F-4D97-AF65-F5344CB8AC3E}">
        <p14:creationId xmlns:p14="http://schemas.microsoft.com/office/powerpoint/2010/main" val="2009588739"/>
      </p:ext>
    </p:extLst>
  </p:cSld>
</p:sld>
</file>

<file path=ppt/slides/slide2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A3A05E8C-1458-4D23-A4FE-5375935568F6}"/>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EF06E1C1-9D22-4BD6-B465-AC55D0FBE257}"/>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BB8780D9-507B-446B-8F1C-FDD37ABB46D8}"/>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DE2A6BEA-24F5-4BC7-8A11-F049A3E7CE5F}"/>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92D3032C-B252-4F7E-B558-F7F3B5B3445A}"/>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B8A29306-3B26-4230-B23D-062F04067AAB}"/>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D5A21AEF-7FF7-442C-86A1-D07E71EB65A8}"/>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C4C981C2-EFAB-4881-9360-957F7CAEB033}"/>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1D6EB00D-9042-4CDC-8D9A-02B6F705018D}"/>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C19EC1B4-6F85-42B1-8A55-4714649FAC9E}"/>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7150C129-DB85-4F31-AD9C-1E43C7EFE7B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F9905BEF-A757-4F25-B6EC-B3158F2C4D8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219DD592-5E84-4A39-A405-23D26E1218FA}"/>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772E92D2-37E5-4F60-B19B-BA090401B3B8}"/>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BAB16D3B-F794-4E83-8BB2-D080BB8E32BC}"/>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34E83A3F-8A72-4096-A4A3-9993DB2B0E65}"/>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98ECF566-83AA-49E6-A996-61CDD5CA3AAA}"/>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7A513A7A-5156-49B5-A348-F2CB97094932}"/>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D8424879-6260-4CD9-B87B-A6281250F735}"/>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0AD05E19-EA20-4A2A-812A-6CEB23827938}"/>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3470A041-9176-4461-94C5-C4E115221DB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06E93EE9-98AF-43D7-AD69-856100E4DB02}"/>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90AE4C9C-B84F-4CC1-94B0-8C2775CBA5BD}"/>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6FAC8147-447B-4FFF-9DF7-BF8096014688}"/>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D3E9D837-0CAF-4D23-A930-EC9CA07CF4EE}"/>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1D92FEA0-66B3-4313-8FA1-3D038E597946}"/>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CB8B689A-1B4D-49DC-9826-66A1E075ACE6}"/>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5283E621-CCF1-4616-8F2B-370BE8CD03F6}"/>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5DB84558-5768-4A18-9560-6DBC848D385E}"/>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26EEFCB3-A567-4849-ABA7-4D2FE5929A0F}"/>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473A824A-8E6B-47DD-B539-D831FFEE869D}"/>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0279E162-3F62-4553-ACBD-5D380E938B25}"/>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7108ACBC-F103-47F1-986C-792BA2D12D46}"/>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A live result requires exact readiness, one-shot execution, and teardown</a:t>
            </a:r>
          </a:p>
        </p:txBody>
      </p:sp>
      <p:sp>
        <p:nvSpPr>
          <p:cNvPr id="34" name="">
            <a:extLst xmlns:a="http://schemas.openxmlformats.org/drawingml/2006/main">
              <a:ext uri="{FF2B5EF4-FFF2-40B4-BE49-F238E27FC236}">
                <a16:creationId xmlns:a16="http://schemas.microsoft.com/office/drawing/2014/main" id="{7CA624F0-37ED-46D1-B5DC-E1E4B7DE6B40}"/>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7B</a:t>
            </a:r>
          </a:p>
        </p:txBody>
      </p:sp>
      <p:sp>
        <p:nvSpPr>
          <p:cNvPr id="35" name="">
            <a:extLst xmlns:a="http://schemas.openxmlformats.org/drawingml/2006/main">
              <a:ext uri="{FF2B5EF4-FFF2-40B4-BE49-F238E27FC236}">
                <a16:creationId xmlns:a16="http://schemas.microsoft.com/office/drawing/2014/main" id="{EE5D50FC-785C-4416-AEF0-88087017E97C}"/>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E1B54A20-0898-4BA9-84EE-E3868C0CF619}"/>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7" name="">
            <a:extLst xmlns:a="http://schemas.openxmlformats.org/drawingml/2006/main">
              <a:ext uri="{FF2B5EF4-FFF2-40B4-BE49-F238E27FC236}">
                <a16:creationId xmlns:a16="http://schemas.microsoft.com/office/drawing/2014/main" id="{EA916523-0A75-40CA-A1FE-45EB729CCD4A}"/>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PENDING VALIDATION</a:t>
            </a:r>
          </a:p>
        </p:txBody>
      </p:sp>
      <p:sp>
        <p:nvSpPr>
          <p:cNvPr id="38" name="">
            <a:extLst xmlns:a="http://schemas.openxmlformats.org/drawingml/2006/main">
              <a:ext uri="{FF2B5EF4-FFF2-40B4-BE49-F238E27FC236}">
                <a16:creationId xmlns:a16="http://schemas.microsoft.com/office/drawing/2014/main" id="{991A97C8-6691-47BF-9682-46205A3C1F54}"/>
              </a:ext>
            </a:extLst>
          </p:cNvPr>
          <p:cNvSpPr>
            <a:spLocks xmlns:a="http://schemas.openxmlformats.org/drawingml/2006/main" noGrp="1"/>
          </p:cNvSpPr>
          <p:nvPr/>
        </p:nvSpPr>
        <p:spPr>
          <a:xfrm xmlns:a="http://schemas.openxmlformats.org/drawingml/2006/main">
            <a:off x="619125" y="2762250"/>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39" name="">
            <a:extLst xmlns:a="http://schemas.openxmlformats.org/drawingml/2006/main">
              <a:ext uri="{FF2B5EF4-FFF2-40B4-BE49-F238E27FC236}">
                <a16:creationId xmlns:a16="http://schemas.microsoft.com/office/drawing/2014/main" id="{FF4E9CEB-E2B5-4725-8D9A-BACBDEEABF98}"/>
              </a:ext>
            </a:extLst>
          </p:cNvPr>
          <p:cNvSpPr>
            <a:spLocks xmlns:a="http://schemas.openxmlformats.org/drawingml/2006/main" noGrp="1"/>
          </p:cNvSpPr>
          <p:nvPr/>
        </p:nvSpPr>
        <p:spPr>
          <a:xfrm xmlns:a="http://schemas.openxmlformats.org/drawingml/2006/main">
            <a:off x="619125" y="2762250"/>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0" name="">
            <a:extLst xmlns:a="http://schemas.openxmlformats.org/drawingml/2006/main">
              <a:ext uri="{FF2B5EF4-FFF2-40B4-BE49-F238E27FC236}">
                <a16:creationId xmlns:a16="http://schemas.microsoft.com/office/drawing/2014/main" id="{B5540377-B883-40EB-BF83-BD425F1EA61D}"/>
              </a:ext>
            </a:extLst>
          </p:cNvPr>
          <p:cNvSpPr>
            <a:spLocks xmlns:a="http://schemas.openxmlformats.org/drawingml/2006/main" noGrp="1"/>
          </p:cNvSpPr>
          <p:nvPr/>
        </p:nvSpPr>
        <p:spPr>
          <a:xfrm xmlns:a="http://schemas.openxmlformats.org/drawingml/2006/main">
            <a:off x="781050" y="2838450"/>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preflight exact</a:t>
            </a:r>
          </a:p>
        </p:txBody>
      </p:sp>
      <p:sp>
        <p:nvSpPr>
          <p:cNvPr id="41" name="">
            <a:extLst xmlns:a="http://schemas.openxmlformats.org/drawingml/2006/main">
              <a:ext uri="{FF2B5EF4-FFF2-40B4-BE49-F238E27FC236}">
                <a16:creationId xmlns:a16="http://schemas.microsoft.com/office/drawing/2014/main" id="{46EB7994-C21A-4BFD-80E2-37E2F5D28DC9}"/>
              </a:ext>
            </a:extLst>
          </p:cNvPr>
          <p:cNvSpPr>
            <a:spLocks xmlns:a="http://schemas.openxmlformats.org/drawingml/2006/main" noGrp="1"/>
          </p:cNvSpPr>
          <p:nvPr/>
        </p:nvSpPr>
        <p:spPr>
          <a:xfrm xmlns:a="http://schemas.openxmlformats.org/drawingml/2006/main">
            <a:off x="2905125" y="2762250"/>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42" name="">
            <a:extLst xmlns:a="http://schemas.openxmlformats.org/drawingml/2006/main">
              <a:ext uri="{FF2B5EF4-FFF2-40B4-BE49-F238E27FC236}">
                <a16:creationId xmlns:a16="http://schemas.microsoft.com/office/drawing/2014/main" id="{24817AE9-F451-49C1-9FC1-9CD44A48889E}"/>
              </a:ext>
            </a:extLst>
          </p:cNvPr>
          <p:cNvSpPr>
            <a:spLocks xmlns:a="http://schemas.openxmlformats.org/drawingml/2006/main" noGrp="1"/>
          </p:cNvSpPr>
          <p:nvPr/>
        </p:nvSpPr>
        <p:spPr>
          <a:xfrm xmlns:a="http://schemas.openxmlformats.org/drawingml/2006/main">
            <a:off x="2905125" y="2762250"/>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3E9609EC-DF10-4214-8FE4-59FE89EF5DCA}"/>
              </a:ext>
            </a:extLst>
          </p:cNvPr>
          <p:cNvSpPr>
            <a:spLocks xmlns:a="http://schemas.openxmlformats.org/drawingml/2006/main" noGrp="1"/>
          </p:cNvSpPr>
          <p:nvPr/>
        </p:nvSpPr>
        <p:spPr>
          <a:xfrm xmlns:a="http://schemas.openxmlformats.org/drawingml/2006/main">
            <a:off x="3067050" y="2838450"/>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one-shot run</a:t>
            </a:r>
          </a:p>
        </p:txBody>
      </p:sp>
      <p:sp>
        <p:nvSpPr>
          <p:cNvPr id="44" name="">
            <a:extLst xmlns:a="http://schemas.openxmlformats.org/drawingml/2006/main">
              <a:ext uri="{FF2B5EF4-FFF2-40B4-BE49-F238E27FC236}">
                <a16:creationId xmlns:a16="http://schemas.microsoft.com/office/drawing/2014/main" id="{823C4364-34B1-42D8-BD74-74C3A76D9125}"/>
              </a:ext>
            </a:extLst>
          </p:cNvPr>
          <p:cNvSpPr>
            <a:spLocks xmlns:a="http://schemas.openxmlformats.org/drawingml/2006/main" noGrp="1"/>
          </p:cNvSpPr>
          <p:nvPr/>
        </p:nvSpPr>
        <p:spPr>
          <a:xfrm xmlns:a="http://schemas.openxmlformats.org/drawingml/2006/main">
            <a:off x="5191125" y="2762250"/>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45" name="">
            <a:extLst xmlns:a="http://schemas.openxmlformats.org/drawingml/2006/main">
              <a:ext uri="{FF2B5EF4-FFF2-40B4-BE49-F238E27FC236}">
                <a16:creationId xmlns:a16="http://schemas.microsoft.com/office/drawing/2014/main" id="{D6A65BAE-8749-4C62-B7F4-4C2993645168}"/>
              </a:ext>
            </a:extLst>
          </p:cNvPr>
          <p:cNvSpPr>
            <a:spLocks xmlns:a="http://schemas.openxmlformats.org/drawingml/2006/main" noGrp="1"/>
          </p:cNvSpPr>
          <p:nvPr/>
        </p:nvSpPr>
        <p:spPr>
          <a:xfrm xmlns:a="http://schemas.openxmlformats.org/drawingml/2006/main">
            <a:off x="5191125" y="2762250"/>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6" name="">
            <a:extLst xmlns:a="http://schemas.openxmlformats.org/drawingml/2006/main">
              <a:ext uri="{FF2B5EF4-FFF2-40B4-BE49-F238E27FC236}">
                <a16:creationId xmlns:a16="http://schemas.microsoft.com/office/drawing/2014/main" id="{5CB88344-D5B3-4AF2-A559-8F2340FDD028}"/>
              </a:ext>
            </a:extLst>
          </p:cNvPr>
          <p:cNvSpPr>
            <a:spLocks xmlns:a="http://schemas.openxmlformats.org/drawingml/2006/main" noGrp="1"/>
          </p:cNvSpPr>
          <p:nvPr/>
        </p:nvSpPr>
        <p:spPr>
          <a:xfrm xmlns:a="http://schemas.openxmlformats.org/drawingml/2006/main">
            <a:off x="5353050" y="2838450"/>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join evidence</a:t>
            </a:r>
          </a:p>
        </p:txBody>
      </p:sp>
      <p:sp>
        <p:nvSpPr>
          <p:cNvPr id="47" name="">
            <a:extLst xmlns:a="http://schemas.openxmlformats.org/drawingml/2006/main">
              <a:ext uri="{FF2B5EF4-FFF2-40B4-BE49-F238E27FC236}">
                <a16:creationId xmlns:a16="http://schemas.microsoft.com/office/drawing/2014/main" id="{67A71C7B-0BA1-45E8-83F5-022C169EF758}"/>
              </a:ext>
            </a:extLst>
          </p:cNvPr>
          <p:cNvSpPr>
            <a:spLocks xmlns:a="http://schemas.openxmlformats.org/drawingml/2006/main" noGrp="1"/>
          </p:cNvSpPr>
          <p:nvPr/>
        </p:nvSpPr>
        <p:spPr>
          <a:xfrm xmlns:a="http://schemas.openxmlformats.org/drawingml/2006/main">
            <a:off x="7477125" y="2762250"/>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D49A2A"/>
            </a:solidFill>
          </a:ln>
        </p:spPr>
      </p:sp>
      <p:sp>
        <p:nvSpPr>
          <p:cNvPr id="48" name="">
            <a:extLst xmlns:a="http://schemas.openxmlformats.org/drawingml/2006/main">
              <a:ext uri="{FF2B5EF4-FFF2-40B4-BE49-F238E27FC236}">
                <a16:creationId xmlns:a16="http://schemas.microsoft.com/office/drawing/2014/main" id="{DD3694A4-9F0E-43FA-B732-C96BA8C34951}"/>
              </a:ext>
            </a:extLst>
          </p:cNvPr>
          <p:cNvSpPr>
            <a:spLocks xmlns:a="http://schemas.openxmlformats.org/drawingml/2006/main" noGrp="1"/>
          </p:cNvSpPr>
          <p:nvPr/>
        </p:nvSpPr>
        <p:spPr>
          <a:xfrm xmlns:a="http://schemas.openxmlformats.org/drawingml/2006/main">
            <a:off x="7477125" y="2762250"/>
            <a:ext cx="66675" cy="904875"/>
          </a:xfrm>
          <a:prstGeom xmlns:a="http://schemas.openxmlformats.org/drawingml/2006/main" prst="rect">
            <a:avLst/>
          </a:prstGeom>
          <a:solidFill xmlns:a="http://schemas.openxmlformats.org/drawingml/2006/main">
            <a:srgbClr val="D49A2A"/>
          </a:solidFill>
          <a:ln xmlns:a="http://schemas.openxmlformats.org/drawingml/2006/main" w="14288">
            <a:solidFill>
              <a:srgbClr val="D49A2A"/>
            </a:solidFill>
          </a:ln>
        </p:spPr>
      </p:sp>
      <p:sp>
        <p:nvSpPr>
          <p:cNvPr id="49" name="">
            <a:extLst xmlns:a="http://schemas.openxmlformats.org/drawingml/2006/main">
              <a:ext uri="{FF2B5EF4-FFF2-40B4-BE49-F238E27FC236}">
                <a16:creationId xmlns:a16="http://schemas.microsoft.com/office/drawing/2014/main" id="{96B50ACB-49AE-4A28-B997-FE1035BBC3EC}"/>
              </a:ext>
            </a:extLst>
          </p:cNvPr>
          <p:cNvSpPr>
            <a:spLocks xmlns:a="http://schemas.openxmlformats.org/drawingml/2006/main" noGrp="1"/>
          </p:cNvSpPr>
          <p:nvPr/>
        </p:nvSpPr>
        <p:spPr>
          <a:xfrm xmlns:a="http://schemas.openxmlformats.org/drawingml/2006/main">
            <a:off x="7639050" y="2838450"/>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accept / reject</a:t>
            </a:r>
          </a:p>
        </p:txBody>
      </p:sp>
      <p:sp>
        <p:nvSpPr>
          <p:cNvPr id="50" name="">
            <a:extLst xmlns:a="http://schemas.openxmlformats.org/drawingml/2006/main">
              <a:ext uri="{FF2B5EF4-FFF2-40B4-BE49-F238E27FC236}">
                <a16:creationId xmlns:a16="http://schemas.microsoft.com/office/drawing/2014/main" id="{CFB17FF3-590A-49A9-A2AB-3381B7590CE5}"/>
              </a:ext>
            </a:extLst>
          </p:cNvPr>
          <p:cNvSpPr>
            <a:spLocks xmlns:a="http://schemas.openxmlformats.org/drawingml/2006/main" noGrp="1"/>
          </p:cNvSpPr>
          <p:nvPr/>
        </p:nvSpPr>
        <p:spPr>
          <a:xfrm xmlns:a="http://schemas.openxmlformats.org/drawingml/2006/main">
            <a:off x="9763125" y="2762250"/>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51" name="">
            <a:extLst xmlns:a="http://schemas.openxmlformats.org/drawingml/2006/main">
              <a:ext uri="{FF2B5EF4-FFF2-40B4-BE49-F238E27FC236}">
                <a16:creationId xmlns:a16="http://schemas.microsoft.com/office/drawing/2014/main" id="{6BD7AF39-A80C-4EC0-9E19-EEF7A8C22011}"/>
              </a:ext>
            </a:extLst>
          </p:cNvPr>
          <p:cNvSpPr>
            <a:spLocks xmlns:a="http://schemas.openxmlformats.org/drawingml/2006/main" noGrp="1"/>
          </p:cNvSpPr>
          <p:nvPr/>
        </p:nvSpPr>
        <p:spPr>
          <a:xfrm xmlns:a="http://schemas.openxmlformats.org/drawingml/2006/main">
            <a:off x="9763125" y="2762250"/>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52" name="">
            <a:extLst xmlns:a="http://schemas.openxmlformats.org/drawingml/2006/main">
              <a:ext uri="{FF2B5EF4-FFF2-40B4-BE49-F238E27FC236}">
                <a16:creationId xmlns:a16="http://schemas.microsoft.com/office/drawing/2014/main" id="{3EAF23A1-801C-4DE8-A86D-3510F1E33998}"/>
              </a:ext>
            </a:extLst>
          </p:cNvPr>
          <p:cNvSpPr>
            <a:spLocks xmlns:a="http://schemas.openxmlformats.org/drawingml/2006/main" noGrp="1"/>
          </p:cNvSpPr>
          <p:nvPr/>
        </p:nvSpPr>
        <p:spPr>
          <a:xfrm xmlns:a="http://schemas.openxmlformats.org/drawingml/2006/main">
            <a:off x="9925050" y="2838450"/>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teardown</a:t>
            </a:r>
          </a:p>
        </p:txBody>
      </p:sp>
      <p:sp>
        <p:nvSpPr>
          <p:cNvPr id="53" name="">
            <a:extLst xmlns:a="http://schemas.openxmlformats.org/drawingml/2006/main">
              <a:ext uri="{FF2B5EF4-FFF2-40B4-BE49-F238E27FC236}">
                <a16:creationId xmlns:a16="http://schemas.microsoft.com/office/drawing/2014/main" id="{C3C42F98-0764-45F8-9178-1CCFF09F5D7F}"/>
              </a:ext>
            </a:extLst>
          </p:cNvPr>
          <p:cNvSpPr>
            <a:spLocks xmlns:a="http://schemas.openxmlformats.org/drawingml/2006/main" noGrp="1"/>
          </p:cNvSpPr>
          <p:nvPr/>
        </p:nvSpPr>
        <p:spPr>
          <a:xfrm xmlns:a="http://schemas.openxmlformats.org/drawingml/2006/main" rot="0">
            <a:off x="2571750" y="3209925"/>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4" name="">
            <a:extLst xmlns:a="http://schemas.openxmlformats.org/drawingml/2006/main">
              <a:ext uri="{FF2B5EF4-FFF2-40B4-BE49-F238E27FC236}">
                <a16:creationId xmlns:a16="http://schemas.microsoft.com/office/drawing/2014/main" id="{790A0B46-6AE8-46AD-9596-5BD463489EA4}"/>
              </a:ext>
            </a:extLst>
          </p:cNvPr>
          <p:cNvSpPr>
            <a:spLocks xmlns:a="http://schemas.openxmlformats.org/drawingml/2006/main" noGrp="1"/>
          </p:cNvSpPr>
          <p:nvPr/>
        </p:nvSpPr>
        <p:spPr>
          <a:xfrm xmlns:a="http://schemas.openxmlformats.org/drawingml/2006/main" rot="5400000">
            <a:off x="2809875" y="312420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55" name="">
            <a:extLst xmlns:a="http://schemas.openxmlformats.org/drawingml/2006/main">
              <a:ext uri="{FF2B5EF4-FFF2-40B4-BE49-F238E27FC236}">
                <a16:creationId xmlns:a16="http://schemas.microsoft.com/office/drawing/2014/main" id="{0FA311CC-E583-4794-90EA-7F65C38C936B}"/>
              </a:ext>
            </a:extLst>
          </p:cNvPr>
          <p:cNvSpPr>
            <a:spLocks xmlns:a="http://schemas.openxmlformats.org/drawingml/2006/main" noGrp="1"/>
          </p:cNvSpPr>
          <p:nvPr/>
        </p:nvSpPr>
        <p:spPr>
          <a:xfrm xmlns:a="http://schemas.openxmlformats.org/drawingml/2006/main" rot="0">
            <a:off x="4857750" y="3209925"/>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6" name="">
            <a:extLst xmlns:a="http://schemas.openxmlformats.org/drawingml/2006/main">
              <a:ext uri="{FF2B5EF4-FFF2-40B4-BE49-F238E27FC236}">
                <a16:creationId xmlns:a16="http://schemas.microsoft.com/office/drawing/2014/main" id="{111D9CFC-0CCB-44A9-B724-28D6153B3A39}"/>
              </a:ext>
            </a:extLst>
          </p:cNvPr>
          <p:cNvSpPr>
            <a:spLocks xmlns:a="http://schemas.openxmlformats.org/drawingml/2006/main" noGrp="1"/>
          </p:cNvSpPr>
          <p:nvPr/>
        </p:nvSpPr>
        <p:spPr>
          <a:xfrm xmlns:a="http://schemas.openxmlformats.org/drawingml/2006/main" rot="5400000">
            <a:off x="5095875" y="312420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57" name="">
            <a:extLst xmlns:a="http://schemas.openxmlformats.org/drawingml/2006/main">
              <a:ext uri="{FF2B5EF4-FFF2-40B4-BE49-F238E27FC236}">
                <a16:creationId xmlns:a16="http://schemas.microsoft.com/office/drawing/2014/main" id="{A2691A86-11E2-452E-9D80-F9E9021DD300}"/>
              </a:ext>
            </a:extLst>
          </p:cNvPr>
          <p:cNvSpPr>
            <a:spLocks xmlns:a="http://schemas.openxmlformats.org/drawingml/2006/main" noGrp="1"/>
          </p:cNvSpPr>
          <p:nvPr/>
        </p:nvSpPr>
        <p:spPr>
          <a:xfrm xmlns:a="http://schemas.openxmlformats.org/drawingml/2006/main" rot="0">
            <a:off x="7143750" y="3209925"/>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8" name="">
            <a:extLst xmlns:a="http://schemas.openxmlformats.org/drawingml/2006/main">
              <a:ext uri="{FF2B5EF4-FFF2-40B4-BE49-F238E27FC236}">
                <a16:creationId xmlns:a16="http://schemas.microsoft.com/office/drawing/2014/main" id="{A856B20B-0DD2-47BB-84AD-C66DAAD6AE82}"/>
              </a:ext>
            </a:extLst>
          </p:cNvPr>
          <p:cNvSpPr>
            <a:spLocks xmlns:a="http://schemas.openxmlformats.org/drawingml/2006/main" noGrp="1"/>
          </p:cNvSpPr>
          <p:nvPr/>
        </p:nvSpPr>
        <p:spPr>
          <a:xfrm xmlns:a="http://schemas.openxmlformats.org/drawingml/2006/main" rot="5400000">
            <a:off x="7381875" y="312420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59" name="">
            <a:extLst xmlns:a="http://schemas.openxmlformats.org/drawingml/2006/main">
              <a:ext uri="{FF2B5EF4-FFF2-40B4-BE49-F238E27FC236}">
                <a16:creationId xmlns:a16="http://schemas.microsoft.com/office/drawing/2014/main" id="{BE072994-D2B4-4771-82EA-7FEAA86EFB03}"/>
              </a:ext>
            </a:extLst>
          </p:cNvPr>
          <p:cNvSpPr>
            <a:spLocks xmlns:a="http://schemas.openxmlformats.org/drawingml/2006/main" noGrp="1"/>
          </p:cNvSpPr>
          <p:nvPr/>
        </p:nvSpPr>
        <p:spPr>
          <a:xfrm xmlns:a="http://schemas.openxmlformats.org/drawingml/2006/main" rot="0">
            <a:off x="9429750" y="3209925"/>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0" name="">
            <a:extLst xmlns:a="http://schemas.openxmlformats.org/drawingml/2006/main">
              <a:ext uri="{FF2B5EF4-FFF2-40B4-BE49-F238E27FC236}">
                <a16:creationId xmlns:a16="http://schemas.microsoft.com/office/drawing/2014/main" id="{B7FF695E-A6B0-426E-8B10-E3EA24887888}"/>
              </a:ext>
            </a:extLst>
          </p:cNvPr>
          <p:cNvSpPr>
            <a:spLocks xmlns:a="http://schemas.openxmlformats.org/drawingml/2006/main" noGrp="1"/>
          </p:cNvSpPr>
          <p:nvPr/>
        </p:nvSpPr>
        <p:spPr>
          <a:xfrm xmlns:a="http://schemas.openxmlformats.org/drawingml/2006/main" rot="5400000">
            <a:off x="9667875" y="3124200"/>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1" name="">
            <a:extLst xmlns:a="http://schemas.openxmlformats.org/drawingml/2006/main">
              <a:ext uri="{FF2B5EF4-FFF2-40B4-BE49-F238E27FC236}">
                <a16:creationId xmlns:a16="http://schemas.microsoft.com/office/drawing/2014/main" id="{8DC3C8F0-7C1B-4F4E-94C4-4796DFB130D9}"/>
              </a:ext>
            </a:extLst>
          </p:cNvPr>
          <p:cNvSpPr>
            <a:spLocks xmlns:a="http://schemas.openxmlformats.org/drawingml/2006/main" noGrp="1"/>
          </p:cNvSpPr>
          <p:nvPr/>
        </p:nvSpPr>
        <p:spPr>
          <a:xfrm xmlns:a="http://schemas.openxmlformats.org/drawingml/2006/main">
            <a:off x="3333750" y="47625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025" b="1">
                <a:solidFill>
                  <a:srgbClr val="D7473F"/>
                </a:solidFill>
              </a:defRPr>
            </a:pPr>
            <a:r>
              <a:rPr sz="2025" b="1">
                <a:solidFill>
                  <a:srgbClr val="D7473F"/>
                </a:solidFill>
              </a:rPr>
              <a:t>No retries disguised as one run.</a:t>
            </a:r>
          </a:p>
        </p:txBody>
      </p:sp>
    </p:spTree>
    <p:extLst>
      <p:ext uri="{BB962C8B-B14F-4D97-AF65-F5344CB8AC3E}">
        <p14:creationId xmlns:p14="http://schemas.microsoft.com/office/powerpoint/2010/main" val="755850641"/>
      </p:ext>
    </p:extLst>
  </p:cSld>
</p:sld>
</file>

<file path=ppt/slides/slide2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838FF3D5-5A9C-4869-9189-B8C01BE3B16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6FE564BE-E934-46EE-83A9-7E2EBC77B453}"/>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81B84F31-B278-4712-95A3-F2277114327A}"/>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AA58E3A3-77EB-408E-8D25-8D48B2C521A4}"/>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EF0B26B5-63B1-453A-8D4B-1487DE33C741}"/>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5F0896D2-2026-4FCA-9400-DE8095CB582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6612444F-E7D4-47C2-8274-6F55E73B0CE2}"/>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8CFECC8B-3ABD-490B-9435-FE9497E6C90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DDE09871-B8F9-45CA-840C-4404E074C4C2}"/>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5126F5D3-AD84-4290-B149-43549FC09C0A}"/>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8B0EF939-DA7C-49AE-8D14-84B1FB9DF01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194F396A-1452-4C1A-B0D1-6A7C1AB22154}"/>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5DDFC407-3D4A-45FC-977C-B1533AA04AF0}"/>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44C44DFA-08AC-47BB-84F8-8B9B7FCF37E0}"/>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8C5E10F4-6E44-4B28-89C9-7E7D1F083676}"/>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0823B3D0-2473-417D-8C34-50CE83510056}"/>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9FCA42B5-7F92-45C8-BE8A-05C65DC5D8F9}"/>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2D884DCE-914F-4CD8-B3B7-FD5B2644E91A}"/>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34F407BF-11EA-4CAE-9695-BEDCC95F6538}"/>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B9025409-603F-4DCB-A12A-38B278285C74}"/>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6D942C12-1D8A-45F1-B00D-0105DF9984E9}"/>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5ACE5CBB-73A0-4AE1-84A1-C52F31D92054}"/>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823C7F8A-C481-4BB8-AB02-39D869FF3203}"/>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929087F2-7941-4409-95F4-D0B289346D01}"/>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647EC311-57BB-450A-A88C-CE96F5F810B3}"/>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A13A57AF-DF84-4DC5-B0E5-E5B5C556E98A}"/>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14757D79-BE5C-476F-8F03-7065A46C11C5}"/>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80CA5504-F7CB-42FA-A49B-AE61D2DB7900}"/>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F3B810CA-A343-4E4F-A0DD-4AC604A0F9AA}"/>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E152BD76-50AF-4CF3-A9BA-652F4215821A}"/>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76AE95EB-8CA2-4F31-9CFA-0D50638D540B}"/>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C81B0D9D-800A-497F-9B0E-7CED38A31514}"/>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456C8C74-D770-484D-A2D8-4C3713280163}"/>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The evidence ladder prevents the presentation from outrunning the project</a:t>
            </a:r>
          </a:p>
        </p:txBody>
      </p:sp>
      <p:sp>
        <p:nvSpPr>
          <p:cNvPr id="34" name="">
            <a:extLst xmlns:a="http://schemas.openxmlformats.org/drawingml/2006/main">
              <a:ext uri="{FF2B5EF4-FFF2-40B4-BE49-F238E27FC236}">
                <a16:creationId xmlns:a16="http://schemas.microsoft.com/office/drawing/2014/main" id="{131D12FF-354A-41EC-A2B1-5BFE70ED288A}"/>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8</a:t>
            </a:r>
          </a:p>
        </p:txBody>
      </p:sp>
      <p:sp>
        <p:nvSpPr>
          <p:cNvPr id="35" name="">
            <a:extLst xmlns:a="http://schemas.openxmlformats.org/drawingml/2006/main">
              <a:ext uri="{FF2B5EF4-FFF2-40B4-BE49-F238E27FC236}">
                <a16:creationId xmlns:a16="http://schemas.microsoft.com/office/drawing/2014/main" id="{7CC6901E-356F-462E-9611-AD3898C95ECF}"/>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6" name="">
            <a:extLst xmlns:a="http://schemas.openxmlformats.org/drawingml/2006/main">
              <a:ext uri="{FF2B5EF4-FFF2-40B4-BE49-F238E27FC236}">
                <a16:creationId xmlns:a16="http://schemas.microsoft.com/office/drawing/2014/main" id="{B3613F79-D3A0-4C13-9698-2AFAE3485729}"/>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EVIDENCE GOVERNANCE</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69a92e1841054620"/>
          <a:srcRect xmlns:a="http://schemas.openxmlformats.org/drawingml/2006/main" l="0" t="10438" r="0" b="10438"/>
          <a:stretch xmlns:a="http://schemas.openxmlformats.org/drawingml/2006/main">
            <a:fillRect l="0" t="0" r="0" b="0"/>
          </a:stretch>
        </p:blipFill>
        <p:spPr>
          <a:xfrm xmlns:a="http://schemas.openxmlformats.org/drawingml/2006/main">
            <a:off x="0" y="1428750"/>
            <a:ext cx="12192000" cy="54292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B5863FBD-6C89-4949-AEB4-26DFE8A37C1A}"/>
              </a:ext>
            </a:extLst>
          </p:cNvPr>
          <p:cNvSpPr>
            <a:spLocks xmlns:a="http://schemas.openxmlformats.org/drawingml/2006/main" noGrp="1"/>
          </p:cNvSpPr>
          <p:nvPr/>
        </p:nvSpPr>
        <p:spPr>
          <a:xfrm xmlns:a="http://schemas.openxmlformats.org/drawingml/2006/main">
            <a:off x="1047750" y="57150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2276E3"/>
                </a:solidFill>
              </a:defRPr>
            </a:pPr>
            <a:r>
              <a:rPr sz="1200" b="1">
                <a:solidFill>
                  <a:srgbClr val="2276E3"/>
                </a:solidFill>
              </a:rPr>
              <a:t>V1</a:t>
            </a:r>
          </a:p>
        </p:txBody>
      </p:sp>
      <p:sp>
        <p:nvSpPr>
          <p:cNvPr id="39" name="">
            <a:extLst xmlns:a="http://schemas.openxmlformats.org/drawingml/2006/main">
              <a:ext uri="{FF2B5EF4-FFF2-40B4-BE49-F238E27FC236}">
                <a16:creationId xmlns:a16="http://schemas.microsoft.com/office/drawing/2014/main" id="{0027836A-E374-4C5A-9AA2-BCBC274B1726}"/>
              </a:ext>
            </a:extLst>
          </p:cNvPr>
          <p:cNvSpPr>
            <a:spLocks xmlns:a="http://schemas.openxmlformats.org/drawingml/2006/main" noGrp="1"/>
          </p:cNvSpPr>
          <p:nvPr/>
        </p:nvSpPr>
        <p:spPr>
          <a:xfrm xmlns:a="http://schemas.openxmlformats.org/drawingml/2006/main">
            <a:off x="3143250" y="57150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2276E3"/>
                </a:solidFill>
              </a:defRPr>
            </a:pPr>
            <a:r>
              <a:rPr sz="1200" b="1">
                <a:solidFill>
                  <a:srgbClr val="2276E3"/>
                </a:solidFill>
              </a:rPr>
              <a:t>V2</a:t>
            </a:r>
          </a:p>
        </p:txBody>
      </p:sp>
      <p:sp>
        <p:nvSpPr>
          <p:cNvPr id="40" name="">
            <a:extLst xmlns:a="http://schemas.openxmlformats.org/drawingml/2006/main">
              <a:ext uri="{FF2B5EF4-FFF2-40B4-BE49-F238E27FC236}">
                <a16:creationId xmlns:a16="http://schemas.microsoft.com/office/drawing/2014/main" id="{2D7D4C6A-7DA7-49FD-B110-22DA6C60A4D0}"/>
              </a:ext>
            </a:extLst>
          </p:cNvPr>
          <p:cNvSpPr>
            <a:spLocks xmlns:a="http://schemas.openxmlformats.org/drawingml/2006/main" noGrp="1"/>
          </p:cNvSpPr>
          <p:nvPr/>
        </p:nvSpPr>
        <p:spPr>
          <a:xfrm xmlns:a="http://schemas.openxmlformats.org/drawingml/2006/main">
            <a:off x="5191125" y="57150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2276E3"/>
                </a:solidFill>
              </a:defRPr>
            </a:pPr>
            <a:r>
              <a:rPr sz="1200" b="1">
                <a:solidFill>
                  <a:srgbClr val="2276E3"/>
                </a:solidFill>
              </a:rPr>
              <a:t>V3A</a:t>
            </a:r>
          </a:p>
        </p:txBody>
      </p:sp>
      <p:sp>
        <p:nvSpPr>
          <p:cNvPr id="41" name="">
            <a:extLst xmlns:a="http://schemas.openxmlformats.org/drawingml/2006/main">
              <a:ext uri="{FF2B5EF4-FFF2-40B4-BE49-F238E27FC236}">
                <a16:creationId xmlns:a16="http://schemas.microsoft.com/office/drawing/2014/main" id="{202C74DE-5437-4255-B10B-5F6613115D85}"/>
              </a:ext>
            </a:extLst>
          </p:cNvPr>
          <p:cNvSpPr>
            <a:spLocks xmlns:a="http://schemas.openxmlformats.org/drawingml/2006/main" noGrp="1"/>
          </p:cNvSpPr>
          <p:nvPr/>
        </p:nvSpPr>
        <p:spPr>
          <a:xfrm xmlns:a="http://schemas.openxmlformats.org/drawingml/2006/main">
            <a:off x="7239000" y="5715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D49A2A"/>
                </a:solidFill>
              </a:defRPr>
            </a:pPr>
            <a:r>
              <a:rPr sz="1200" b="1">
                <a:solidFill>
                  <a:srgbClr val="D49A2A"/>
                </a:solidFill>
              </a:rPr>
              <a:t>V3B-1</a:t>
            </a:r>
          </a:p>
        </p:txBody>
      </p:sp>
      <p:sp>
        <p:nvSpPr>
          <p:cNvPr id="42" name="">
            <a:extLst xmlns:a="http://schemas.openxmlformats.org/drawingml/2006/main">
              <a:ext uri="{FF2B5EF4-FFF2-40B4-BE49-F238E27FC236}">
                <a16:creationId xmlns:a16="http://schemas.microsoft.com/office/drawing/2014/main" id="{B04DBF26-D2BD-43F4-A01D-11243CE58318}"/>
              </a:ext>
            </a:extLst>
          </p:cNvPr>
          <p:cNvSpPr>
            <a:spLocks xmlns:a="http://schemas.openxmlformats.org/drawingml/2006/main" noGrp="1"/>
          </p:cNvSpPr>
          <p:nvPr/>
        </p:nvSpPr>
        <p:spPr>
          <a:xfrm xmlns:a="http://schemas.openxmlformats.org/drawingml/2006/main">
            <a:off x="9953625" y="57150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00" b="1">
                <a:solidFill>
                  <a:srgbClr val="2F9B69"/>
                </a:solidFill>
              </a:defRPr>
            </a:pPr>
            <a:r>
              <a:rPr sz="1200" b="1">
                <a:solidFill>
                  <a:srgbClr val="2F9B69"/>
                </a:solidFill>
              </a:rPr>
              <a:t>V4</a:t>
            </a:r>
          </a:p>
        </p:txBody>
      </p:sp>
    </p:spTree>
    <p:extLst>
      <p:ext uri="{BB962C8B-B14F-4D97-AF65-F5344CB8AC3E}">
        <p14:creationId xmlns:p14="http://schemas.microsoft.com/office/powerpoint/2010/main" val="1870410858"/>
      </p:ext>
    </p:extLst>
  </p:cSld>
</p:sld>
</file>

<file path=ppt/slides/slide2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20C3F60C-4069-46A0-854C-6B97E2B7144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766A0187-8D10-498B-9966-F2D05F96C70C}"/>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F75E2337-D891-4E3A-9250-91FBB5B7D15C}"/>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92FAE889-D64B-4F6C-99A7-44313929C32C}"/>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0A9A224C-A5E5-4369-8204-CDFE119829F8}"/>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801BD92B-964D-4FDE-8064-498F4CE260EA}"/>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A8110C3B-1060-48B0-AD23-315AB210F56A}"/>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4534EEC6-0933-4A1D-9FF6-847FEB908B77}"/>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680C7BBB-1472-4452-879F-158364C91D61}"/>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609C42C1-A261-4348-BD5B-6AA81F43879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A7410909-3406-4746-AEE5-C127CE695D99}"/>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A5BB0F51-C47A-41E8-A9A6-EDB30794F072}"/>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E4CF6FFE-7338-4730-A78D-05AD19D398FA}"/>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118AC20D-B35D-406C-B410-5ABB3DB63936}"/>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1F00EF3D-AB70-4214-994B-4972BBF5E143}"/>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8A053BEB-C672-4A12-97A3-A389A92D708C}"/>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2B31A70D-296E-41BF-BA5C-817DCF3E8F04}"/>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C0E46064-BD68-4DE9-9E6D-537816E63489}"/>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F33B0B34-2E79-4010-B8A4-C320A47EDEFB}"/>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9D5113B3-712E-403B-A8E9-E3FDA334396C}"/>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72297B3F-A0A8-40E4-825A-E8A9FDD60AD3}"/>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8EC657A9-F1B9-49F0-AB42-C9907FB17BD4}"/>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4EB355EC-1B70-4094-926A-4C30C9C41C6A}"/>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D4C19519-7E72-47FD-9CD5-A408068F8779}"/>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2FA37C32-C8BA-4A31-896B-D3B260910A71}"/>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ACE558EF-6C7F-4814-96C4-825BA761B1A1}"/>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79B7D11B-4412-4FA6-A3E0-891AFBD12360}"/>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B1C80602-3990-40EB-8068-A0AE4CECC889}"/>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4489A23D-A5C8-4B76-B581-252E3D938110}"/>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3C44EE0F-7217-4EB4-82D6-06B5ED57454D}"/>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D6458E50-8DD3-4B5D-814C-F500C4B9B263}"/>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5BFF9420-FFC9-41B3-981E-B1D52321B658}"/>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161DAFDC-9966-4CD9-9E4E-52D3582845A8}"/>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Claims advance only when immutable evidence satisfies the gate</a:t>
            </a:r>
          </a:p>
        </p:txBody>
      </p:sp>
      <p:sp>
        <p:nvSpPr>
          <p:cNvPr id="34" name="">
            <a:extLst xmlns:a="http://schemas.openxmlformats.org/drawingml/2006/main">
              <a:ext uri="{FF2B5EF4-FFF2-40B4-BE49-F238E27FC236}">
                <a16:creationId xmlns:a16="http://schemas.microsoft.com/office/drawing/2014/main" id="{433B9A81-07AF-43BE-87D1-483F3D0C83A5}"/>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8A</a:t>
            </a:r>
          </a:p>
        </p:txBody>
      </p:sp>
      <p:sp>
        <p:nvSpPr>
          <p:cNvPr id="35" name="">
            <a:extLst xmlns:a="http://schemas.openxmlformats.org/drawingml/2006/main">
              <a:ext uri="{FF2B5EF4-FFF2-40B4-BE49-F238E27FC236}">
                <a16:creationId xmlns:a16="http://schemas.microsoft.com/office/drawing/2014/main" id="{B69A05FA-D977-4E31-893A-73ED3FBEBB28}"/>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D2D4459C-5DC0-4053-B510-137F0AA90454}"/>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2276E3"/>
            </a:solidFill>
          </a:ln>
        </p:spPr>
      </p:sp>
      <p:sp>
        <p:nvSpPr>
          <p:cNvPr id="37" name="">
            <a:extLst xmlns:a="http://schemas.openxmlformats.org/drawingml/2006/main">
              <a:ext uri="{FF2B5EF4-FFF2-40B4-BE49-F238E27FC236}">
                <a16:creationId xmlns:a16="http://schemas.microsoft.com/office/drawing/2014/main" id="{FD2E3B07-DE0B-42AB-BCDE-F44210CB9D8A}"/>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2276E3"/>
                </a:solidFill>
              </a:defRPr>
            </a:pPr>
            <a:r>
              <a:rPr sz="900" b="1">
                <a:solidFill>
                  <a:srgbClr val="2276E3"/>
                </a:solidFill>
              </a:rPr>
              <a:t>EVIDENCE GOVERNANCE</a:t>
            </a:r>
          </a:p>
        </p:txBody>
      </p:sp>
      <p:sp>
        <p:nvSpPr>
          <p:cNvPr id="38" name="">
            <a:extLst xmlns:a="http://schemas.openxmlformats.org/drawingml/2006/main">
              <a:ext uri="{FF2B5EF4-FFF2-40B4-BE49-F238E27FC236}">
                <a16:creationId xmlns:a16="http://schemas.microsoft.com/office/drawing/2014/main" id="{A6833578-9694-4A39-AEA8-5BF5E074A334}"/>
              </a:ext>
            </a:extLst>
          </p:cNvPr>
          <p:cNvSpPr>
            <a:spLocks xmlns:a="http://schemas.openxmlformats.org/drawingml/2006/main" noGrp="1"/>
          </p:cNvSpPr>
          <p:nvPr/>
        </p:nvSpPr>
        <p:spPr>
          <a:xfrm xmlns:a="http://schemas.openxmlformats.org/drawingml/2006/main">
            <a:off x="619125" y="2714625"/>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39" name="">
            <a:extLst xmlns:a="http://schemas.openxmlformats.org/drawingml/2006/main">
              <a:ext uri="{FF2B5EF4-FFF2-40B4-BE49-F238E27FC236}">
                <a16:creationId xmlns:a16="http://schemas.microsoft.com/office/drawing/2014/main" id="{1523EB62-FDFD-4DFF-836D-423B0B86E2E5}"/>
              </a:ext>
            </a:extLst>
          </p:cNvPr>
          <p:cNvSpPr>
            <a:spLocks xmlns:a="http://schemas.openxmlformats.org/drawingml/2006/main" noGrp="1"/>
          </p:cNvSpPr>
          <p:nvPr/>
        </p:nvSpPr>
        <p:spPr>
          <a:xfrm xmlns:a="http://schemas.openxmlformats.org/drawingml/2006/main">
            <a:off x="619125" y="2714625"/>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0" name="">
            <a:extLst xmlns:a="http://schemas.openxmlformats.org/drawingml/2006/main">
              <a:ext uri="{FF2B5EF4-FFF2-40B4-BE49-F238E27FC236}">
                <a16:creationId xmlns:a16="http://schemas.microsoft.com/office/drawing/2014/main" id="{1A21FE9D-ACBC-4328-8CC4-48FC9F3B588F}"/>
              </a:ext>
            </a:extLst>
          </p:cNvPr>
          <p:cNvSpPr>
            <a:spLocks xmlns:a="http://schemas.openxmlformats.org/drawingml/2006/main" noGrp="1"/>
          </p:cNvSpPr>
          <p:nvPr/>
        </p:nvSpPr>
        <p:spPr>
          <a:xfrm xmlns:a="http://schemas.openxmlformats.org/drawingml/2006/main">
            <a:off x="781050" y="2790825"/>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claim scoped</a:t>
            </a:r>
          </a:p>
        </p:txBody>
      </p:sp>
      <p:sp>
        <p:nvSpPr>
          <p:cNvPr id="41" name="">
            <a:extLst xmlns:a="http://schemas.openxmlformats.org/drawingml/2006/main">
              <a:ext uri="{FF2B5EF4-FFF2-40B4-BE49-F238E27FC236}">
                <a16:creationId xmlns:a16="http://schemas.microsoft.com/office/drawing/2014/main" id="{86677CFB-19C4-47A1-A1DC-D399A1436BE2}"/>
              </a:ext>
            </a:extLst>
          </p:cNvPr>
          <p:cNvSpPr>
            <a:spLocks xmlns:a="http://schemas.openxmlformats.org/drawingml/2006/main" noGrp="1"/>
          </p:cNvSpPr>
          <p:nvPr/>
        </p:nvSpPr>
        <p:spPr>
          <a:xfrm xmlns:a="http://schemas.openxmlformats.org/drawingml/2006/main">
            <a:off x="2905125" y="2714625"/>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42" name="">
            <a:extLst xmlns:a="http://schemas.openxmlformats.org/drawingml/2006/main">
              <a:ext uri="{FF2B5EF4-FFF2-40B4-BE49-F238E27FC236}">
                <a16:creationId xmlns:a16="http://schemas.microsoft.com/office/drawing/2014/main" id="{1BDED5CC-18C6-4359-AA72-EF6D9956D8F9}"/>
              </a:ext>
            </a:extLst>
          </p:cNvPr>
          <p:cNvSpPr>
            <a:spLocks xmlns:a="http://schemas.openxmlformats.org/drawingml/2006/main" noGrp="1"/>
          </p:cNvSpPr>
          <p:nvPr/>
        </p:nvSpPr>
        <p:spPr>
          <a:xfrm xmlns:a="http://schemas.openxmlformats.org/drawingml/2006/main">
            <a:off x="2905125" y="2714625"/>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FCFE02A9-BFC1-4485-938A-5F7E58ADC9AA}"/>
              </a:ext>
            </a:extLst>
          </p:cNvPr>
          <p:cNvSpPr>
            <a:spLocks xmlns:a="http://schemas.openxmlformats.org/drawingml/2006/main" noGrp="1"/>
          </p:cNvSpPr>
          <p:nvPr/>
        </p:nvSpPr>
        <p:spPr>
          <a:xfrm xmlns:a="http://schemas.openxmlformats.org/drawingml/2006/main">
            <a:off x="3067050" y="2790825"/>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run immutable</a:t>
            </a:r>
          </a:p>
        </p:txBody>
      </p:sp>
      <p:sp>
        <p:nvSpPr>
          <p:cNvPr id="44" name="">
            <a:extLst xmlns:a="http://schemas.openxmlformats.org/drawingml/2006/main">
              <a:ext uri="{FF2B5EF4-FFF2-40B4-BE49-F238E27FC236}">
                <a16:creationId xmlns:a16="http://schemas.microsoft.com/office/drawing/2014/main" id="{04C18ECA-CFA5-4FE1-9819-43E6ADDD38A7}"/>
              </a:ext>
            </a:extLst>
          </p:cNvPr>
          <p:cNvSpPr>
            <a:spLocks xmlns:a="http://schemas.openxmlformats.org/drawingml/2006/main" noGrp="1"/>
          </p:cNvSpPr>
          <p:nvPr/>
        </p:nvSpPr>
        <p:spPr>
          <a:xfrm xmlns:a="http://schemas.openxmlformats.org/drawingml/2006/main">
            <a:off x="5191125" y="2714625"/>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45" name="">
            <a:extLst xmlns:a="http://schemas.openxmlformats.org/drawingml/2006/main">
              <a:ext uri="{FF2B5EF4-FFF2-40B4-BE49-F238E27FC236}">
                <a16:creationId xmlns:a16="http://schemas.microsoft.com/office/drawing/2014/main" id="{6B0A2CD5-662F-4ACC-BCD9-73E862CC08D4}"/>
              </a:ext>
            </a:extLst>
          </p:cNvPr>
          <p:cNvSpPr>
            <a:spLocks xmlns:a="http://schemas.openxmlformats.org/drawingml/2006/main" noGrp="1"/>
          </p:cNvSpPr>
          <p:nvPr/>
        </p:nvSpPr>
        <p:spPr>
          <a:xfrm xmlns:a="http://schemas.openxmlformats.org/drawingml/2006/main">
            <a:off x="5191125" y="2714625"/>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6" name="">
            <a:extLst xmlns:a="http://schemas.openxmlformats.org/drawingml/2006/main">
              <a:ext uri="{FF2B5EF4-FFF2-40B4-BE49-F238E27FC236}">
                <a16:creationId xmlns:a16="http://schemas.microsoft.com/office/drawing/2014/main" id="{D5D3627D-7253-44A4-BB23-B0064D68FF14}"/>
              </a:ext>
            </a:extLst>
          </p:cNvPr>
          <p:cNvSpPr>
            <a:spLocks xmlns:a="http://schemas.openxmlformats.org/drawingml/2006/main" noGrp="1"/>
          </p:cNvSpPr>
          <p:nvPr/>
        </p:nvSpPr>
        <p:spPr>
          <a:xfrm xmlns:a="http://schemas.openxmlformats.org/drawingml/2006/main">
            <a:off x="5353050" y="2790825"/>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SHA-256 joined</a:t>
            </a:r>
          </a:p>
        </p:txBody>
      </p:sp>
      <p:sp>
        <p:nvSpPr>
          <p:cNvPr id="47" name="">
            <a:extLst xmlns:a="http://schemas.openxmlformats.org/drawingml/2006/main">
              <a:ext uri="{FF2B5EF4-FFF2-40B4-BE49-F238E27FC236}">
                <a16:creationId xmlns:a16="http://schemas.microsoft.com/office/drawing/2014/main" id="{567B3460-D853-4326-8D17-F6BF87770697}"/>
              </a:ext>
            </a:extLst>
          </p:cNvPr>
          <p:cNvSpPr>
            <a:spLocks xmlns:a="http://schemas.openxmlformats.org/drawingml/2006/main" noGrp="1"/>
          </p:cNvSpPr>
          <p:nvPr/>
        </p:nvSpPr>
        <p:spPr>
          <a:xfrm xmlns:a="http://schemas.openxmlformats.org/drawingml/2006/main">
            <a:off x="7477125" y="2714625"/>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276E3"/>
            </a:solidFill>
          </a:ln>
        </p:spPr>
      </p:sp>
      <p:sp>
        <p:nvSpPr>
          <p:cNvPr id="48" name="">
            <a:extLst xmlns:a="http://schemas.openxmlformats.org/drawingml/2006/main">
              <a:ext uri="{FF2B5EF4-FFF2-40B4-BE49-F238E27FC236}">
                <a16:creationId xmlns:a16="http://schemas.microsoft.com/office/drawing/2014/main" id="{7E6B5163-7FD0-45BC-897F-F6A48BF1A1A4}"/>
              </a:ext>
            </a:extLst>
          </p:cNvPr>
          <p:cNvSpPr>
            <a:spLocks xmlns:a="http://schemas.openxmlformats.org/drawingml/2006/main" noGrp="1"/>
          </p:cNvSpPr>
          <p:nvPr/>
        </p:nvSpPr>
        <p:spPr>
          <a:xfrm xmlns:a="http://schemas.openxmlformats.org/drawingml/2006/main">
            <a:off x="7477125" y="2714625"/>
            <a:ext cx="66675" cy="9048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9" name="">
            <a:extLst xmlns:a="http://schemas.openxmlformats.org/drawingml/2006/main">
              <a:ext uri="{FF2B5EF4-FFF2-40B4-BE49-F238E27FC236}">
                <a16:creationId xmlns:a16="http://schemas.microsoft.com/office/drawing/2014/main" id="{3E4E90AB-08E3-492C-81EB-5F4B3BF86359}"/>
              </a:ext>
            </a:extLst>
          </p:cNvPr>
          <p:cNvSpPr>
            <a:spLocks xmlns:a="http://schemas.openxmlformats.org/drawingml/2006/main" noGrp="1"/>
          </p:cNvSpPr>
          <p:nvPr/>
        </p:nvSpPr>
        <p:spPr>
          <a:xfrm xmlns:a="http://schemas.openxmlformats.org/drawingml/2006/main">
            <a:off x="7639050" y="2790825"/>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negative results kept</a:t>
            </a:r>
          </a:p>
        </p:txBody>
      </p:sp>
      <p:sp>
        <p:nvSpPr>
          <p:cNvPr id="50" name="">
            <a:extLst xmlns:a="http://schemas.openxmlformats.org/drawingml/2006/main">
              <a:ext uri="{FF2B5EF4-FFF2-40B4-BE49-F238E27FC236}">
                <a16:creationId xmlns:a16="http://schemas.microsoft.com/office/drawing/2014/main" id="{CD427D7A-C328-49D2-B42D-B7BACED132EB}"/>
              </a:ext>
            </a:extLst>
          </p:cNvPr>
          <p:cNvSpPr>
            <a:spLocks xmlns:a="http://schemas.openxmlformats.org/drawingml/2006/main" noGrp="1"/>
          </p:cNvSpPr>
          <p:nvPr/>
        </p:nvSpPr>
        <p:spPr>
          <a:xfrm xmlns:a="http://schemas.openxmlformats.org/drawingml/2006/main">
            <a:off x="9763125" y="2714625"/>
            <a:ext cx="1952625"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4288">
            <a:solidFill>
              <a:srgbClr val="2F9B69"/>
            </a:solidFill>
          </a:ln>
        </p:spPr>
      </p:sp>
      <p:sp>
        <p:nvSpPr>
          <p:cNvPr id="51" name="">
            <a:extLst xmlns:a="http://schemas.openxmlformats.org/drawingml/2006/main">
              <a:ext uri="{FF2B5EF4-FFF2-40B4-BE49-F238E27FC236}">
                <a16:creationId xmlns:a16="http://schemas.microsoft.com/office/drawing/2014/main" id="{86602CAF-FCC3-4520-85C3-B2757932FB5A}"/>
              </a:ext>
            </a:extLst>
          </p:cNvPr>
          <p:cNvSpPr>
            <a:spLocks xmlns:a="http://schemas.openxmlformats.org/drawingml/2006/main" noGrp="1"/>
          </p:cNvSpPr>
          <p:nvPr/>
        </p:nvSpPr>
        <p:spPr>
          <a:xfrm xmlns:a="http://schemas.openxmlformats.org/drawingml/2006/main">
            <a:off x="9763125" y="2714625"/>
            <a:ext cx="66675" cy="904875"/>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52" name="">
            <a:extLst xmlns:a="http://schemas.openxmlformats.org/drawingml/2006/main">
              <a:ext uri="{FF2B5EF4-FFF2-40B4-BE49-F238E27FC236}">
                <a16:creationId xmlns:a16="http://schemas.microsoft.com/office/drawing/2014/main" id="{91C806B2-7EDA-405B-BF4C-6E8381254E81}"/>
              </a:ext>
            </a:extLst>
          </p:cNvPr>
          <p:cNvSpPr>
            <a:spLocks xmlns:a="http://schemas.openxmlformats.org/drawingml/2006/main" noGrp="1"/>
          </p:cNvSpPr>
          <p:nvPr/>
        </p:nvSpPr>
        <p:spPr>
          <a:xfrm xmlns:a="http://schemas.openxmlformats.org/drawingml/2006/main">
            <a:off x="9925050" y="2790825"/>
            <a:ext cx="1685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gate accepted</a:t>
            </a:r>
          </a:p>
        </p:txBody>
      </p:sp>
      <p:sp>
        <p:nvSpPr>
          <p:cNvPr id="53" name="">
            <a:extLst xmlns:a="http://schemas.openxmlformats.org/drawingml/2006/main">
              <a:ext uri="{FF2B5EF4-FFF2-40B4-BE49-F238E27FC236}">
                <a16:creationId xmlns:a16="http://schemas.microsoft.com/office/drawing/2014/main" id="{9300D446-C20C-48DD-8868-6004856B172E}"/>
              </a:ext>
            </a:extLst>
          </p:cNvPr>
          <p:cNvSpPr>
            <a:spLocks xmlns:a="http://schemas.openxmlformats.org/drawingml/2006/main" noGrp="1"/>
          </p:cNvSpPr>
          <p:nvPr/>
        </p:nvSpPr>
        <p:spPr>
          <a:xfrm xmlns:a="http://schemas.openxmlformats.org/drawingml/2006/main" rot="0">
            <a:off x="2571750" y="3162300"/>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4" name="">
            <a:extLst xmlns:a="http://schemas.openxmlformats.org/drawingml/2006/main">
              <a:ext uri="{FF2B5EF4-FFF2-40B4-BE49-F238E27FC236}">
                <a16:creationId xmlns:a16="http://schemas.microsoft.com/office/drawing/2014/main" id="{D1FEBC15-3B5E-481B-9F16-83C898467906}"/>
              </a:ext>
            </a:extLst>
          </p:cNvPr>
          <p:cNvSpPr>
            <a:spLocks xmlns:a="http://schemas.openxmlformats.org/drawingml/2006/main" noGrp="1"/>
          </p:cNvSpPr>
          <p:nvPr/>
        </p:nvSpPr>
        <p:spPr>
          <a:xfrm xmlns:a="http://schemas.openxmlformats.org/drawingml/2006/main" rot="5400000">
            <a:off x="2809875" y="30765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55" name="">
            <a:extLst xmlns:a="http://schemas.openxmlformats.org/drawingml/2006/main">
              <a:ext uri="{FF2B5EF4-FFF2-40B4-BE49-F238E27FC236}">
                <a16:creationId xmlns:a16="http://schemas.microsoft.com/office/drawing/2014/main" id="{C8E08D98-37FF-47A7-A617-5A3DA5AA9118}"/>
              </a:ext>
            </a:extLst>
          </p:cNvPr>
          <p:cNvSpPr>
            <a:spLocks xmlns:a="http://schemas.openxmlformats.org/drawingml/2006/main" noGrp="1"/>
          </p:cNvSpPr>
          <p:nvPr/>
        </p:nvSpPr>
        <p:spPr>
          <a:xfrm xmlns:a="http://schemas.openxmlformats.org/drawingml/2006/main" rot="0">
            <a:off x="4857750" y="3162300"/>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6" name="">
            <a:extLst xmlns:a="http://schemas.openxmlformats.org/drawingml/2006/main">
              <a:ext uri="{FF2B5EF4-FFF2-40B4-BE49-F238E27FC236}">
                <a16:creationId xmlns:a16="http://schemas.microsoft.com/office/drawing/2014/main" id="{D802E956-08E7-4EA5-80EC-4166845B7079}"/>
              </a:ext>
            </a:extLst>
          </p:cNvPr>
          <p:cNvSpPr>
            <a:spLocks xmlns:a="http://schemas.openxmlformats.org/drawingml/2006/main" noGrp="1"/>
          </p:cNvSpPr>
          <p:nvPr/>
        </p:nvSpPr>
        <p:spPr>
          <a:xfrm xmlns:a="http://schemas.openxmlformats.org/drawingml/2006/main" rot="5400000">
            <a:off x="5095875" y="30765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57" name="">
            <a:extLst xmlns:a="http://schemas.openxmlformats.org/drawingml/2006/main">
              <a:ext uri="{FF2B5EF4-FFF2-40B4-BE49-F238E27FC236}">
                <a16:creationId xmlns:a16="http://schemas.microsoft.com/office/drawing/2014/main" id="{E809AA2D-A932-401B-BA68-33D1056675B1}"/>
              </a:ext>
            </a:extLst>
          </p:cNvPr>
          <p:cNvSpPr>
            <a:spLocks xmlns:a="http://schemas.openxmlformats.org/drawingml/2006/main" noGrp="1"/>
          </p:cNvSpPr>
          <p:nvPr/>
        </p:nvSpPr>
        <p:spPr>
          <a:xfrm xmlns:a="http://schemas.openxmlformats.org/drawingml/2006/main" rot="0">
            <a:off x="7143750" y="3162300"/>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58" name="">
            <a:extLst xmlns:a="http://schemas.openxmlformats.org/drawingml/2006/main">
              <a:ext uri="{FF2B5EF4-FFF2-40B4-BE49-F238E27FC236}">
                <a16:creationId xmlns:a16="http://schemas.microsoft.com/office/drawing/2014/main" id="{F926BE59-8D34-4546-8958-8785C059F7C8}"/>
              </a:ext>
            </a:extLst>
          </p:cNvPr>
          <p:cNvSpPr>
            <a:spLocks xmlns:a="http://schemas.openxmlformats.org/drawingml/2006/main" noGrp="1"/>
          </p:cNvSpPr>
          <p:nvPr/>
        </p:nvSpPr>
        <p:spPr>
          <a:xfrm xmlns:a="http://schemas.openxmlformats.org/drawingml/2006/main" rot="5400000">
            <a:off x="7381875" y="30765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59" name="">
            <a:extLst xmlns:a="http://schemas.openxmlformats.org/drawingml/2006/main">
              <a:ext uri="{FF2B5EF4-FFF2-40B4-BE49-F238E27FC236}">
                <a16:creationId xmlns:a16="http://schemas.microsoft.com/office/drawing/2014/main" id="{B0B202B8-3281-425B-93E4-9B095A472ECE}"/>
              </a:ext>
            </a:extLst>
          </p:cNvPr>
          <p:cNvSpPr>
            <a:spLocks xmlns:a="http://schemas.openxmlformats.org/drawingml/2006/main" noGrp="1"/>
          </p:cNvSpPr>
          <p:nvPr/>
        </p:nvSpPr>
        <p:spPr>
          <a:xfrm xmlns:a="http://schemas.openxmlformats.org/drawingml/2006/main" rot="0">
            <a:off x="9429750" y="3162300"/>
            <a:ext cx="333375" cy="47625"/>
          </a:xfrm>
          <a:prstGeom xmlns:a="http://schemas.openxmlformats.org/drawingml/2006/main" prst="rect">
            <a:avLst/>
          </a:prstGeom>
          <a:solidFill xmlns:a="http://schemas.openxmlformats.org/drawingml/2006/main">
            <a:srgbClr val="37465B"/>
          </a:solidFill>
          <a:ln xmlns:a="http://schemas.openxmlformats.org/drawingml/2006/main" w="14288">
            <a:solidFill>
              <a:srgbClr val="37465B"/>
            </a:solidFill>
          </a:ln>
        </p:spPr>
      </p:sp>
      <p:sp>
        <p:nvSpPr>
          <p:cNvPr id="60" name="">
            <a:extLst xmlns:a="http://schemas.openxmlformats.org/drawingml/2006/main">
              <a:ext uri="{FF2B5EF4-FFF2-40B4-BE49-F238E27FC236}">
                <a16:creationId xmlns:a16="http://schemas.microsoft.com/office/drawing/2014/main" id="{31FCCAD3-FEE4-4AAB-A77B-D621C4BE5807}"/>
              </a:ext>
            </a:extLst>
          </p:cNvPr>
          <p:cNvSpPr>
            <a:spLocks xmlns:a="http://schemas.openxmlformats.org/drawingml/2006/main" noGrp="1"/>
          </p:cNvSpPr>
          <p:nvPr/>
        </p:nvSpPr>
        <p:spPr>
          <a:xfrm xmlns:a="http://schemas.openxmlformats.org/drawingml/2006/main" rot="5400000">
            <a:off x="9667875" y="3076575"/>
            <a:ext cx="190500" cy="171450"/>
          </a:xfrm>
          <a:prstGeom xmlns:a="http://schemas.openxmlformats.org/drawingml/2006/main" prst="triangle">
            <a:avLst/>
          </a:prstGeom>
          <a:solidFill xmlns:a="http://schemas.openxmlformats.org/drawingml/2006/main">
            <a:srgbClr val="37465B"/>
          </a:solidFill>
          <a:ln xmlns:a="http://schemas.openxmlformats.org/drawingml/2006/main" w="0">
            <a:solidFill>
              <a:srgbClr val="37465B"/>
            </a:solidFill>
          </a:ln>
        </p:spPr>
      </p:sp>
      <p:sp>
        <p:nvSpPr>
          <p:cNvPr id="61" name="">
            <a:extLst xmlns:a="http://schemas.openxmlformats.org/drawingml/2006/main">
              <a:ext uri="{FF2B5EF4-FFF2-40B4-BE49-F238E27FC236}">
                <a16:creationId xmlns:a16="http://schemas.microsoft.com/office/drawing/2014/main" id="{E03EA1D0-F8AC-42AF-B1B0-519AE44EC908}"/>
              </a:ext>
            </a:extLst>
          </p:cNvPr>
          <p:cNvSpPr>
            <a:spLocks xmlns:a="http://schemas.openxmlformats.org/drawingml/2006/main" noGrp="1"/>
          </p:cNvSpPr>
          <p:nvPr/>
        </p:nvSpPr>
        <p:spPr>
          <a:xfrm xmlns:a="http://schemas.openxmlformats.org/drawingml/2006/main">
            <a:off x="1952625" y="47625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025" b="1">
                <a:solidFill>
                  <a:srgbClr val="081426"/>
                </a:solidFill>
              </a:defRPr>
            </a:pPr>
            <a:r>
              <a:rPr sz="2025" b="1">
                <a:solidFill>
                  <a:srgbClr val="081426"/>
                </a:solidFill>
              </a:rPr>
              <a:t>“Validated” is reserved for accepted evidence at the relevant gate.</a:t>
            </a:r>
          </a:p>
        </p:txBody>
      </p:sp>
    </p:spTree>
    <p:extLst>
      <p:ext uri="{BB962C8B-B14F-4D97-AF65-F5344CB8AC3E}">
        <p14:creationId xmlns:p14="http://schemas.microsoft.com/office/powerpoint/2010/main" val="913843943"/>
      </p:ext>
    </p:extLst>
  </p:cSld>
</p:sld>
</file>

<file path=ppt/slides/slide2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85DF2DC9-DA02-4C00-B7A1-2FF6752535F7}"/>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E46DE341-1656-484D-822D-0188E29C144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2C2A103A-50A3-4043-AC08-3C18C509B339}"/>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56022839-145D-4714-BDF9-E647A0244DED}"/>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02A6D633-88FB-48B6-A80C-D40A8C74002D}"/>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0CF81E46-C181-4121-9063-63E3F9A1141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0881AC2E-8054-40FD-B92A-C08E01A8934B}"/>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8F361FC8-05A0-442F-9A3E-9513BABC2262}"/>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B7984541-A683-413D-B57A-0B9E214EC92E}"/>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38F307A4-5F20-4F3B-8305-CBC63B317C02}"/>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73933378-947C-4D81-A706-44059EA65D00}"/>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EC58B8D1-92E2-4F8D-AB05-A414FC69DF16}"/>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365A228D-1801-4CE8-B9CE-68605CA2EC93}"/>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3EAC5910-37A5-4337-A4C4-CBAAE04D0804}"/>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EF86522C-3BAD-43C1-935F-2DFAD5C7F0C0}"/>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C3E92E65-5A2E-4143-84FA-45BBE4555AE5}"/>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6460CA93-EFE2-4FC4-AE58-0018623AC091}"/>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F7F04DC9-3467-475F-B8C1-5FBA5011C4DE}"/>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5155CC20-5231-4C16-9C0B-278F4416E73F}"/>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C477B401-3FCA-4F1B-8466-E8D2631F315D}"/>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CEDC42CB-D5A3-448D-991E-9E1DE8694775}"/>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AAA31A5B-C1D6-4042-B57F-88EC5F9A62EB}"/>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F8AE428E-2FC8-4EE3-A13C-F7EC8DC90C41}"/>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61C6812F-EA99-40CC-8901-1C21766CA4F8}"/>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FEC66688-4378-42C1-A560-FA6F7C8E8F08}"/>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9C67EBC0-AFF2-4E41-98BE-5B10131C1B75}"/>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E8825A44-F2B5-4A2F-B677-18850E41B500}"/>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EA89834C-2A98-4F87-9F93-C24DC01D5FBB}"/>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5FFC0A60-0FAD-4F75-A8CA-482760CF1F61}"/>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1E857E86-7DDF-4F4A-A5C5-CFED57745A5D}"/>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E8283B2E-BFC9-4C5B-8262-D07D7A9BF05E}"/>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FE487992-CEB7-4D6B-A995-E1EAAEA7C5BD}"/>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8FBA0432-3A4E-405F-9D8B-6FD3688FEA81}"/>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325" b="1">
                <a:solidFill>
                  <a:srgbClr val="081426"/>
                </a:solidFill>
              </a:defRPr>
            </a:pPr>
            <a:r>
              <a:rPr sz="2325" b="1">
                <a:solidFill>
                  <a:srgbClr val="081426"/>
                </a:solidFill>
              </a:rPr>
              <a:t>The next proof is bounded and falsifiable</a:t>
            </a:r>
          </a:p>
        </p:txBody>
      </p:sp>
      <p:sp>
        <p:nvSpPr>
          <p:cNvPr id="34" name="">
            <a:extLst xmlns:a="http://schemas.openxmlformats.org/drawingml/2006/main">
              <a:ext uri="{FF2B5EF4-FFF2-40B4-BE49-F238E27FC236}">
                <a16:creationId xmlns:a16="http://schemas.microsoft.com/office/drawing/2014/main" id="{5F9DCE76-7077-4172-BF58-6E758A84AD23}"/>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8B</a:t>
            </a:r>
          </a:p>
        </p:txBody>
      </p:sp>
      <p:sp>
        <p:nvSpPr>
          <p:cNvPr id="35" name="">
            <a:extLst xmlns:a="http://schemas.openxmlformats.org/drawingml/2006/main">
              <a:ext uri="{FF2B5EF4-FFF2-40B4-BE49-F238E27FC236}">
                <a16:creationId xmlns:a16="http://schemas.microsoft.com/office/drawing/2014/main" id="{0F2ACF08-69CA-4D26-9AB1-A020BD1B0AB8}"/>
              </a:ext>
            </a:extLst>
          </p:cNvPr>
          <p:cNvSpPr>
            <a:spLocks xmlns:a="http://schemas.openxmlformats.org/drawingml/2006/main" noGrp="1"/>
          </p:cNvSpPr>
          <p:nvPr/>
        </p:nvSpPr>
        <p:spPr>
          <a:xfrm xmlns:a="http://schemas.openxmlformats.org/drawingml/2006/main">
            <a:off x="9620250" y="10096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900" b="1">
                <a:solidFill>
                  <a:srgbClr val="2276E3"/>
                </a:solidFill>
              </a:defRPr>
            </a:pPr>
            <a:r>
              <a:rPr sz="900" b="1">
                <a:solidFill>
                  <a:srgbClr val="2276E3"/>
                </a:solidFill>
              </a:rPr>
              <a:t>TECHNICAL DRILL-IN</a:t>
            </a:r>
          </a:p>
        </p:txBody>
      </p:sp>
      <p:sp>
        <p:nvSpPr>
          <p:cNvPr id="36" name="">
            <a:extLst xmlns:a="http://schemas.openxmlformats.org/drawingml/2006/main">
              <a:ext uri="{FF2B5EF4-FFF2-40B4-BE49-F238E27FC236}">
                <a16:creationId xmlns:a16="http://schemas.microsoft.com/office/drawing/2014/main" id="{F36C7579-6127-4618-A756-072344110CCF}"/>
              </a:ext>
            </a:extLst>
          </p:cNvPr>
          <p:cNvSpPr>
            <a:spLocks xmlns:a="http://schemas.openxmlformats.org/drawingml/2006/main" noGrp="1"/>
          </p:cNvSpPr>
          <p:nvPr/>
        </p:nvSpPr>
        <p:spPr>
          <a:xfrm xmlns:a="http://schemas.openxmlformats.org/drawingml/2006/main">
            <a:off x="552450" y="1143000"/>
            <a:ext cx="2000250" cy="304800"/>
          </a:xfrm>
          <a:prstGeom xmlns:a="http://schemas.openxmlformats.org/drawingml/2006/main" prst="roundRect">
            <a:avLst>
              <a:gd name="adj" fmla="val 25000"/>
            </a:avLst>
          </a:prstGeom>
          <a:solidFill xmlns:a="http://schemas.openxmlformats.org/drawingml/2006/main">
            <a:srgbClr val="FFFFFF">
              <a:alpha val="86667"/>
            </a:srgbClr>
          </a:solidFill>
          <a:ln xmlns:a="http://schemas.openxmlformats.org/drawingml/2006/main" w="14288">
            <a:solidFill>
              <a:srgbClr val="D49A2A"/>
            </a:solidFill>
          </a:ln>
        </p:spPr>
      </p:sp>
      <p:sp>
        <p:nvSpPr>
          <p:cNvPr id="37" name="">
            <a:extLst xmlns:a="http://schemas.openxmlformats.org/drawingml/2006/main">
              <a:ext uri="{FF2B5EF4-FFF2-40B4-BE49-F238E27FC236}">
                <a16:creationId xmlns:a16="http://schemas.microsoft.com/office/drawing/2014/main" id="{C23CBEF6-AB61-4913-8893-87684DB2C726}"/>
              </a:ext>
            </a:extLst>
          </p:cNvPr>
          <p:cNvSpPr>
            <a:spLocks xmlns:a="http://schemas.openxmlformats.org/drawingml/2006/main" noGrp="1"/>
          </p:cNvSpPr>
          <p:nvPr/>
        </p:nvSpPr>
        <p:spPr>
          <a:xfrm xmlns:a="http://schemas.openxmlformats.org/drawingml/2006/main">
            <a:off x="647700" y="11715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900" b="1">
                <a:solidFill>
                  <a:srgbClr val="D49A2A"/>
                </a:solidFill>
              </a:defRPr>
            </a:pPr>
            <a:r>
              <a:rPr sz="900" b="1">
                <a:solidFill>
                  <a:srgbClr val="D49A2A"/>
                </a:solidFill>
              </a:rPr>
              <a:t>NEXT GATE — PENDING</a:t>
            </a:r>
          </a:p>
        </p:txBody>
      </p:sp>
      <p:sp>
        <p:nvSpPr>
          <p:cNvPr id="38" name="">
            <a:extLst xmlns:a="http://schemas.openxmlformats.org/drawingml/2006/main">
              <a:ext uri="{FF2B5EF4-FFF2-40B4-BE49-F238E27FC236}">
                <a16:creationId xmlns:a16="http://schemas.microsoft.com/office/drawing/2014/main" id="{32E47AEF-BCE6-4A75-B53F-749DF139C997}"/>
              </a:ext>
            </a:extLst>
          </p:cNvPr>
          <p:cNvSpPr>
            <a:spLocks xmlns:a="http://schemas.openxmlformats.org/drawingml/2006/main" noGrp="1"/>
          </p:cNvSpPr>
          <p:nvPr/>
        </p:nvSpPr>
        <p:spPr>
          <a:xfrm xmlns:a="http://schemas.openxmlformats.org/drawingml/2006/main">
            <a:off x="952500" y="2333625"/>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4288">
            <a:solidFill>
              <a:srgbClr val="2F9B69"/>
            </a:solidFill>
          </a:ln>
        </p:spPr>
      </p:sp>
      <p:sp>
        <p:nvSpPr>
          <p:cNvPr id="39" name="">
            <a:extLst xmlns:a="http://schemas.openxmlformats.org/drawingml/2006/main">
              <a:ext uri="{FF2B5EF4-FFF2-40B4-BE49-F238E27FC236}">
                <a16:creationId xmlns:a16="http://schemas.microsoft.com/office/drawing/2014/main" id="{A83483A4-1307-4666-98C4-004512A98BDD}"/>
              </a:ext>
            </a:extLst>
          </p:cNvPr>
          <p:cNvSpPr>
            <a:spLocks xmlns:a="http://schemas.openxmlformats.org/drawingml/2006/main" noGrp="1"/>
          </p:cNvSpPr>
          <p:nvPr/>
        </p:nvSpPr>
        <p:spPr>
          <a:xfrm xmlns:a="http://schemas.openxmlformats.org/drawingml/2006/main">
            <a:off x="952500" y="2333625"/>
            <a:ext cx="66675" cy="1238250"/>
          </a:xfrm>
          <a:prstGeom xmlns:a="http://schemas.openxmlformats.org/drawingml/2006/main" prst="rect">
            <a:avLst/>
          </a:prstGeom>
          <a:solidFill xmlns:a="http://schemas.openxmlformats.org/drawingml/2006/main">
            <a:srgbClr val="2F9B69"/>
          </a:solidFill>
          <a:ln xmlns:a="http://schemas.openxmlformats.org/drawingml/2006/main" w="14288">
            <a:solidFill>
              <a:srgbClr val="2F9B69"/>
            </a:solidFill>
          </a:ln>
        </p:spPr>
      </p:sp>
      <p:sp>
        <p:nvSpPr>
          <p:cNvPr id="40" name="">
            <a:extLst xmlns:a="http://schemas.openxmlformats.org/drawingml/2006/main">
              <a:ext uri="{FF2B5EF4-FFF2-40B4-BE49-F238E27FC236}">
                <a16:creationId xmlns:a16="http://schemas.microsoft.com/office/drawing/2014/main" id="{C1332216-0106-4774-A013-4542B10292EE}"/>
              </a:ext>
            </a:extLst>
          </p:cNvPr>
          <p:cNvSpPr>
            <a:spLocks xmlns:a="http://schemas.openxmlformats.org/drawingml/2006/main" noGrp="1"/>
          </p:cNvSpPr>
          <p:nvPr/>
        </p:nvSpPr>
        <p:spPr>
          <a:xfrm xmlns:a="http://schemas.openxmlformats.org/drawingml/2006/main">
            <a:off x="1114425" y="2409825"/>
            <a:ext cx="2590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MUST SHOW</a:t>
            </a:r>
          </a:p>
          <a:p xmlns:a="http://schemas.openxmlformats.org/drawingml/2006/main">
            <a:pPr algn="ctr">
              <a:defRPr sz="1350" b="1">
                <a:solidFill>
                  <a:srgbClr val="081426"/>
                </a:solidFill>
              </a:defRPr>
            </a:pPr>
            <a:r>
              <a:rPr sz="1350" b="1">
                <a:solidFill>
                  <a:srgbClr val="081426"/>
                </a:solidFill>
              </a:rPr>
              <a:t>200 / 200 / 403</a:t>
            </a:r>
          </a:p>
        </p:txBody>
      </p:sp>
      <p:sp>
        <p:nvSpPr>
          <p:cNvPr id="41" name="">
            <a:extLst xmlns:a="http://schemas.openxmlformats.org/drawingml/2006/main">
              <a:ext uri="{FF2B5EF4-FFF2-40B4-BE49-F238E27FC236}">
                <a16:creationId xmlns:a16="http://schemas.microsoft.com/office/drawing/2014/main" id="{43601226-2AD8-4F41-A8A4-70A6D4B675D0}"/>
              </a:ext>
            </a:extLst>
          </p:cNvPr>
          <p:cNvSpPr>
            <a:spLocks xmlns:a="http://schemas.openxmlformats.org/drawingml/2006/main" noGrp="1"/>
          </p:cNvSpPr>
          <p:nvPr/>
        </p:nvSpPr>
        <p:spPr>
          <a:xfrm xmlns:a="http://schemas.openxmlformats.org/drawingml/2006/main">
            <a:off x="4667250" y="2333625"/>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4288">
            <a:solidFill>
              <a:srgbClr val="2276E3"/>
            </a:solidFill>
          </a:ln>
        </p:spPr>
      </p:sp>
      <p:sp>
        <p:nvSpPr>
          <p:cNvPr id="42" name="">
            <a:extLst xmlns:a="http://schemas.openxmlformats.org/drawingml/2006/main">
              <a:ext uri="{FF2B5EF4-FFF2-40B4-BE49-F238E27FC236}">
                <a16:creationId xmlns:a16="http://schemas.microsoft.com/office/drawing/2014/main" id="{108EFBA4-C000-440B-9431-07B97C3E0E74}"/>
              </a:ext>
            </a:extLst>
          </p:cNvPr>
          <p:cNvSpPr>
            <a:spLocks xmlns:a="http://schemas.openxmlformats.org/drawingml/2006/main" noGrp="1"/>
          </p:cNvSpPr>
          <p:nvPr/>
        </p:nvSpPr>
        <p:spPr>
          <a:xfrm xmlns:a="http://schemas.openxmlformats.org/drawingml/2006/main">
            <a:off x="4667250" y="2333625"/>
            <a:ext cx="66675" cy="1238250"/>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63008AF5-678C-42A3-B1D6-0B69D8D83865}"/>
              </a:ext>
            </a:extLst>
          </p:cNvPr>
          <p:cNvSpPr>
            <a:spLocks xmlns:a="http://schemas.openxmlformats.org/drawingml/2006/main" noGrp="1"/>
          </p:cNvSpPr>
          <p:nvPr/>
        </p:nvSpPr>
        <p:spPr>
          <a:xfrm xmlns:a="http://schemas.openxmlformats.org/drawingml/2006/main">
            <a:off x="4829175" y="2409825"/>
            <a:ext cx="2590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MUST JOIN</a:t>
            </a:r>
          </a:p>
          <a:p xmlns:a="http://schemas.openxmlformats.org/drawingml/2006/main">
            <a:pPr algn="ctr">
              <a:defRPr sz="1350" b="1">
                <a:solidFill>
                  <a:srgbClr val="081426"/>
                </a:solidFill>
              </a:defRPr>
            </a:pPr>
            <a:r>
              <a:rPr sz="1350" b="1">
                <a:solidFill>
                  <a:srgbClr val="081426"/>
                </a:solidFill>
              </a:rPr>
              <a:t>1 / 1 / 0 markers</a:t>
            </a:r>
          </a:p>
        </p:txBody>
      </p:sp>
      <p:sp>
        <p:nvSpPr>
          <p:cNvPr id="44" name="">
            <a:extLst xmlns:a="http://schemas.openxmlformats.org/drawingml/2006/main">
              <a:ext uri="{FF2B5EF4-FFF2-40B4-BE49-F238E27FC236}">
                <a16:creationId xmlns:a16="http://schemas.microsoft.com/office/drawing/2014/main" id="{027C23C8-654F-43AD-BE10-E3AD21736BC2}"/>
              </a:ext>
            </a:extLst>
          </p:cNvPr>
          <p:cNvSpPr>
            <a:spLocks xmlns:a="http://schemas.openxmlformats.org/drawingml/2006/main" noGrp="1"/>
          </p:cNvSpPr>
          <p:nvPr/>
        </p:nvSpPr>
        <p:spPr>
          <a:xfrm xmlns:a="http://schemas.openxmlformats.org/drawingml/2006/main">
            <a:off x="8382000" y="2333625"/>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4288">
            <a:solidFill>
              <a:srgbClr val="D7473F"/>
            </a:solidFill>
          </a:ln>
        </p:spPr>
      </p:sp>
      <p:sp>
        <p:nvSpPr>
          <p:cNvPr id="45" name="">
            <a:extLst xmlns:a="http://schemas.openxmlformats.org/drawingml/2006/main">
              <a:ext uri="{FF2B5EF4-FFF2-40B4-BE49-F238E27FC236}">
                <a16:creationId xmlns:a16="http://schemas.microsoft.com/office/drawing/2014/main" id="{142852B9-87CF-4CBB-92D6-EA687061446A}"/>
              </a:ext>
            </a:extLst>
          </p:cNvPr>
          <p:cNvSpPr>
            <a:spLocks xmlns:a="http://schemas.openxmlformats.org/drawingml/2006/main" noGrp="1"/>
          </p:cNvSpPr>
          <p:nvPr/>
        </p:nvSpPr>
        <p:spPr>
          <a:xfrm xmlns:a="http://schemas.openxmlformats.org/drawingml/2006/main">
            <a:off x="8382000" y="2333625"/>
            <a:ext cx="66675" cy="1238250"/>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46" name="">
            <a:extLst xmlns:a="http://schemas.openxmlformats.org/drawingml/2006/main">
              <a:ext uri="{FF2B5EF4-FFF2-40B4-BE49-F238E27FC236}">
                <a16:creationId xmlns:a16="http://schemas.microsoft.com/office/drawing/2014/main" id="{823DD56A-4619-47AA-BF4E-26280BB06D36}"/>
              </a:ext>
            </a:extLst>
          </p:cNvPr>
          <p:cNvSpPr>
            <a:spLocks xmlns:a="http://schemas.openxmlformats.org/drawingml/2006/main" noGrp="1"/>
          </p:cNvSpPr>
          <p:nvPr/>
        </p:nvSpPr>
        <p:spPr>
          <a:xfrm xmlns:a="http://schemas.openxmlformats.org/drawingml/2006/main">
            <a:off x="8543925" y="2409825"/>
            <a:ext cx="2590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081426"/>
                </a:solidFill>
              </a:defRPr>
            </a:pPr>
            <a:r>
              <a:rPr sz="1350" b="1">
                <a:solidFill>
                  <a:srgbClr val="081426"/>
                </a:solidFill>
              </a:rPr>
              <a:t>MUST FAIL IF</a:t>
            </a:r>
          </a:p>
          <a:p xmlns:a="http://schemas.openxmlformats.org/drawingml/2006/main">
            <a:pPr algn="ctr">
              <a:defRPr sz="1350" b="1">
                <a:solidFill>
                  <a:srgbClr val="081426"/>
                </a:solidFill>
              </a:defRPr>
            </a:pPr>
            <a:r>
              <a:rPr sz="1350" b="1">
                <a:solidFill>
                  <a:srgbClr val="081426"/>
                </a:solidFill>
              </a:rPr>
              <a:t>contract diverges</a:t>
            </a:r>
          </a:p>
        </p:txBody>
      </p:sp>
      <p:sp>
        <p:nvSpPr>
          <p:cNvPr id="47" name="">
            <a:extLst xmlns:a="http://schemas.openxmlformats.org/drawingml/2006/main">
              <a:ext uri="{FF2B5EF4-FFF2-40B4-BE49-F238E27FC236}">
                <a16:creationId xmlns:a16="http://schemas.microsoft.com/office/drawing/2014/main" id="{F69D8C3F-B661-49C1-899F-3C635EFCA70E}"/>
              </a:ext>
            </a:extLst>
          </p:cNvPr>
          <p:cNvSpPr>
            <a:spLocks xmlns:a="http://schemas.openxmlformats.org/drawingml/2006/main" noGrp="1"/>
          </p:cNvSpPr>
          <p:nvPr/>
        </p:nvSpPr>
        <p:spPr>
          <a:xfrm xmlns:a="http://schemas.openxmlformats.org/drawingml/2006/main">
            <a:off x="1809750" y="4524375"/>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025" b="1">
                <a:solidFill>
                  <a:srgbClr val="081426"/>
                </a:solidFill>
              </a:defRPr>
            </a:pPr>
            <a:r>
              <a:rPr sz="2025" b="1">
                <a:solidFill>
                  <a:srgbClr val="081426"/>
                </a:solidFill>
              </a:rPr>
              <a:t>It will not prove the full historical counterfactual—or production readiness.</a:t>
            </a:r>
          </a:p>
        </p:txBody>
      </p:sp>
    </p:spTree>
    <p:extLst>
      <p:ext uri="{BB962C8B-B14F-4D97-AF65-F5344CB8AC3E}">
        <p14:creationId xmlns:p14="http://schemas.microsoft.com/office/powerpoint/2010/main" val="2130229070"/>
      </p:ext>
    </p:extLst>
  </p:cSld>
</p:sld>
</file>

<file path=ppt/slides/slide3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036AB5B-8D78-4C86-9CA9-579A8BDDCF4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 name="">
            <a:extLst xmlns:a="http://schemas.openxmlformats.org/drawingml/2006/main">
              <a:ext uri="{FF2B5EF4-FFF2-40B4-BE49-F238E27FC236}">
                <a16:creationId xmlns:a16="http://schemas.microsoft.com/office/drawing/2014/main" id="{D6CD3093-2C28-4103-9CDC-F57677480997}"/>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 name="">
            <a:extLst xmlns:a="http://schemas.openxmlformats.org/drawingml/2006/main">
              <a:ext uri="{FF2B5EF4-FFF2-40B4-BE49-F238E27FC236}">
                <a16:creationId xmlns:a16="http://schemas.microsoft.com/office/drawing/2014/main" id="{0D2B7161-F8C2-48E1-8F50-B960EAF6CD3F}"/>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4" name="">
            <a:extLst xmlns:a="http://schemas.openxmlformats.org/drawingml/2006/main">
              <a:ext uri="{FF2B5EF4-FFF2-40B4-BE49-F238E27FC236}">
                <a16:creationId xmlns:a16="http://schemas.microsoft.com/office/drawing/2014/main" id="{90B7647A-5263-4DE6-8631-C49FD53180C4}"/>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5" name="">
            <a:extLst xmlns:a="http://schemas.openxmlformats.org/drawingml/2006/main">
              <a:ext uri="{FF2B5EF4-FFF2-40B4-BE49-F238E27FC236}">
                <a16:creationId xmlns:a16="http://schemas.microsoft.com/office/drawing/2014/main" id="{DE36FA70-3340-43E4-A487-F2C51D4BA21F}"/>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6" name="">
            <a:extLst xmlns:a="http://schemas.openxmlformats.org/drawingml/2006/main">
              <a:ext uri="{FF2B5EF4-FFF2-40B4-BE49-F238E27FC236}">
                <a16:creationId xmlns:a16="http://schemas.microsoft.com/office/drawing/2014/main" id="{F833964B-6BE2-4CEF-8E23-95196CAF0337}"/>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7" name="">
            <a:extLst xmlns:a="http://schemas.openxmlformats.org/drawingml/2006/main">
              <a:ext uri="{FF2B5EF4-FFF2-40B4-BE49-F238E27FC236}">
                <a16:creationId xmlns:a16="http://schemas.microsoft.com/office/drawing/2014/main" id="{AC7BB0FC-25F8-49CF-A7B3-B52CF362ABE1}"/>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8" name="">
            <a:extLst xmlns:a="http://schemas.openxmlformats.org/drawingml/2006/main">
              <a:ext uri="{FF2B5EF4-FFF2-40B4-BE49-F238E27FC236}">
                <a16:creationId xmlns:a16="http://schemas.microsoft.com/office/drawing/2014/main" id="{14982DFC-F5BE-4704-A473-28E1AEC1AA9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9" name="">
            <a:extLst xmlns:a="http://schemas.openxmlformats.org/drawingml/2006/main">
              <a:ext uri="{FF2B5EF4-FFF2-40B4-BE49-F238E27FC236}">
                <a16:creationId xmlns:a16="http://schemas.microsoft.com/office/drawing/2014/main" id="{45C57264-F2AD-4DE4-97B8-473F2C068398}"/>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0" name="">
            <a:extLst xmlns:a="http://schemas.openxmlformats.org/drawingml/2006/main">
              <a:ext uri="{FF2B5EF4-FFF2-40B4-BE49-F238E27FC236}">
                <a16:creationId xmlns:a16="http://schemas.microsoft.com/office/drawing/2014/main" id="{30283AAE-2106-4709-A149-88321DC44FF5}"/>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1" name="">
            <a:extLst xmlns:a="http://schemas.openxmlformats.org/drawingml/2006/main">
              <a:ext uri="{FF2B5EF4-FFF2-40B4-BE49-F238E27FC236}">
                <a16:creationId xmlns:a16="http://schemas.microsoft.com/office/drawing/2014/main" id="{477499F2-E65C-4ED0-B851-F4155762AAD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2" name="">
            <a:extLst xmlns:a="http://schemas.openxmlformats.org/drawingml/2006/main">
              <a:ext uri="{FF2B5EF4-FFF2-40B4-BE49-F238E27FC236}">
                <a16:creationId xmlns:a16="http://schemas.microsoft.com/office/drawing/2014/main" id="{BC395B3F-D10B-4449-A887-BD19EA268455}"/>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3" name="">
            <a:extLst xmlns:a="http://schemas.openxmlformats.org/drawingml/2006/main">
              <a:ext uri="{FF2B5EF4-FFF2-40B4-BE49-F238E27FC236}">
                <a16:creationId xmlns:a16="http://schemas.microsoft.com/office/drawing/2014/main" id="{F297FCAF-6585-4823-BE1E-D78A90A9E2A3}"/>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4" name="">
            <a:extLst xmlns:a="http://schemas.openxmlformats.org/drawingml/2006/main">
              <a:ext uri="{FF2B5EF4-FFF2-40B4-BE49-F238E27FC236}">
                <a16:creationId xmlns:a16="http://schemas.microsoft.com/office/drawing/2014/main" id="{1D938C63-EA33-4BE0-9D10-948FA886155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5" name="">
            <a:extLst xmlns:a="http://schemas.openxmlformats.org/drawingml/2006/main">
              <a:ext uri="{FF2B5EF4-FFF2-40B4-BE49-F238E27FC236}">
                <a16:creationId xmlns:a16="http://schemas.microsoft.com/office/drawing/2014/main" id="{5351FCC6-9155-4EB0-A6BB-F241235C00FF}"/>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6" name="">
            <a:extLst xmlns:a="http://schemas.openxmlformats.org/drawingml/2006/main">
              <a:ext uri="{FF2B5EF4-FFF2-40B4-BE49-F238E27FC236}">
                <a16:creationId xmlns:a16="http://schemas.microsoft.com/office/drawing/2014/main" id="{4D4F02F2-E71C-414A-A4D6-ECA1A114DF2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7" name="">
            <a:extLst xmlns:a="http://schemas.openxmlformats.org/drawingml/2006/main">
              <a:ext uri="{FF2B5EF4-FFF2-40B4-BE49-F238E27FC236}">
                <a16:creationId xmlns:a16="http://schemas.microsoft.com/office/drawing/2014/main" id="{E345989B-B1E9-4AC4-9AEA-C8F51D9E5425}"/>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8" name="">
            <a:extLst xmlns:a="http://schemas.openxmlformats.org/drawingml/2006/main">
              <a:ext uri="{FF2B5EF4-FFF2-40B4-BE49-F238E27FC236}">
                <a16:creationId xmlns:a16="http://schemas.microsoft.com/office/drawing/2014/main" id="{7D2A5ACF-153C-45D6-9B4C-A70A328CDF61}"/>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19" name="">
            <a:extLst xmlns:a="http://schemas.openxmlformats.org/drawingml/2006/main">
              <a:ext uri="{FF2B5EF4-FFF2-40B4-BE49-F238E27FC236}">
                <a16:creationId xmlns:a16="http://schemas.microsoft.com/office/drawing/2014/main" id="{F8356CAA-1D98-4490-84FD-2E38B73F771D}"/>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0" name="">
            <a:extLst xmlns:a="http://schemas.openxmlformats.org/drawingml/2006/main">
              <a:ext uri="{FF2B5EF4-FFF2-40B4-BE49-F238E27FC236}">
                <a16:creationId xmlns:a16="http://schemas.microsoft.com/office/drawing/2014/main" id="{3E74EEF0-B519-4E81-B2F0-3271383E1AF7}"/>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1" name="">
            <a:extLst xmlns:a="http://schemas.openxmlformats.org/drawingml/2006/main">
              <a:ext uri="{FF2B5EF4-FFF2-40B4-BE49-F238E27FC236}">
                <a16:creationId xmlns:a16="http://schemas.microsoft.com/office/drawing/2014/main" id="{5406914B-62EE-4150-B167-8A8817EE2331}"/>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2" name="">
            <a:extLst xmlns:a="http://schemas.openxmlformats.org/drawingml/2006/main">
              <a:ext uri="{FF2B5EF4-FFF2-40B4-BE49-F238E27FC236}">
                <a16:creationId xmlns:a16="http://schemas.microsoft.com/office/drawing/2014/main" id="{D72D9500-DD95-4B28-98CA-61FFD3372367}"/>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3" name="">
            <a:extLst xmlns:a="http://schemas.openxmlformats.org/drawingml/2006/main">
              <a:ext uri="{FF2B5EF4-FFF2-40B4-BE49-F238E27FC236}">
                <a16:creationId xmlns:a16="http://schemas.microsoft.com/office/drawing/2014/main" id="{71EEC074-FDBD-4823-B1FA-31C1495A0813}"/>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4" name="">
            <a:extLst xmlns:a="http://schemas.openxmlformats.org/drawingml/2006/main">
              <a:ext uri="{FF2B5EF4-FFF2-40B4-BE49-F238E27FC236}">
                <a16:creationId xmlns:a16="http://schemas.microsoft.com/office/drawing/2014/main" id="{4F8A7E42-B6A6-4A6F-8DAE-3BFA9B0CEA4E}"/>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5" name="">
            <a:extLst xmlns:a="http://schemas.openxmlformats.org/drawingml/2006/main">
              <a:ext uri="{FF2B5EF4-FFF2-40B4-BE49-F238E27FC236}">
                <a16:creationId xmlns:a16="http://schemas.microsoft.com/office/drawing/2014/main" id="{4426D255-E028-42F7-B133-EC7C2E2545D1}"/>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6" name="">
            <a:extLst xmlns:a="http://schemas.openxmlformats.org/drawingml/2006/main">
              <a:ext uri="{FF2B5EF4-FFF2-40B4-BE49-F238E27FC236}">
                <a16:creationId xmlns:a16="http://schemas.microsoft.com/office/drawing/2014/main" id="{0A73D160-CDDD-4EC2-9867-FF83E48E46EB}"/>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7" name="">
            <a:extLst xmlns:a="http://schemas.openxmlformats.org/drawingml/2006/main">
              <a:ext uri="{FF2B5EF4-FFF2-40B4-BE49-F238E27FC236}">
                <a16:creationId xmlns:a16="http://schemas.microsoft.com/office/drawing/2014/main" id="{EB8C4DB0-0A90-420F-A300-A747002816DC}"/>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8" name="">
            <a:extLst xmlns:a="http://schemas.openxmlformats.org/drawingml/2006/main">
              <a:ext uri="{FF2B5EF4-FFF2-40B4-BE49-F238E27FC236}">
                <a16:creationId xmlns:a16="http://schemas.microsoft.com/office/drawing/2014/main" id="{95D6760D-C59E-4BEE-A898-7E4D3B059458}"/>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29" name="">
            <a:extLst xmlns:a="http://schemas.openxmlformats.org/drawingml/2006/main">
              <a:ext uri="{FF2B5EF4-FFF2-40B4-BE49-F238E27FC236}">
                <a16:creationId xmlns:a16="http://schemas.microsoft.com/office/drawing/2014/main" id="{FC3AD031-FD33-4917-9190-8CAAB4DB253A}"/>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0" name="">
            <a:extLst xmlns:a="http://schemas.openxmlformats.org/drawingml/2006/main">
              <a:ext uri="{FF2B5EF4-FFF2-40B4-BE49-F238E27FC236}">
                <a16:creationId xmlns:a16="http://schemas.microsoft.com/office/drawing/2014/main" id="{45485CCE-B79A-4775-A8E6-0FEDF39D7FAC}"/>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1" name="">
            <a:extLst xmlns:a="http://schemas.openxmlformats.org/drawingml/2006/main">
              <a:ext uri="{FF2B5EF4-FFF2-40B4-BE49-F238E27FC236}">
                <a16:creationId xmlns:a16="http://schemas.microsoft.com/office/drawing/2014/main" id="{95CA0231-F9B4-4A63-9E55-974C1F072370}"/>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2" name="">
            <a:extLst xmlns:a="http://schemas.openxmlformats.org/drawingml/2006/main">
              <a:ext uri="{FF2B5EF4-FFF2-40B4-BE49-F238E27FC236}">
                <a16:creationId xmlns:a16="http://schemas.microsoft.com/office/drawing/2014/main" id="{6532AB57-7A8A-4A7C-A601-C73645FF10EA}"/>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DFE4E8"/>
          </a:solidFill>
          <a:ln xmlns:a="http://schemas.openxmlformats.org/drawingml/2006/main" w="14288">
            <a:solidFill>
              <a:srgbClr val="DFE4E8"/>
            </a:solidFill>
          </a:ln>
        </p:spPr>
      </p:sp>
      <p:sp>
        <p:nvSpPr>
          <p:cNvPr id="33" name="">
            <a:extLst xmlns:a="http://schemas.openxmlformats.org/drawingml/2006/main">
              <a:ext uri="{FF2B5EF4-FFF2-40B4-BE49-F238E27FC236}">
                <a16:creationId xmlns:a16="http://schemas.microsoft.com/office/drawing/2014/main" id="{651CA43A-E757-4B21-B3AC-B2B727DD5EAE}"/>
              </a:ext>
            </a:extLst>
          </p:cNvPr>
          <p:cNvSpPr>
            <a:spLocks xmlns:a="http://schemas.openxmlformats.org/drawingml/2006/main" noGrp="1"/>
          </p:cNvSpPr>
          <p:nvPr/>
        </p:nvSpPr>
        <p:spPr>
          <a:xfrm xmlns:a="http://schemas.openxmlformats.org/drawingml/2006/main">
            <a:off x="552450" y="323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625" b="1">
                <a:solidFill>
                  <a:srgbClr val="081426"/>
                </a:solidFill>
              </a:defRPr>
            </a:pPr>
            <a:r>
              <a:rPr sz="2625" b="1">
                <a:solidFill>
                  <a:srgbClr val="081426"/>
                </a:solidFill>
              </a:rPr>
              <a:t>Ambient enforcement turns trust into an active property of consequential traffic</a:t>
            </a:r>
          </a:p>
        </p:txBody>
      </p:sp>
      <p:sp>
        <p:nvSpPr>
          <p:cNvPr id="34" name="">
            <a:extLst xmlns:a="http://schemas.openxmlformats.org/drawingml/2006/main">
              <a:ext uri="{FF2B5EF4-FFF2-40B4-BE49-F238E27FC236}">
                <a16:creationId xmlns:a16="http://schemas.microsoft.com/office/drawing/2014/main" id="{D5D5E1BB-70FC-4853-991F-DE3AB393E045}"/>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37465B"/>
                </a:solidFill>
              </a:defRPr>
            </a:pPr>
            <a:r>
              <a:rPr sz="1050" b="1">
                <a:solidFill>
                  <a:srgbClr val="37465B"/>
                </a:solidFill>
              </a:rPr>
              <a:t>Z</a:t>
            </a:r>
          </a:p>
        </p:txBody>
      </p:sp>
      <p:sp>
        <p:nvSpPr>
          <p:cNvPr id="35" name="">
            <a:extLst xmlns:a="http://schemas.openxmlformats.org/drawingml/2006/main">
              <a:ext uri="{FF2B5EF4-FFF2-40B4-BE49-F238E27FC236}">
                <a16:creationId xmlns:a16="http://schemas.microsoft.com/office/drawing/2014/main" id="{655502B5-E99F-418D-B1FB-7F1209A0D9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52B"/>
          </a:solidFill>
          <a:ln xmlns:a="http://schemas.openxmlformats.org/drawingml/2006/main" w="14288">
            <a:solidFill>
              <a:srgbClr val="07152B"/>
            </a:solidFill>
          </a:ln>
        </p:spPr>
      </p:sp>
      <p:sp>
        <p:nvSpPr>
          <p:cNvPr id="36" name="">
            <a:extLst xmlns:a="http://schemas.openxmlformats.org/drawingml/2006/main">
              <a:ext uri="{FF2B5EF4-FFF2-40B4-BE49-F238E27FC236}">
                <a16:creationId xmlns:a16="http://schemas.microsoft.com/office/drawing/2014/main" id="{55CEC17F-6833-440C-8A84-6F4E74924CB1}"/>
              </a:ext>
            </a:extLst>
          </p:cNvPr>
          <p:cNvSpPr>
            <a:spLocks xmlns:a="http://schemas.openxmlformats.org/drawingml/2006/main" noGrp="1"/>
          </p:cNvSpPr>
          <p:nvPr/>
        </p:nvSpPr>
        <p:spPr>
          <a:xfrm xmlns:a="http://schemas.openxmlformats.org/drawingml/2006/main">
            <a:off x="904875" y="14287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1">
                <a:solidFill>
                  <a:srgbClr val="91A0B4"/>
                </a:solidFill>
              </a:defRPr>
            </a:pPr>
            <a:r>
              <a:rPr sz="1200" b="1">
                <a:solidFill>
                  <a:srgbClr val="91A0B4"/>
                </a:solidFill>
              </a:rPr>
              <a:t>FROM</a:t>
            </a:r>
          </a:p>
        </p:txBody>
      </p:sp>
      <p:sp>
        <p:nvSpPr>
          <p:cNvPr id="37" name="">
            <a:extLst xmlns:a="http://schemas.openxmlformats.org/drawingml/2006/main">
              <a:ext uri="{FF2B5EF4-FFF2-40B4-BE49-F238E27FC236}">
                <a16:creationId xmlns:a16="http://schemas.microsoft.com/office/drawing/2014/main" id="{140CA4C9-93F4-45F1-AFDB-1255658DF1BF}"/>
              </a:ext>
            </a:extLst>
          </p:cNvPr>
          <p:cNvSpPr>
            <a:spLocks xmlns:a="http://schemas.openxmlformats.org/drawingml/2006/main" noGrp="1"/>
          </p:cNvSpPr>
          <p:nvPr/>
        </p:nvSpPr>
        <p:spPr>
          <a:xfrm xmlns:a="http://schemas.openxmlformats.org/drawingml/2006/main">
            <a:off x="904875" y="1905000"/>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Is this credential valid?</a:t>
            </a:r>
          </a:p>
        </p:txBody>
      </p:sp>
      <p:sp>
        <p:nvSpPr>
          <p:cNvPr id="38" name="">
            <a:extLst xmlns:a="http://schemas.openxmlformats.org/drawingml/2006/main">
              <a:ext uri="{FF2B5EF4-FFF2-40B4-BE49-F238E27FC236}">
                <a16:creationId xmlns:a16="http://schemas.microsoft.com/office/drawing/2014/main" id="{A00C3790-0404-4AD8-979A-237FF9F1FFD3}"/>
              </a:ext>
            </a:extLst>
          </p:cNvPr>
          <p:cNvSpPr>
            <a:spLocks xmlns:a="http://schemas.openxmlformats.org/drawingml/2006/main" noGrp="1"/>
          </p:cNvSpPr>
          <p:nvPr/>
        </p:nvSpPr>
        <p:spPr>
          <a:xfrm xmlns:a="http://schemas.openxmlformats.org/drawingml/2006/main" rot="0">
            <a:off x="5286375" y="2333625"/>
            <a:ext cx="1666875" cy="47625"/>
          </a:xfrm>
          <a:prstGeom xmlns:a="http://schemas.openxmlformats.org/drawingml/2006/main" prst="rect">
            <a:avLst/>
          </a:prstGeom>
          <a:solidFill xmlns:a="http://schemas.openxmlformats.org/drawingml/2006/main">
            <a:srgbClr val="D7473F"/>
          </a:solidFill>
          <a:ln xmlns:a="http://schemas.openxmlformats.org/drawingml/2006/main" w="14288">
            <a:solidFill>
              <a:srgbClr val="D7473F"/>
            </a:solidFill>
          </a:ln>
        </p:spPr>
      </p:sp>
      <p:sp>
        <p:nvSpPr>
          <p:cNvPr id="39" name="">
            <a:extLst xmlns:a="http://schemas.openxmlformats.org/drawingml/2006/main">
              <a:ext uri="{FF2B5EF4-FFF2-40B4-BE49-F238E27FC236}">
                <a16:creationId xmlns:a16="http://schemas.microsoft.com/office/drawing/2014/main" id="{7E14242B-9CCD-4DC2-9316-BC3BC6BF039F}"/>
              </a:ext>
            </a:extLst>
          </p:cNvPr>
          <p:cNvSpPr>
            <a:spLocks xmlns:a="http://schemas.openxmlformats.org/drawingml/2006/main" noGrp="1"/>
          </p:cNvSpPr>
          <p:nvPr/>
        </p:nvSpPr>
        <p:spPr>
          <a:xfrm xmlns:a="http://schemas.openxmlformats.org/drawingml/2006/main" rot="5400000">
            <a:off x="6858000" y="2247900"/>
            <a:ext cx="190500" cy="171450"/>
          </a:xfrm>
          <a:prstGeom xmlns:a="http://schemas.openxmlformats.org/drawingml/2006/main" prst="triangle">
            <a:avLst/>
          </a:prstGeom>
          <a:solidFill xmlns:a="http://schemas.openxmlformats.org/drawingml/2006/main">
            <a:srgbClr val="D7473F"/>
          </a:solidFill>
          <a:ln xmlns:a="http://schemas.openxmlformats.org/drawingml/2006/main" w="0">
            <a:solidFill>
              <a:srgbClr val="D7473F"/>
            </a:solidFill>
          </a:ln>
        </p:spPr>
      </p:sp>
      <p:sp>
        <p:nvSpPr>
          <p:cNvPr id="40" name="">
            <a:extLst xmlns:a="http://schemas.openxmlformats.org/drawingml/2006/main">
              <a:ext uri="{FF2B5EF4-FFF2-40B4-BE49-F238E27FC236}">
                <a16:creationId xmlns:a16="http://schemas.microsoft.com/office/drawing/2014/main" id="{48B915E1-B8E7-435B-B622-1CDD1F21D156}"/>
              </a:ext>
            </a:extLst>
          </p:cNvPr>
          <p:cNvSpPr>
            <a:spLocks xmlns:a="http://schemas.openxmlformats.org/drawingml/2006/main" noGrp="1"/>
          </p:cNvSpPr>
          <p:nvPr/>
        </p:nvSpPr>
        <p:spPr>
          <a:xfrm xmlns:a="http://schemas.openxmlformats.org/drawingml/2006/main">
            <a:off x="7286625" y="14287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00" b="1">
                <a:solidFill>
                  <a:srgbClr val="61A8FF"/>
                </a:solidFill>
              </a:defRPr>
            </a:pPr>
            <a:r>
              <a:rPr sz="1200" b="1">
                <a:solidFill>
                  <a:srgbClr val="61A8FF"/>
                </a:solidFill>
              </a:rPr>
              <a:t>TO</a:t>
            </a:r>
          </a:p>
        </p:txBody>
      </p:sp>
      <p:sp>
        <p:nvSpPr>
          <p:cNvPr id="41" name="">
            <a:extLst xmlns:a="http://schemas.openxmlformats.org/drawingml/2006/main">
              <a:ext uri="{FF2B5EF4-FFF2-40B4-BE49-F238E27FC236}">
                <a16:creationId xmlns:a16="http://schemas.microsoft.com/office/drawing/2014/main" id="{EE8CE82D-9B21-44ED-9008-23ABBCC1E1CE}"/>
              </a:ext>
            </a:extLst>
          </p:cNvPr>
          <p:cNvSpPr>
            <a:spLocks xmlns:a="http://schemas.openxmlformats.org/drawingml/2006/main" noGrp="1"/>
          </p:cNvSpPr>
          <p:nvPr/>
        </p:nvSpPr>
        <p:spPr>
          <a:xfrm xmlns:a="http://schemas.openxmlformats.org/drawingml/2006/main">
            <a:off x="7286625" y="190500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Does this trajectory earn authority now?</a:t>
            </a:r>
          </a:p>
        </p:txBody>
      </p:sp>
      <p:sp>
        <p:nvSpPr>
          <p:cNvPr id="42" name="">
            <a:extLst xmlns:a="http://schemas.openxmlformats.org/drawingml/2006/main">
              <a:ext uri="{FF2B5EF4-FFF2-40B4-BE49-F238E27FC236}">
                <a16:creationId xmlns:a16="http://schemas.microsoft.com/office/drawing/2014/main" id="{C513920C-1583-4782-928A-C86D12E5B09E}"/>
              </a:ext>
            </a:extLst>
          </p:cNvPr>
          <p:cNvSpPr>
            <a:spLocks xmlns:a="http://schemas.openxmlformats.org/drawingml/2006/main" noGrp="1"/>
          </p:cNvSpPr>
          <p:nvPr/>
        </p:nvSpPr>
        <p:spPr>
          <a:xfrm xmlns:a="http://schemas.openxmlformats.org/drawingml/2006/main">
            <a:off x="904875" y="3667125"/>
            <a:ext cx="10477500" cy="28575"/>
          </a:xfrm>
          <a:prstGeom xmlns:a="http://schemas.openxmlformats.org/drawingml/2006/main" prst="rect">
            <a:avLst/>
          </a:prstGeom>
          <a:solidFill xmlns:a="http://schemas.openxmlformats.org/drawingml/2006/main">
            <a:srgbClr val="2276E3"/>
          </a:solidFill>
          <a:ln xmlns:a="http://schemas.openxmlformats.org/drawingml/2006/main" w="14288">
            <a:solidFill>
              <a:srgbClr val="2276E3"/>
            </a:solidFill>
          </a:ln>
        </p:spPr>
      </p:sp>
      <p:sp>
        <p:nvSpPr>
          <p:cNvPr id="43" name="">
            <a:extLst xmlns:a="http://schemas.openxmlformats.org/drawingml/2006/main">
              <a:ext uri="{FF2B5EF4-FFF2-40B4-BE49-F238E27FC236}">
                <a16:creationId xmlns:a16="http://schemas.microsoft.com/office/drawing/2014/main" id="{65C0DB64-48ED-4BBA-8744-27E608304B42}"/>
              </a:ext>
            </a:extLst>
          </p:cNvPr>
          <p:cNvSpPr>
            <a:spLocks xmlns:a="http://schemas.openxmlformats.org/drawingml/2006/main" noGrp="1"/>
          </p:cNvSpPr>
          <p:nvPr/>
        </p:nvSpPr>
        <p:spPr>
          <a:xfrm xmlns:a="http://schemas.openxmlformats.org/drawingml/2006/main">
            <a:off x="1428750" y="4095750"/>
            <a:ext cx="933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325" b="1">
                <a:solidFill>
                  <a:srgbClr val="61A8FF"/>
                </a:solidFill>
              </a:defRPr>
            </a:pPr>
            <a:r>
              <a:rPr sz="2325" b="1">
                <a:solidFill>
                  <a:srgbClr val="61A8FF"/>
                </a:solidFill>
              </a:rPr>
              <a:t>KIL is a proposed, testable KTP extension profile.</a:t>
            </a:r>
          </a:p>
        </p:txBody>
      </p:sp>
      <p:sp>
        <p:nvSpPr>
          <p:cNvPr id="44" name="">
            <a:extLst xmlns:a="http://schemas.openxmlformats.org/drawingml/2006/main">
              <a:ext uri="{FF2B5EF4-FFF2-40B4-BE49-F238E27FC236}">
                <a16:creationId xmlns:a16="http://schemas.microsoft.com/office/drawing/2014/main" id="{B5657FB2-84A7-4B47-BA3B-E1E299A29793}"/>
              </a:ext>
            </a:extLst>
          </p:cNvPr>
          <p:cNvSpPr>
            <a:spLocks xmlns:a="http://schemas.openxmlformats.org/drawingml/2006/main" noGrp="1"/>
          </p:cNvSpPr>
          <p:nvPr/>
        </p:nvSpPr>
        <p:spPr>
          <a:xfrm xmlns:a="http://schemas.openxmlformats.org/drawingml/2006/main">
            <a:off x="2381250" y="4857750"/>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950" b="0">
                <a:solidFill>
                  <a:srgbClr val="FFFFFF"/>
                </a:solidFill>
              </a:defRPr>
            </a:pPr>
            <a:r>
              <a:rPr sz="1950" b="0">
                <a:solidFill>
                  <a:srgbClr val="FFFFFF"/>
                </a:solidFill>
              </a:rPr>
              <a:t>Its claims advance only with evidence.</a:t>
            </a:r>
          </a:p>
        </p:txBody>
      </p:sp>
      <p:sp>
        <p:nvSpPr>
          <p:cNvPr id="45" name="">
            <a:extLst xmlns:a="http://schemas.openxmlformats.org/drawingml/2006/main">
              <a:ext uri="{FF2B5EF4-FFF2-40B4-BE49-F238E27FC236}">
                <a16:creationId xmlns:a16="http://schemas.microsoft.com/office/drawing/2014/main" id="{0F675B7C-DBAE-4387-82DF-1323F21138EE}"/>
              </a:ext>
            </a:extLst>
          </p:cNvPr>
          <p:cNvSpPr>
            <a:spLocks xmlns:a="http://schemas.openxmlformats.org/drawingml/2006/main" noGrp="1"/>
          </p:cNvSpPr>
          <p:nvPr/>
        </p:nvSpPr>
        <p:spPr>
          <a:xfrm xmlns:a="http://schemas.openxmlformats.org/drawingml/2006/main">
            <a:off x="11353800" y="3238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050" b="1">
                <a:solidFill>
                  <a:srgbClr val="FFFFFF"/>
                </a:solidFill>
              </a:defRPr>
            </a:pPr>
            <a:r>
              <a:rPr sz="1050" b="1">
                <a:solidFill>
                  <a:srgbClr val="FFFFFF"/>
                </a:solidFill>
              </a:rPr>
              <a:t>Z</a:t>
            </a:r>
          </a:p>
        </p:txBody>
      </p:sp>
    </p:spTree>
    <p:extLst>
      <p:ext uri="{BB962C8B-B14F-4D97-AF65-F5344CB8AC3E}">
        <p14:creationId xmlns:p14="http://schemas.microsoft.com/office/powerpoint/2010/main" val="20239632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2026-09-02T13:35:19.3500000Z</dcterms:created>
  <dcterms:modified xsi:type="dcterms:W3CDTF">2026-09-02T13:35:19.3500000Z</dcterms:modified>
</coreProperties>
</file>