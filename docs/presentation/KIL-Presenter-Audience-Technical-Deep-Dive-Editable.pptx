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6ffaf68d1e4f00" /><Relationship Type="http://schemas.openxmlformats.org/officeDocument/2006/relationships/extended-properties" Target="/docProps/app.xml" Id="R235c2185806e489e" /><Relationship Type="http://schemas.openxmlformats.org/officeDocument/2006/relationships/officeDocument" Target="/ppt/presentation.xml" Id="R86615f08f8644ad7" /></Relationships>
</file>

<file path=ppt/presentation.xml><?xml version="1.0" encoding="utf-8"?>
<p:presentation xmlns:p="http://schemas.openxmlformats.org/presentationml/2006/main">
  <p:sldMasterIdLst>
    <p:sldMasterId xmlns:r="http://schemas.openxmlformats.org/officeDocument/2006/relationships" id="2147483648" r:id="R1b6124dacf014811"/>
  </p:sldMasterIdLst>
  <p:notesMasterIdLst>
    <p:notesMasterId xmlns:r="http://schemas.openxmlformats.org/officeDocument/2006/relationships" r:id="Rbc3e32e823294c47"/>
  </p:notesMasterIdLst>
  <p:sldIdLst>
    <p:sldId xmlns:r="http://schemas.openxmlformats.org/officeDocument/2006/relationships" id="256" r:id="Re11f0f341a4c42b5"/>
    <p:sldId xmlns:r="http://schemas.openxmlformats.org/officeDocument/2006/relationships" id="257" r:id="R776ddc73db1045e4"/>
    <p:sldId xmlns:r="http://schemas.openxmlformats.org/officeDocument/2006/relationships" id="258" r:id="R79d1a8e54db640c0"/>
    <p:sldId xmlns:r="http://schemas.openxmlformats.org/officeDocument/2006/relationships" id="259" r:id="R440526195f804d9a"/>
    <p:sldId xmlns:r="http://schemas.openxmlformats.org/officeDocument/2006/relationships" id="260" r:id="R5f27c34883314ab8"/>
    <p:sldId xmlns:r="http://schemas.openxmlformats.org/officeDocument/2006/relationships" id="261" r:id="R2b12e0fb05a3426a"/>
    <p:sldId xmlns:r="http://schemas.openxmlformats.org/officeDocument/2006/relationships" id="262" r:id="R0a58d5edadbe4ed0"/>
    <p:sldId xmlns:r="http://schemas.openxmlformats.org/officeDocument/2006/relationships" id="263" r:id="R0584be2c74674ebb"/>
    <p:sldId xmlns:r="http://schemas.openxmlformats.org/officeDocument/2006/relationships" id="264" r:id="R3600a47ccdaf4407"/>
    <p:sldId xmlns:r="http://schemas.openxmlformats.org/officeDocument/2006/relationships" id="265" r:id="R82bc263edfc34f4f"/>
    <p:sldId xmlns:r="http://schemas.openxmlformats.org/officeDocument/2006/relationships" id="266" r:id="Ra2fc20d773e14541"/>
    <p:sldId xmlns:r="http://schemas.openxmlformats.org/officeDocument/2006/relationships" id="267" r:id="Rac3430dd6cea4f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3f8510c367455b" /><Relationship Type="http://schemas.openxmlformats.org/officeDocument/2006/relationships/slideMaster" Target="/ppt/slideMasters/slideMaster1.xml" Id="R1b6124dacf014811" /><Relationship Type="http://schemas.openxmlformats.org/officeDocument/2006/relationships/notesMaster" Target="/ppt/notesMasters/notesMaster1.xml" Id="Rbc3e32e823294c47" /><Relationship Type="http://schemas.openxmlformats.org/officeDocument/2006/relationships/presProps" Target="/ppt/presProps.xml" Id="R71fbc8a468934ace" /><Relationship Type="http://schemas.openxmlformats.org/officeDocument/2006/relationships/tableStyles" Target="/ppt/tableStyles.xml" Id="Ra19a027d113b4cec" /><Relationship Type="http://schemas.openxmlformats.org/officeDocument/2006/relationships/slide" Target="/ppt/slides/slide1.xml" Id="Re11f0f341a4c42b5" /><Relationship Type="http://schemas.openxmlformats.org/officeDocument/2006/relationships/slide" Target="/ppt/slides/slide2.xml" Id="R776ddc73db1045e4" /><Relationship Type="http://schemas.openxmlformats.org/officeDocument/2006/relationships/slide" Target="/ppt/slides/slide3.xml" Id="R79d1a8e54db640c0" /><Relationship Type="http://schemas.openxmlformats.org/officeDocument/2006/relationships/slide" Target="/ppt/slides/slide4.xml" Id="R440526195f804d9a" /><Relationship Type="http://schemas.openxmlformats.org/officeDocument/2006/relationships/slide" Target="/ppt/slides/slide5.xml" Id="R5f27c34883314ab8" /><Relationship Type="http://schemas.openxmlformats.org/officeDocument/2006/relationships/slide" Target="/ppt/slides/slide6.xml" Id="R2b12e0fb05a3426a" /><Relationship Type="http://schemas.openxmlformats.org/officeDocument/2006/relationships/slide" Target="/ppt/slides/slide7.xml" Id="R0a58d5edadbe4ed0" /><Relationship Type="http://schemas.openxmlformats.org/officeDocument/2006/relationships/slide" Target="/ppt/slides/slide8.xml" Id="R0584be2c74674ebb" /><Relationship Type="http://schemas.openxmlformats.org/officeDocument/2006/relationships/slide" Target="/ppt/slides/slide9.xml" Id="R3600a47ccdaf4407" /><Relationship Type="http://schemas.openxmlformats.org/officeDocument/2006/relationships/slide" Target="/ppt/slides/slide10.xml" Id="R82bc263edfc34f4f" /><Relationship Type="http://schemas.openxmlformats.org/officeDocument/2006/relationships/slide" Target="/ppt/slides/slide11.xml" Id="Ra2fc20d773e14541" /><Relationship Type="http://schemas.openxmlformats.org/officeDocument/2006/relationships/slide" Target="/ppt/slides/slide12.xml" Id="Rac3430dd6cea4f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995945ec0d49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c52a4fe5874b43" /><Relationship Type="http://schemas.openxmlformats.org/officeDocument/2006/relationships/notesMaster" Target="/ppt/notesMasters/notesMaster1.xml" Id="R4f510fba5c0043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380eeb27644455" /><Relationship Type="http://schemas.openxmlformats.org/officeDocument/2006/relationships/notesMaster" Target="/ppt/notesMasters/notesMaster1.xml" Id="Rcb95a27b8e414f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91ea060614871" /><Relationship Type="http://schemas.openxmlformats.org/officeDocument/2006/relationships/notesMaster" Target="/ppt/notesMasters/notesMaster1.xml" Id="Ra7f7c753824d42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80d378a7304808" /><Relationship Type="http://schemas.openxmlformats.org/officeDocument/2006/relationships/notesMaster" Target="/ppt/notesMasters/notesMaster1.xml" Id="Rf620088da1064f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3c18b3432e405e" /><Relationship Type="http://schemas.openxmlformats.org/officeDocument/2006/relationships/notesMaster" Target="/ppt/notesMasters/notesMaster1.xml" Id="Rba34333a01094e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b092fe41584f6b" /><Relationship Type="http://schemas.openxmlformats.org/officeDocument/2006/relationships/notesMaster" Target="/ppt/notesMasters/notesMaster1.xml" Id="R3d2220df3cb04a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f1305684a142d2" /><Relationship Type="http://schemas.openxmlformats.org/officeDocument/2006/relationships/notesMaster" Target="/ppt/notesMasters/notesMaster1.xml" Id="R587e1a909bdc42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6d8c2cc7a54232" /><Relationship Type="http://schemas.openxmlformats.org/officeDocument/2006/relationships/notesMaster" Target="/ppt/notesMasters/notesMaster1.xml" Id="Raa1a73bcb9b445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85c14bd30a4204" /><Relationship Type="http://schemas.openxmlformats.org/officeDocument/2006/relationships/notesMaster" Target="/ppt/notesMasters/notesMaster1.xml" Id="R28155c2f7e4442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96f650284f40b4" /><Relationship Type="http://schemas.openxmlformats.org/officeDocument/2006/relationships/notesMaster" Target="/ppt/notesMasters/notesMaster1.xml" Id="Rab955b68d7b24f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1c9f0485954140" /><Relationship Type="http://schemas.openxmlformats.org/officeDocument/2006/relationships/notesMaster" Target="/ppt/notesMasters/notesMaster1.xml" Id="R82b7681d4bb043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d4bb368bc44640" /><Relationship Type="http://schemas.openxmlformats.org/officeDocument/2006/relationships/notesMaster" Target="/ppt/notesMasters/notesMaster1.xml" Id="R36f7b4dc160b48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Cybersecurity is at an inflection point. Frontier systems can discover, chain, and execute attacks at machine speed while using authentic credentials and ordinary service interfaces. That moved us from ambient risk through ambient threat into ambient breach: the operating condition in which service and attack cannot reliably be distinguished before consequence. It does not mean every system is continuously compromised. It means retrospective detection and human response can no longer remain the primary control. Ambient enforcement is the required evolution.</a:t>
            </a:r>
          </a:p>
          <a:p xmlns:a="http://schemas.openxmlformats.org/drawingml/2006/main">
            <a:r>
              <a:t/>
            </a:r>
          </a:p>
          <a:p xmlns:a="http://schemas.openxmlformats.org/drawingml/2006/main">
            <a:r>
              <a:t>Source statement: KIL paper, Introduction and checkpoint problem; proposed architectural thesis.</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credential-and-policy checkpoint asks whether the credential is authentic and whether an operation is allowed. KIL adds a different question: does this identity’s present trajectory still carry enough fresh, class-bound authority for this action now? The infrastructure boundary consumes that live authority before forwarding, constraining, or withholding the action. Authority is therefore not treated as a possession that survives unchanged until expiry; it becomes a time-sensitive property of motion through the system. This is a proposed KIL extension.</a:t>
            </a:r>
          </a:p>
          <a:p xmlns:a="http://schemas.openxmlformats.org/drawingml/2006/main">
            <a:r>
              <a:t/>
            </a:r>
          </a:p>
          <a:p xmlns:a="http://schemas.openxmlformats.org/drawingml/2006/main">
            <a:r>
              <a:t>Source statement: KIL paper, ambient enforcement and infrastructure-consumption contract.</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KIL does not replace Kinetic Trust Protocol or create a competing trust system. KTP remains authoritative for identity, trajectory, standing, environmental bounds, vetoes, and governance. KIL proposes a signed, short-lived composite enforcement state for an identity and authority class, then defines how infrastructure consumes it. The fast path can apply fresh local evidence only to reduce or withhold authority. It can never clear a KTP veto or create new authority. This is a proposed KIL extension.</a:t>
            </a:r>
          </a:p>
          <a:p xmlns:a="http://schemas.openxmlformats.org/drawingml/2006/main">
            <a:r>
              <a:t/>
            </a:r>
          </a:p>
          <a:p xmlns:a="http://schemas.openxmlformats.org/drawingml/2006/main">
            <a:r>
              <a:t>Source statement: KTP v2.0.0, Enterprise architecture, Constitution, and the KIL extension boundary.</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deliberately asymmetric. Confirmed low-divergence behavior can contribute only to a later signed state, so authority arrives slowly. Silence does not preserve it forever: charge and state age. History is isolated by authority class, so ordinary data reads cannot finance a first cluster-admin action. High divergence can impose superlinear loss, and declared operational change is bounded, signed, and auditable. The mechanism is precise, but its initial thresholds and coupling coefficients still require measurement. These parameters are modeled.</a:t>
            </a:r>
          </a:p>
          <a:p xmlns:a="http://schemas.openxmlformats.org/drawingml/2006/main">
            <a:r>
              <a:t/>
            </a:r>
          </a:p>
          <a:p xmlns:a="http://schemas.openxmlformats.org/drawingml/2006/main">
            <a:r>
              <a:t>Source statement: KIL paper, formal trust-decay profile and parameter status.</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July 2026 Hugging Face disclosure gives us a concrete sequence rather than a generic threat story. An autonomous agent moved from a production worker foothold into control-plane access, cloud discovery, privilege, secrets, cross-cluster reach, mesh enrollment, token creation, and a source-control or CI-directed pivot. KIL does not claim access to unpublished telemetry. We use the disclosed sequence as observed context, then keep every synthetic KIL signal visibly separate. These incident facts are source-cited.</a:t>
            </a:r>
          </a:p>
          <a:p xmlns:a="http://schemas.openxmlformats.org/drawingml/2006/main">
            <a:r>
              <a:t/>
            </a:r>
          </a:p>
          <a:p xmlns:a="http://schemas.openxmlformats.org/drawingml/2006/main">
            <a:r>
              <a:t>Source statement: Hugging Face technical timeline; KIL canonical eight-phase scenario.</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incident reached a production dataset-processing worker through renderer-related injection paths. That transition matters because it establishes the compromised workload whose later actions carry authentic service context. An application-aware or kernel-aware adapter might treat unusual local resolution as a trajectory signal, but our current Envoy laboratory does not mediate that file access. The showcase therefore starts the enforceable KIL counterfactual at the worker’s first mediated outbound request, not at the original parser event. These incident facts are source-cited.</a:t>
            </a:r>
          </a:p>
          <a:p xmlns:a="http://schemas.openxmlformats.org/drawingml/2006/main">
            <a:r>
              <a:t/>
            </a:r>
          </a:p>
          <a:p xmlns:a="http://schemas.openxmlformats.org/drawingml/2006/main">
            <a:r>
              <a:t>Source statement: Hugging Face disclosure Phase 0; KIL paper Phase map and limitation boundary.</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compromised worker used its service-account context and addressed the Kubernetes control plane. In the canonical scenario, that new administrative trajectory receives a modeled divergence of zero point nine five. The disclosed incident path continues because the credential could be used. In the KIL counterfactual, fresh local divergence reduces the effective class authority below its threshold at the mediated egress boundary. The request is withheld, and dependent phases are marked conditionally unreachable rather than separately prevented. This KIL result is modeled.</a:t>
            </a:r>
          </a:p>
          <a:p xmlns:a="http://schemas.openxmlformats.org/drawingml/2006/main">
            <a:r>
              <a:t/>
            </a:r>
          </a:p>
          <a:p xmlns:a="http://schemas.openxmlformats.org/drawingml/2006/main">
            <a:r>
              <a:t>Source statement: Canonical scenario event hf-p1-cluster-api; modeled divergence 0.95.</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control-plane access, the disclosed sequence expanded through cloud mapping, privileged node access, and a high-value secret read. That secret access then supported branches toward cross-cluster administration, corporate mesh enrollment, forged identity tokens, and CI or source-control targeting. The Phase 4 divergence in our scenario is modeled at zero point nine zero. KIL displays descendants made unreachable by an earlier deny, but it does not count them as independent detections or claim each branch was reproduced locally. This KIL result is modeled.</a:t>
            </a:r>
          </a:p>
          <a:p xmlns:a="http://schemas.openxmlformats.org/drawingml/2006/main">
            <a:r>
              <a:t/>
            </a:r>
          </a:p>
          <a:p xmlns:a="http://schemas.openxmlformats.org/drawingml/2006/main">
            <a:r>
              <a:t>Source statement: Hugging Face timeline and canonical scenario dependency graph; Phase 4 divergence 0.90 modeled.</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apply the primer to the incident. The slower authoritative loop derives and signs short-lived composite KTP state for the worker and requested authority class. The infrastructure verifies authenticity, freshness, environmental bounds, and vetoes. Between refreshes, the experimental local overlay observes the worker’s novel control-plane trajectory and may clamp effective authority downward. It cannot add charge, widen the KTP environment, or clear a veto. The next authoritative state reconciles the result under explicit rules. This KIL result is modeled.</a:t>
            </a:r>
          </a:p>
          <a:p xmlns:a="http://schemas.openxmlformats.org/drawingml/2006/main">
            <a:r>
              <a:t/>
            </a:r>
          </a:p>
          <a:p xmlns:a="http://schemas.openxmlformats.org/drawingml/2006/main">
            <a:r>
              <a:t>Source statement: KIL hybrid two-timescale architecture and non-expansion invariant.</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observed incident rail: a worker foothold expanded into control-plane access and dependent escalation. The lab maps only the first mediated cluster API request into three harmless, isolated Envoy tracks. KTP supplies supervision plus tighten-only constraints; HTTP status is an Envoy-derived effect, not a KTP wire decision. Tracks A and B reach their targets. Track C applies the modeled local reduction, derives HTTP four hundred three, and leaves dependent phases conditionally unreachable. Live V3B-1 enforcement remains pending.</a:t>
            </a:r>
          </a:p>
          <a:p xmlns:a="http://schemas.openxmlformats.org/drawingml/2006/main">
            <a:r>
              <a:t/>
            </a:r>
          </a:p>
          <a:p xmlns:a="http://schemas.openxmlformats.org/drawingml/2006/main">
            <a:r>
              <a:t>Source statement: Hugging Face technical timeline; KTP v2.0.0; KIL V3A process contract and V3B-1 gate status.</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tracks receive the same normalized action. The credential-policy baseline permits. Signed composite state alone also permits because its latest authoritative snapshot has not changed. Signed state plus fresh local reduction withholds the request, producing the modeled comparison permit, permit, deny: HTTP two hundred, two hundred, four hundred three, with target markers one, one, zero. These outcomes exist today as V3A modeled process-contract evidence. The accepted V3B-1 live enforcement bundle is not yet promoted. The V3B-1 live result remains pending.</a:t>
            </a:r>
          </a:p>
          <a:p xmlns:a="http://schemas.openxmlformats.org/drawingml/2006/main">
            <a:r>
              <a:t/>
            </a:r>
          </a:p>
          <a:p xmlns:a="http://schemas.openxmlformats.org/drawingml/2006/main">
            <a:r>
              <a:t>Source statement: KIL V3A generated evidence and V3B-1 gate status.</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ladder prevents a persuasive demonstration from outrunning the project. V1 tests deterministic model invariants. V2 replays source-cited historical actions with explicitly modeled KIL context. V3A supplies modeled process-contract behavior. V3B-1 is the pending local Envoy enforcement proof, while V3B-2 remains a future Kind and Calico rail. V4 promotes only immutable, integrity-checked run bundles whose claims match their evidence. Today’s story is therefore useful, inspectable, and intentionally bounded. The V3B-1 live result remains pending.</a:t>
            </a:r>
          </a:p>
          <a:p xmlns:a="http://schemas.openxmlformats.org/drawingml/2006/main">
            <a:r>
              <a:t/>
            </a:r>
          </a:p>
          <a:p xmlns:a="http://schemas.openxmlformats.org/drawingml/2006/main">
            <a:r>
              <a:t>Source statement: KIL paper validation gates and current V3 progress record.</a:t>
            </a:r>
          </a:p>
          <a:p xmlns:a="http://schemas.openxmlformats.org/drawingml/2006/main">
            <a:r>
              <a:t/>
            </a:r>
          </a:p>
          <a:p xmlns:a="http://schemas.openxmlformats.org/drawingml/2006/main">
            <a:r>
              <a:t>[Sources]</a:t>
            </a:r>
          </a:p>
          <a:p xmlns:a="http://schemas.openxmlformats.org/drawingml/2006/main">
            <a:r>
              <a:t>https://github.com/nmcitra/ktp-rfc/tree/v2.0.0</a:t>
            </a:r>
          </a:p>
          <a:p xmlns:a="http://schemas.openxmlformats.org/drawingml/2006/main">
            <a:r>
              <a:t>https://github.com/nmcitra/ktp-rfc/blob/main/CITATION.cff</a:t>
            </a:r>
          </a:p>
          <a:p xmlns:a="http://schemas.openxmlformats.org/drawingml/2006/main">
            <a:r>
              <a:t>https://kinetic-trust-protocol.net/enterprise/architecture</a:t>
            </a:r>
          </a:p>
          <a:p xmlns:a="http://schemas.openxmlformats.org/drawingml/2006/main">
            <a:r>
              <a:t>https://kinetic-trust-protocol.net/learn/constitution</a:t>
            </a:r>
          </a:p>
          <a:p xmlns:a="http://schemas.openxmlformats.org/drawingml/2006/main">
            <a:r>
              <a:t>https://huggingface.co/blog/agent-intrusion-technical-timeline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061b10cfb241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d6af0248694530" /><Relationship Type="http://schemas.openxmlformats.org/officeDocument/2006/relationships/slideLayout" Target="/ppt/slideLayouts/slideLayout1.xml" Id="R741be18fead846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1be18fead846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c67c19997c451d" /><Relationship Type="http://schemas.openxmlformats.org/officeDocument/2006/relationships/notesSlide" Target="/ppt/notesSlides/notesSlide1.xml" Id="R4f7ae97b6c4044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1127cf32b74aa7" /><Relationship Type="http://schemas.openxmlformats.org/officeDocument/2006/relationships/notesSlide" Target="/ppt/notesSlides/notesSlide2.xml" Id="Rcfb7283910344b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4d1193b2604cd6" /><Relationship Type="http://schemas.openxmlformats.org/officeDocument/2006/relationships/notesSlide" Target="/ppt/notesSlides/notesSlide3.xml" Id="R5efe0166b0bd41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dfa84225aa4650" /><Relationship Type="http://schemas.openxmlformats.org/officeDocument/2006/relationships/notesSlide" Target="/ppt/notesSlides/notesSlide4.xml" Id="R4b01239b162745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c5356128274717" /><Relationship Type="http://schemas.openxmlformats.org/officeDocument/2006/relationships/notesSlide" Target="/ppt/notesSlides/notesSlide5.xml" Id="Rb3c7cff054ad44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ee020e08fd4187" /><Relationship Type="http://schemas.openxmlformats.org/officeDocument/2006/relationships/notesSlide" Target="/ppt/notesSlides/notesSlide6.xml" Id="Rae82d22409f640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b355055a8d48d6" /><Relationship Type="http://schemas.openxmlformats.org/officeDocument/2006/relationships/notesSlide" Target="/ppt/notesSlides/notesSlide7.xml" Id="R02b459a28e7c4f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c48a49ecd142a9" /><Relationship Type="http://schemas.openxmlformats.org/officeDocument/2006/relationships/notesSlide" Target="/ppt/notesSlides/notesSlide8.xml" Id="R9b1f2a4b225847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ea8cbe366d4cf2" /><Relationship Type="http://schemas.openxmlformats.org/officeDocument/2006/relationships/notesSlide" Target="/ppt/notesSlides/notesSlide9.xml" Id="Re760daf45d7e4d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ba0947bc1642a9" /><Relationship Type="http://schemas.openxmlformats.org/officeDocument/2006/relationships/notesSlide" Target="/ppt/notesSlides/notesSlide10.xml" Id="Ra75fc17a5d0849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339be519ed43b5" /><Relationship Type="http://schemas.openxmlformats.org/officeDocument/2006/relationships/notesSlide" Target="/ppt/notesSlides/notesSlide11.xml" Id="Ra50e0fd771d24e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dbe38afd9534705" /><Relationship Type="http://schemas.openxmlformats.org/officeDocument/2006/relationships/notesSlide" Target="/ppt/notesSlides/notesSlide12.xml" Id="R85d9f284354344e4" /></Relationships>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1" name="header-eyebrow">
            <a:extLst xmlns:a="http://schemas.openxmlformats.org/drawingml/2006/main">
              <a:ext uri="{FF2B5EF4-FFF2-40B4-BE49-F238E27FC236}">
                <a16:creationId xmlns:a16="http://schemas.microsoft.com/office/drawing/2014/main" id="{285C7D3E-8435-4C13-B346-C776A0B61328}"/>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002F0A40-BCAE-4E25-9C49-4E49314D9B53}"/>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Proposed KIL thesis   Primer P1 of P4   Waiting for presenter</a:t>
            </a:r>
          </a:p>
        </p:txBody>
      </p:sp>
      <p:sp>
        <p:nvSpPr>
          <p:cNvPr id="3" name="scene-title">
            <a:extLst xmlns:a="http://schemas.openxmlformats.org/drawingml/2006/main">
              <a:ext uri="{FF2B5EF4-FFF2-40B4-BE49-F238E27FC236}">
                <a16:creationId xmlns:a16="http://schemas.microsoft.com/office/drawing/2014/main" id="{6B46E34E-46DD-4FD7-9329-1FC4A732D0F0}"/>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Ambient breach requires ambient enforcement</a:t>
            </a:r>
          </a:p>
        </p:txBody>
      </p:sp>
      <p:sp>
        <p:nvSpPr>
          <p:cNvPr id="4" name="nav-act-primer">
            <a:extLst xmlns:a="http://schemas.openxmlformats.org/drawingml/2006/main">
              <a:ext uri="{FF2B5EF4-FFF2-40B4-BE49-F238E27FC236}">
                <a16:creationId xmlns:a16="http://schemas.microsoft.com/office/drawing/2014/main" id="{4CF3A370-8605-4E3F-ABFA-59F7211870C7}"/>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5" name="nav-act-primer-label">
            <a:extLst xmlns:a="http://schemas.openxmlformats.org/drawingml/2006/main">
              <a:ext uri="{FF2B5EF4-FFF2-40B4-BE49-F238E27FC236}">
                <a16:creationId xmlns:a16="http://schemas.microsoft.com/office/drawing/2014/main" id="{D88DEB77-BC6F-4405-AD6C-CAFF99959562}"/>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KIL primer</a:t>
            </a:r>
          </a:p>
        </p:txBody>
      </p:sp>
      <p:sp>
        <p:nvSpPr>
          <p:cNvPr id="6" name="nav-act-case">
            <a:extLst xmlns:a="http://schemas.openxmlformats.org/drawingml/2006/main">
              <a:ext uri="{FF2B5EF4-FFF2-40B4-BE49-F238E27FC236}">
                <a16:creationId xmlns:a16="http://schemas.microsoft.com/office/drawing/2014/main" id="{84271664-9194-4013-9EC3-D45969FCE845}"/>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7" name="nav-act-case-label">
            <a:extLst xmlns:a="http://schemas.openxmlformats.org/drawingml/2006/main">
              <a:ext uri="{FF2B5EF4-FFF2-40B4-BE49-F238E27FC236}">
                <a16:creationId xmlns:a16="http://schemas.microsoft.com/office/drawing/2014/main" id="{C01B8840-71B5-45D4-8EE0-272BB1686995}"/>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Hugging Face case study</a:t>
            </a:r>
          </a:p>
        </p:txBody>
      </p:sp>
      <p:sp>
        <p:nvSpPr>
          <p:cNvPr id="8" name="nav-scene-1">
            <a:extLst xmlns:a="http://schemas.openxmlformats.org/drawingml/2006/main">
              <a:ext uri="{FF2B5EF4-FFF2-40B4-BE49-F238E27FC236}">
                <a16:creationId xmlns:a16="http://schemas.microsoft.com/office/drawing/2014/main" id="{597301A1-F68B-424B-A880-655B98F3EE01}"/>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9" name="nav-scene-1-label">
            <a:extLst xmlns:a="http://schemas.openxmlformats.org/drawingml/2006/main">
              <a:ext uri="{FF2B5EF4-FFF2-40B4-BE49-F238E27FC236}">
                <a16:creationId xmlns:a16="http://schemas.microsoft.com/office/drawing/2014/main" id="{C95FF6F8-BA50-4024-8870-B41F5D9D4C44}"/>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P1</a:t>
            </a:r>
          </a:p>
        </p:txBody>
      </p:sp>
      <p:sp>
        <p:nvSpPr>
          <p:cNvPr id="10" name="nav-scene-2">
            <a:extLst xmlns:a="http://schemas.openxmlformats.org/drawingml/2006/main">
              <a:ext uri="{FF2B5EF4-FFF2-40B4-BE49-F238E27FC236}">
                <a16:creationId xmlns:a16="http://schemas.microsoft.com/office/drawing/2014/main" id="{32F87A3A-826C-4ACD-B3F9-5FE93DD12EC7}"/>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9858679F-FB75-4641-AAE9-B6432865BF17}"/>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P2</a:t>
            </a:r>
          </a:p>
        </p:txBody>
      </p:sp>
      <p:sp>
        <p:nvSpPr>
          <p:cNvPr id="12" name="nav-scene-3">
            <a:extLst xmlns:a="http://schemas.openxmlformats.org/drawingml/2006/main">
              <a:ext uri="{FF2B5EF4-FFF2-40B4-BE49-F238E27FC236}">
                <a16:creationId xmlns:a16="http://schemas.microsoft.com/office/drawing/2014/main" id="{582854E4-9D37-4C3F-981B-8E7BA6DF465B}"/>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55093144-4AE3-444A-8F71-7768FB660335}"/>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P3</a:t>
            </a:r>
          </a:p>
        </p:txBody>
      </p:sp>
      <p:sp>
        <p:nvSpPr>
          <p:cNvPr id="14" name="nav-scene-4">
            <a:extLst xmlns:a="http://schemas.openxmlformats.org/drawingml/2006/main">
              <a:ext uri="{FF2B5EF4-FFF2-40B4-BE49-F238E27FC236}">
                <a16:creationId xmlns:a16="http://schemas.microsoft.com/office/drawing/2014/main" id="{BBD3073F-02D2-44CB-8722-2110F8FF7061}"/>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BD17CB2F-A4C2-40AA-90E4-20C2474942B4}"/>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P4</a:t>
            </a:r>
          </a:p>
        </p:txBody>
      </p:sp>
      <p:sp>
        <p:nvSpPr>
          <p:cNvPr id="16" name="diagram-field">
            <a:extLst xmlns:a="http://schemas.openxmlformats.org/drawingml/2006/main">
              <a:ext uri="{FF2B5EF4-FFF2-40B4-BE49-F238E27FC236}">
                <a16:creationId xmlns:a16="http://schemas.microsoft.com/office/drawing/2014/main" id="{7DDC50DE-89B7-450A-A984-497C61C3526E}"/>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17" name="takeaway">
            <a:extLst xmlns:a="http://schemas.openxmlformats.org/drawingml/2006/main">
              <a:ext uri="{FF2B5EF4-FFF2-40B4-BE49-F238E27FC236}">
                <a16:creationId xmlns:a16="http://schemas.microsoft.com/office/drawing/2014/main" id="{9BB980F4-FE8E-4B69-8483-E53AAE228E0D}"/>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When service and attack become indistinguishable before consequence, enforcement must operate continuously at the consequential boundary.</a:t>
            </a:r>
          </a:p>
        </p:txBody>
      </p:sp>
      <p:sp>
        <p:nvSpPr>
          <p:cNvPr id="18" name="source-rail">
            <a:extLst xmlns:a="http://schemas.openxmlformats.org/drawingml/2006/main">
              <a:ext uri="{FF2B5EF4-FFF2-40B4-BE49-F238E27FC236}">
                <a16:creationId xmlns:a16="http://schemas.microsoft.com/office/drawing/2014/main" id="{5103AE4F-F8C3-4C53-AF0A-B84AD72A7EB1}"/>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19" name="diagram-label">
            <a:extLst xmlns:a="http://schemas.openxmlformats.org/drawingml/2006/main">
              <a:ext uri="{FF2B5EF4-FFF2-40B4-BE49-F238E27FC236}">
                <a16:creationId xmlns:a16="http://schemas.microsoft.com/office/drawing/2014/main" id="{4E75D9E3-DD20-47CC-BEE3-E6FC4518D6D6}"/>
              </a:ext>
            </a:extLst>
          </p:cNvPr>
          <p:cNvSpPr>
            <a:spLocks xmlns:a="http://schemas.openxmlformats.org/drawingml/2006/main" noGrp="1"/>
          </p:cNvSpPr>
          <p:nvPr/>
        </p:nvSpPr>
        <p:spPr>
          <a:xfrm xmlns:a="http://schemas.openxmlformats.org/drawingml/2006/main" rot="0">
            <a:off x="2565654" y="1706499"/>
            <a:ext cx="281178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THE CHECKPOINT GAP</a:t>
            </a:r>
          </a:p>
        </p:txBody>
      </p:sp>
      <p:sp>
        <p:nvSpPr>
          <p:cNvPr id="20" name="ai-agent-node">
            <a:extLst xmlns:a="http://schemas.openxmlformats.org/drawingml/2006/main">
              <a:ext uri="{FF2B5EF4-FFF2-40B4-BE49-F238E27FC236}">
                <a16:creationId xmlns:a16="http://schemas.microsoft.com/office/drawing/2014/main" id="{327FC6BE-83FD-4723-9852-FFF4E97297A0}"/>
              </a:ext>
            </a:extLst>
          </p:cNvPr>
          <p:cNvSpPr>
            <a:spLocks xmlns:a="http://schemas.openxmlformats.org/drawingml/2006/main" noGrp="1"/>
          </p:cNvSpPr>
          <p:nvPr/>
        </p:nvSpPr>
        <p:spPr>
          <a:xfrm xmlns:a="http://schemas.openxmlformats.org/drawingml/2006/main" rot="0">
            <a:off x="2620328" y="2698433"/>
            <a:ext cx="968502" cy="968502"/>
          </a:xfrm>
          <a:prstGeom xmlns:a="http://schemas.openxmlformats.org/drawingml/2006/main" prst="ellipse">
            <a:avLst/>
          </a:prstGeom>
          <a:solidFill xmlns:a="http://schemas.openxmlformats.org/drawingml/2006/main">
            <a:srgbClr val="10151C"/>
          </a:solidFill>
          <a:ln xmlns:a="http://schemas.openxmlformats.org/drawingml/2006/main" w="11430">
            <a:solidFill>
              <a:srgbClr val="40505D"/>
            </a:solidFill>
            <a:prstDash val="solid"/>
          </a:ln>
        </p:spPr>
      </p:sp>
      <p:sp>
        <p:nvSpPr>
          <p:cNvPr id="21" name="ai-label">
            <a:extLst xmlns:a="http://schemas.openxmlformats.org/drawingml/2006/main">
              <a:ext uri="{FF2B5EF4-FFF2-40B4-BE49-F238E27FC236}">
                <a16:creationId xmlns:a16="http://schemas.microsoft.com/office/drawing/2014/main" id="{96D2F637-59C9-485A-958C-B55B8899E71A}"/>
              </a:ext>
            </a:extLst>
          </p:cNvPr>
          <p:cNvSpPr>
            <a:spLocks xmlns:a="http://schemas.openxmlformats.org/drawingml/2006/main" noGrp="1"/>
          </p:cNvSpPr>
          <p:nvPr/>
        </p:nvSpPr>
        <p:spPr>
          <a:xfrm xmlns:a="http://schemas.openxmlformats.org/drawingml/2006/main" rot="0">
            <a:off x="2815590" y="2987421"/>
            <a:ext cx="577977"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DF4FA"/>
                </a:solidFill>
              </a:defRPr>
            </a:pPr>
            <a:r>
              <a:rPr sz="1050" b="1">
                <a:solidFill>
                  <a:srgbClr val="EDF4FA"/>
                </a:solidFill>
              </a:rPr>
              <a:t>AI</a:t>
            </a:r>
          </a:p>
        </p:txBody>
      </p:sp>
      <p:sp>
        <p:nvSpPr>
          <p:cNvPr id="22" name="agent-label">
            <a:extLst xmlns:a="http://schemas.openxmlformats.org/drawingml/2006/main">
              <a:ext uri="{FF2B5EF4-FFF2-40B4-BE49-F238E27FC236}">
                <a16:creationId xmlns:a16="http://schemas.microsoft.com/office/drawing/2014/main" id="{E207B2C2-B7ED-49A9-B17B-716185F6C570}"/>
              </a:ext>
            </a:extLst>
          </p:cNvPr>
          <p:cNvSpPr>
            <a:spLocks xmlns:a="http://schemas.openxmlformats.org/drawingml/2006/main" noGrp="1"/>
          </p:cNvSpPr>
          <p:nvPr/>
        </p:nvSpPr>
        <p:spPr>
          <a:xfrm xmlns:a="http://schemas.openxmlformats.org/drawingml/2006/main" rot="0">
            <a:off x="2799969" y="3221736"/>
            <a:ext cx="609219" cy="171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agent</a:t>
            </a:r>
          </a:p>
        </p:txBody>
      </p:sp>
      <p:sp>
        <p:nvSpPr>
          <p:cNvPr id="23" name="agent-to-credential-line">
            <a:extLst xmlns:a="http://schemas.openxmlformats.org/drawingml/2006/main">
              <a:ext uri="{FF2B5EF4-FFF2-40B4-BE49-F238E27FC236}">
                <a16:creationId xmlns:a16="http://schemas.microsoft.com/office/drawing/2014/main" id="{502E9D97-4EB6-4F37-8B0B-52933E4B48A8}"/>
              </a:ext>
            </a:extLst>
          </p:cNvPr>
          <p:cNvSpPr>
            <a:spLocks xmlns:a="http://schemas.openxmlformats.org/drawingml/2006/main" noGrp="1"/>
          </p:cNvSpPr>
          <p:nvPr/>
        </p:nvSpPr>
        <p:spPr>
          <a:xfrm xmlns:a="http://schemas.openxmlformats.org/drawingml/2006/main" flipH="0" flipV="0">
            <a:off x="3588829" y="3182684"/>
            <a:ext cx="1023176" cy="0"/>
          </a:xfrm>
          <a:prstGeom xmlns:a="http://schemas.openxmlformats.org/drawingml/2006/main" prst="line">
            <a:avLst/>
          </a:prstGeom>
          <a:noFill xmlns:a="http://schemas.openxmlformats.org/drawingml/2006/main"/>
          <a:ln xmlns:a="http://schemas.openxmlformats.org/drawingml/2006/main" w="36195">
            <a:solidFill>
              <a:srgbClr val="FF766C"/>
            </a:solidFill>
            <a:prstDash val="solid"/>
          </a:ln>
        </p:spPr>
      </p:sp>
      <p:sp>
        <p:nvSpPr>
          <p:cNvPr id="24" name="agent-to-credential-head">
            <a:extLst xmlns:a="http://schemas.openxmlformats.org/drawingml/2006/main">
              <a:ext uri="{FF2B5EF4-FFF2-40B4-BE49-F238E27FC236}">
                <a16:creationId xmlns:a16="http://schemas.microsoft.com/office/drawing/2014/main" id="{312EBA6E-F8F0-4ADF-8114-17855C8E1882}"/>
              </a:ext>
            </a:extLst>
          </p:cNvPr>
          <p:cNvSpPr>
            <a:spLocks xmlns:a="http://schemas.openxmlformats.org/drawingml/2006/main" noGrp="1"/>
          </p:cNvSpPr>
          <p:nvPr/>
        </p:nvSpPr>
        <p:spPr>
          <a:xfrm xmlns:a="http://schemas.openxmlformats.org/drawingml/2006/main" rot="5400000">
            <a:off x="4564380" y="3135059"/>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25" name="credential-frame">
            <a:extLst xmlns:a="http://schemas.openxmlformats.org/drawingml/2006/main">
              <a:ext uri="{FF2B5EF4-FFF2-40B4-BE49-F238E27FC236}">
                <a16:creationId xmlns:a16="http://schemas.microsoft.com/office/drawing/2014/main" id="{63B38554-571A-4F19-98DD-7FFC32464ABB}"/>
              </a:ext>
            </a:extLst>
          </p:cNvPr>
          <p:cNvSpPr>
            <a:spLocks xmlns:a="http://schemas.openxmlformats.org/drawingml/2006/main" noGrp="1"/>
          </p:cNvSpPr>
          <p:nvPr/>
        </p:nvSpPr>
        <p:spPr>
          <a:xfrm xmlns:a="http://schemas.openxmlformats.org/drawingml/2006/main" rot="0">
            <a:off x="4612005" y="2737485"/>
            <a:ext cx="1288733" cy="1015365"/>
          </a:xfrm>
          <a:prstGeom xmlns:a="http://schemas.openxmlformats.org/drawingml/2006/main" prst="roundRect">
            <a:avLst>
              <a:gd name="adj" fmla="val 7505"/>
            </a:avLst>
          </a:prstGeom>
          <a:solidFill xmlns:a="http://schemas.openxmlformats.org/drawingml/2006/main">
            <a:srgbClr val="10151C"/>
          </a:solidFill>
          <a:ln xmlns:a="http://schemas.openxmlformats.org/drawingml/2006/main" w="13335">
            <a:solidFill>
              <a:srgbClr val="40505D"/>
            </a:solidFill>
            <a:prstDash val="solid"/>
          </a:ln>
        </p:spPr>
      </p:sp>
      <p:sp>
        <p:nvSpPr>
          <p:cNvPr id="26" name="credential-title">
            <a:extLst xmlns:a="http://schemas.openxmlformats.org/drawingml/2006/main">
              <a:ext uri="{FF2B5EF4-FFF2-40B4-BE49-F238E27FC236}">
                <a16:creationId xmlns:a16="http://schemas.microsoft.com/office/drawing/2014/main" id="{7645C2FB-DB96-4C67-BE27-6D0850023FA5}"/>
              </a:ext>
            </a:extLst>
          </p:cNvPr>
          <p:cNvSpPr>
            <a:spLocks xmlns:a="http://schemas.openxmlformats.org/drawingml/2006/main" noGrp="1"/>
          </p:cNvSpPr>
          <p:nvPr/>
        </p:nvSpPr>
        <p:spPr>
          <a:xfrm xmlns:a="http://schemas.openxmlformats.org/drawingml/2006/main" rot="0">
            <a:off x="4688205" y="2813685"/>
            <a:ext cx="113633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Credential</a:t>
            </a:r>
          </a:p>
        </p:txBody>
      </p:sp>
      <p:sp>
        <p:nvSpPr>
          <p:cNvPr id="27" name="credential-subtitle">
            <a:extLst xmlns:a="http://schemas.openxmlformats.org/drawingml/2006/main">
              <a:ext uri="{FF2B5EF4-FFF2-40B4-BE49-F238E27FC236}">
                <a16:creationId xmlns:a16="http://schemas.microsoft.com/office/drawing/2014/main" id="{39540B15-4B7E-4A88-B449-E882A80B07DB}"/>
              </a:ext>
            </a:extLst>
          </p:cNvPr>
          <p:cNvSpPr>
            <a:spLocks xmlns:a="http://schemas.openxmlformats.org/drawingml/2006/main" noGrp="1"/>
          </p:cNvSpPr>
          <p:nvPr/>
        </p:nvSpPr>
        <p:spPr>
          <a:xfrm xmlns:a="http://schemas.openxmlformats.org/drawingml/2006/main" rot="0">
            <a:off x="4688205" y="3032760"/>
            <a:ext cx="1136333" cy="662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valid + allowed</a:t>
            </a:r>
          </a:p>
          <a:p xmlns:a="http://schemas.openxmlformats.org/drawingml/2006/main">
            <a:pPr algn="ctr">
              <a:defRPr sz="750" b="0">
                <a:solidFill>
                  <a:srgbClr val="AAB9C5"/>
                </a:solidFill>
              </a:defRPr>
            </a:pPr>
            <a:r>
              <a:rPr sz="750" b="0">
                <a:solidFill>
                  <a:srgbClr val="AAB9C5"/>
                </a:solidFill>
              </a:rPr>
              <a:t>PASS</a:t>
            </a:r>
          </a:p>
        </p:txBody>
      </p:sp>
      <p:sp>
        <p:nvSpPr>
          <p:cNvPr id="28" name="credential-out">
            <a:extLst xmlns:a="http://schemas.openxmlformats.org/drawingml/2006/main">
              <a:ext uri="{FF2B5EF4-FFF2-40B4-BE49-F238E27FC236}">
                <a16:creationId xmlns:a16="http://schemas.microsoft.com/office/drawing/2014/main" id="{F64CD8FA-50BA-4361-885A-D73865F7A7FB}"/>
              </a:ext>
            </a:extLst>
          </p:cNvPr>
          <p:cNvSpPr>
            <a:spLocks xmlns:a="http://schemas.openxmlformats.org/drawingml/2006/main" noGrp="1"/>
          </p:cNvSpPr>
          <p:nvPr/>
        </p:nvSpPr>
        <p:spPr>
          <a:xfrm xmlns:a="http://schemas.openxmlformats.org/drawingml/2006/main" flipH="0" flipV="0">
            <a:off x="5900738" y="3182684"/>
            <a:ext cx="898207" cy="0"/>
          </a:xfrm>
          <a:prstGeom xmlns:a="http://schemas.openxmlformats.org/drawingml/2006/main" prst="line">
            <a:avLst/>
          </a:prstGeom>
          <a:noFill xmlns:a="http://schemas.openxmlformats.org/drawingml/2006/main"/>
          <a:ln xmlns:a="http://schemas.openxmlformats.org/drawingml/2006/main" w="36195">
            <a:solidFill>
              <a:srgbClr val="FF766C"/>
            </a:solidFill>
            <a:prstDash val="solid"/>
          </a:ln>
        </p:spPr>
      </p:sp>
      <p:sp>
        <p:nvSpPr>
          <p:cNvPr id="29" name="fanout-1-line">
            <a:extLst xmlns:a="http://schemas.openxmlformats.org/drawingml/2006/main">
              <a:ext uri="{FF2B5EF4-FFF2-40B4-BE49-F238E27FC236}">
                <a16:creationId xmlns:a16="http://schemas.microsoft.com/office/drawing/2014/main" id="{CDF68503-96D1-45CE-961A-571ADD4B624E}"/>
              </a:ext>
            </a:extLst>
          </p:cNvPr>
          <p:cNvSpPr>
            <a:spLocks xmlns:a="http://schemas.openxmlformats.org/drawingml/2006/main" noGrp="1"/>
          </p:cNvSpPr>
          <p:nvPr/>
        </p:nvSpPr>
        <p:spPr>
          <a:xfrm xmlns:a="http://schemas.openxmlformats.org/drawingml/2006/main" flipH="0" flipV="1">
            <a:off x="6798945" y="2737485"/>
            <a:ext cx="1679258" cy="445199"/>
          </a:xfrm>
          <a:prstGeom xmlns:a="http://schemas.openxmlformats.org/drawingml/2006/main" prst="line">
            <a:avLst/>
          </a:prstGeom>
          <a:noFill xmlns:a="http://schemas.openxmlformats.org/drawingml/2006/main"/>
          <a:ln xmlns:a="http://schemas.openxmlformats.org/drawingml/2006/main" w="30480">
            <a:solidFill>
              <a:srgbClr val="FF766C"/>
            </a:solidFill>
            <a:prstDash val="solid"/>
          </a:ln>
        </p:spPr>
      </p:sp>
      <p:sp>
        <p:nvSpPr>
          <p:cNvPr id="30" name="fanout-1-head">
            <a:extLst xmlns:a="http://schemas.openxmlformats.org/drawingml/2006/main">
              <a:ext uri="{FF2B5EF4-FFF2-40B4-BE49-F238E27FC236}">
                <a16:creationId xmlns:a16="http://schemas.microsoft.com/office/drawing/2014/main" id="{0CEA7B7C-6D74-4EDB-BC47-AFEF7148B8C0}"/>
              </a:ext>
            </a:extLst>
          </p:cNvPr>
          <p:cNvSpPr>
            <a:spLocks xmlns:a="http://schemas.openxmlformats.org/drawingml/2006/main" noGrp="1"/>
          </p:cNvSpPr>
          <p:nvPr/>
        </p:nvSpPr>
        <p:spPr>
          <a:xfrm xmlns:a="http://schemas.openxmlformats.org/drawingml/2006/main" rot="4509093">
            <a:off x="8430578" y="2689860"/>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1" name="fanout-2-line">
            <a:extLst xmlns:a="http://schemas.openxmlformats.org/drawingml/2006/main">
              <a:ext uri="{FF2B5EF4-FFF2-40B4-BE49-F238E27FC236}">
                <a16:creationId xmlns:a16="http://schemas.microsoft.com/office/drawing/2014/main" id="{8196DAAC-C639-4D86-B7B8-DA77CE75EDA3}"/>
              </a:ext>
            </a:extLst>
          </p:cNvPr>
          <p:cNvSpPr>
            <a:spLocks xmlns:a="http://schemas.openxmlformats.org/drawingml/2006/main" noGrp="1"/>
          </p:cNvSpPr>
          <p:nvPr/>
        </p:nvSpPr>
        <p:spPr>
          <a:xfrm xmlns:a="http://schemas.openxmlformats.org/drawingml/2006/main" flipH="0" flipV="1">
            <a:off x="6798945" y="3010853"/>
            <a:ext cx="1679258" cy="171831"/>
          </a:xfrm>
          <a:prstGeom xmlns:a="http://schemas.openxmlformats.org/drawingml/2006/main" prst="line">
            <a:avLst/>
          </a:prstGeom>
          <a:noFill xmlns:a="http://schemas.openxmlformats.org/drawingml/2006/main"/>
          <a:ln xmlns:a="http://schemas.openxmlformats.org/drawingml/2006/main" w="30480">
            <a:solidFill>
              <a:srgbClr val="FF766C"/>
            </a:solidFill>
            <a:prstDash val="solid"/>
          </a:ln>
        </p:spPr>
      </p:sp>
      <p:sp>
        <p:nvSpPr>
          <p:cNvPr id="32" name="fanout-2-head">
            <a:extLst xmlns:a="http://schemas.openxmlformats.org/drawingml/2006/main">
              <a:ext uri="{FF2B5EF4-FFF2-40B4-BE49-F238E27FC236}">
                <a16:creationId xmlns:a16="http://schemas.microsoft.com/office/drawing/2014/main" id="{58059B18-D218-4927-B2B3-3C05FFE5A903}"/>
              </a:ext>
            </a:extLst>
          </p:cNvPr>
          <p:cNvSpPr>
            <a:spLocks xmlns:a="http://schemas.openxmlformats.org/drawingml/2006/main" noGrp="1"/>
          </p:cNvSpPr>
          <p:nvPr/>
        </p:nvSpPr>
        <p:spPr>
          <a:xfrm xmlns:a="http://schemas.openxmlformats.org/drawingml/2006/main" rot="5049451">
            <a:off x="8430578" y="2963228"/>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3" name="fanout-3-line">
            <a:extLst xmlns:a="http://schemas.openxmlformats.org/drawingml/2006/main">
              <a:ext uri="{FF2B5EF4-FFF2-40B4-BE49-F238E27FC236}">
                <a16:creationId xmlns:a16="http://schemas.microsoft.com/office/drawing/2014/main" id="{158BBA35-65D4-4B4D-9BF7-5F3AD4D0FF19}"/>
              </a:ext>
            </a:extLst>
          </p:cNvPr>
          <p:cNvSpPr>
            <a:spLocks xmlns:a="http://schemas.openxmlformats.org/drawingml/2006/main" noGrp="1"/>
          </p:cNvSpPr>
          <p:nvPr/>
        </p:nvSpPr>
        <p:spPr>
          <a:xfrm xmlns:a="http://schemas.openxmlformats.org/drawingml/2006/main" flipH="0" flipV="0">
            <a:off x="6798945" y="3182684"/>
            <a:ext cx="1679258" cy="140589"/>
          </a:xfrm>
          <a:prstGeom xmlns:a="http://schemas.openxmlformats.org/drawingml/2006/main" prst="line">
            <a:avLst/>
          </a:prstGeom>
          <a:noFill xmlns:a="http://schemas.openxmlformats.org/drawingml/2006/main"/>
          <a:ln xmlns:a="http://schemas.openxmlformats.org/drawingml/2006/main" w="30480">
            <a:solidFill>
              <a:srgbClr val="FF766C"/>
            </a:solidFill>
            <a:prstDash val="solid"/>
          </a:ln>
        </p:spPr>
      </p:sp>
      <p:sp>
        <p:nvSpPr>
          <p:cNvPr id="34" name="fanout-3-head">
            <a:extLst xmlns:a="http://schemas.openxmlformats.org/drawingml/2006/main">
              <a:ext uri="{FF2B5EF4-FFF2-40B4-BE49-F238E27FC236}">
                <a16:creationId xmlns:a16="http://schemas.microsoft.com/office/drawing/2014/main" id="{23F59F33-F105-4DC2-810C-245B06A55078}"/>
              </a:ext>
            </a:extLst>
          </p:cNvPr>
          <p:cNvSpPr>
            <a:spLocks xmlns:a="http://schemas.openxmlformats.org/drawingml/2006/main" noGrp="1"/>
          </p:cNvSpPr>
          <p:nvPr/>
        </p:nvSpPr>
        <p:spPr>
          <a:xfrm xmlns:a="http://schemas.openxmlformats.org/drawingml/2006/main" rot="5687142">
            <a:off x="8430578" y="3275648"/>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5" name="fanout-4-line">
            <a:extLst xmlns:a="http://schemas.openxmlformats.org/drawingml/2006/main">
              <a:ext uri="{FF2B5EF4-FFF2-40B4-BE49-F238E27FC236}">
                <a16:creationId xmlns:a16="http://schemas.microsoft.com/office/drawing/2014/main" id="{28464CC2-329B-4149-8D3B-868DA35E3BF3}"/>
              </a:ext>
            </a:extLst>
          </p:cNvPr>
          <p:cNvSpPr>
            <a:spLocks xmlns:a="http://schemas.openxmlformats.org/drawingml/2006/main" noGrp="1"/>
          </p:cNvSpPr>
          <p:nvPr/>
        </p:nvSpPr>
        <p:spPr>
          <a:xfrm xmlns:a="http://schemas.openxmlformats.org/drawingml/2006/main" flipH="0" flipV="0">
            <a:off x="6798945" y="3182684"/>
            <a:ext cx="1679258" cy="453009"/>
          </a:xfrm>
          <a:prstGeom xmlns:a="http://schemas.openxmlformats.org/drawingml/2006/main" prst="line">
            <a:avLst/>
          </a:prstGeom>
          <a:noFill xmlns:a="http://schemas.openxmlformats.org/drawingml/2006/main"/>
          <a:ln xmlns:a="http://schemas.openxmlformats.org/drawingml/2006/main" w="30480">
            <a:solidFill>
              <a:srgbClr val="FF766C"/>
            </a:solidFill>
            <a:prstDash val="solid"/>
          </a:ln>
        </p:spPr>
      </p:sp>
      <p:sp>
        <p:nvSpPr>
          <p:cNvPr id="36" name="fanout-4-head">
            <a:extLst xmlns:a="http://schemas.openxmlformats.org/drawingml/2006/main">
              <a:ext uri="{FF2B5EF4-FFF2-40B4-BE49-F238E27FC236}">
                <a16:creationId xmlns:a16="http://schemas.microsoft.com/office/drawing/2014/main" id="{4ABDB5A8-F64D-4086-94EF-9CFDEC27960D}"/>
              </a:ext>
            </a:extLst>
          </p:cNvPr>
          <p:cNvSpPr>
            <a:spLocks xmlns:a="http://schemas.openxmlformats.org/drawingml/2006/main" noGrp="1"/>
          </p:cNvSpPr>
          <p:nvPr/>
        </p:nvSpPr>
        <p:spPr>
          <a:xfrm xmlns:a="http://schemas.openxmlformats.org/drawingml/2006/main" rot="6305829">
            <a:off x="8430578" y="3588068"/>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7" name="fanout-label">
            <a:extLst xmlns:a="http://schemas.openxmlformats.org/drawingml/2006/main">
              <a:ext uri="{FF2B5EF4-FFF2-40B4-BE49-F238E27FC236}">
                <a16:creationId xmlns:a16="http://schemas.microsoft.com/office/drawing/2014/main" id="{C8ACE21F-B30F-45F0-9828-36C6DA6E928E}"/>
              </a:ext>
            </a:extLst>
          </p:cNvPr>
          <p:cNvSpPr>
            <a:spLocks xmlns:a="http://schemas.openxmlformats.org/drawingml/2006/main" noGrp="1"/>
          </p:cNvSpPr>
          <p:nvPr/>
        </p:nvSpPr>
        <p:spPr>
          <a:xfrm xmlns:a="http://schemas.openxmlformats.org/drawingml/2006/main" rot="0">
            <a:off x="7267575" y="2471928"/>
            <a:ext cx="2186940" cy="171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novel actions at agent speed</a:t>
            </a:r>
          </a:p>
        </p:txBody>
      </p:sp>
      <p:sp>
        <p:nvSpPr>
          <p:cNvPr id="38" name="checkpoint-callout">
            <a:extLst xmlns:a="http://schemas.openxmlformats.org/drawingml/2006/main">
              <a:ext uri="{FF2B5EF4-FFF2-40B4-BE49-F238E27FC236}">
                <a16:creationId xmlns:a16="http://schemas.microsoft.com/office/drawing/2014/main" id="{2C5BC6EF-F192-44CD-A9F1-905409E55710}"/>
              </a:ext>
            </a:extLst>
          </p:cNvPr>
          <p:cNvSpPr>
            <a:spLocks xmlns:a="http://schemas.openxmlformats.org/drawingml/2006/main" noGrp="1"/>
          </p:cNvSpPr>
          <p:nvPr/>
        </p:nvSpPr>
        <p:spPr>
          <a:xfrm xmlns:a="http://schemas.openxmlformats.org/drawingml/2006/main" rot="0">
            <a:off x="2643759" y="4260533"/>
            <a:ext cx="6904482" cy="671703"/>
          </a:xfrm>
          <a:prstGeom xmlns:a="http://schemas.openxmlformats.org/drawingml/2006/main" prst="roundRect">
            <a:avLst>
              <a:gd name="adj" fmla="val 11344"/>
            </a:avLst>
          </a:prstGeom>
          <a:solidFill xmlns:a="http://schemas.openxmlformats.org/drawingml/2006/main">
            <a:srgbClr val="10151C"/>
          </a:solidFill>
          <a:ln xmlns:a="http://schemas.openxmlformats.org/drawingml/2006/main" w="11430">
            <a:solidFill>
              <a:srgbClr val="40505D"/>
            </a:solidFill>
            <a:prstDash val="solid"/>
          </a:ln>
        </p:spPr>
      </p:sp>
      <p:sp>
        <p:nvSpPr>
          <p:cNvPr id="39" name="checkpoint-callout-title">
            <a:extLst xmlns:a="http://schemas.openxmlformats.org/drawingml/2006/main">
              <a:ext uri="{FF2B5EF4-FFF2-40B4-BE49-F238E27FC236}">
                <a16:creationId xmlns:a16="http://schemas.microsoft.com/office/drawing/2014/main" id="{37884D4A-1FBC-4613-960F-EF7B717F2998}"/>
              </a:ext>
            </a:extLst>
          </p:cNvPr>
          <p:cNvSpPr>
            <a:spLocks xmlns:a="http://schemas.openxmlformats.org/drawingml/2006/main" noGrp="1"/>
          </p:cNvSpPr>
          <p:nvPr/>
        </p:nvSpPr>
        <p:spPr>
          <a:xfrm xmlns:a="http://schemas.openxmlformats.org/drawingml/2006/main" rot="0">
            <a:off x="2862453" y="4401122"/>
            <a:ext cx="593598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EDF4FA"/>
                </a:solidFill>
              </a:defRPr>
            </a:pPr>
            <a:r>
              <a:rPr sz="975" b="1">
                <a:solidFill>
                  <a:srgbClr val="EDF4FA"/>
                </a:solidFill>
              </a:rPr>
              <a:t>The control was correct about the credential.</a:t>
            </a:r>
          </a:p>
        </p:txBody>
      </p:sp>
      <p:sp>
        <p:nvSpPr>
          <p:cNvPr id="40" name="checkpoint-callout-body">
            <a:extLst xmlns:a="http://schemas.openxmlformats.org/drawingml/2006/main">
              <a:ext uri="{FF2B5EF4-FFF2-40B4-BE49-F238E27FC236}">
                <a16:creationId xmlns:a16="http://schemas.microsoft.com/office/drawing/2014/main" id="{0CB61649-BB31-420B-9C04-6FB2FC5A0638}"/>
              </a:ext>
            </a:extLst>
          </p:cNvPr>
          <p:cNvSpPr>
            <a:spLocks xmlns:a="http://schemas.openxmlformats.org/drawingml/2006/main" noGrp="1"/>
          </p:cNvSpPr>
          <p:nvPr/>
        </p:nvSpPr>
        <p:spPr>
          <a:xfrm xmlns:a="http://schemas.openxmlformats.org/drawingml/2006/main" rot="0">
            <a:off x="2862453" y="4643247"/>
            <a:ext cx="6248400" cy="171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AAB9C5"/>
                </a:solidFill>
              </a:defRPr>
            </a:pPr>
            <a:r>
              <a:rPr sz="750" b="0">
                <a:solidFill>
                  <a:srgbClr val="AAB9C5"/>
                </a:solidFill>
              </a:rPr>
              <a:t>It did not continuously establish that the behavior remained legitimate.</a:t>
            </a:r>
          </a:p>
        </p:txBody>
      </p:sp>
    </p:spTree>
    <p:extLst>
      <p:ext uri="{BB962C8B-B14F-4D97-AF65-F5344CB8AC3E}">
        <p14:creationId xmlns:p14="http://schemas.microsoft.com/office/powerpoint/2010/main" val="1608051590"/>
      </p:ext>
    </p:extLst>
  </p:cSld>
</p:sld>
</file>

<file path=ppt/slides/slide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5" name="header-eyebrow">
            <a:extLst xmlns:a="http://schemas.openxmlformats.org/drawingml/2006/main">
              <a:ext uri="{FF2B5EF4-FFF2-40B4-BE49-F238E27FC236}">
                <a16:creationId xmlns:a16="http://schemas.microsoft.com/office/drawing/2014/main" id="{C34AF2A8-15F1-4544-9AE5-50AF06799B18}"/>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E3962753-2306-47F8-8777-ABBAAF9A1CEE}"/>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Proposed KIL extension   Primer P2 of P4   Waiting for presenter</a:t>
            </a:r>
          </a:p>
        </p:txBody>
      </p:sp>
      <p:sp>
        <p:nvSpPr>
          <p:cNvPr id="3" name="scene-title">
            <a:extLst xmlns:a="http://schemas.openxmlformats.org/drawingml/2006/main">
              <a:ext uri="{FF2B5EF4-FFF2-40B4-BE49-F238E27FC236}">
                <a16:creationId xmlns:a16="http://schemas.microsoft.com/office/drawing/2014/main" id="{AE91C651-74AE-4224-A711-4CFE6A33E934}"/>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KIL turns authorization into a property of motion</a:t>
            </a:r>
          </a:p>
        </p:txBody>
      </p:sp>
      <p:sp>
        <p:nvSpPr>
          <p:cNvPr id="4" name="nav-act-primer">
            <a:extLst xmlns:a="http://schemas.openxmlformats.org/drawingml/2006/main">
              <a:ext uri="{FF2B5EF4-FFF2-40B4-BE49-F238E27FC236}">
                <a16:creationId xmlns:a16="http://schemas.microsoft.com/office/drawing/2014/main" id="{C4363AB8-0E64-4526-AFA9-11396495E4C2}"/>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5" name="nav-act-primer-label">
            <a:extLst xmlns:a="http://schemas.openxmlformats.org/drawingml/2006/main">
              <a:ext uri="{FF2B5EF4-FFF2-40B4-BE49-F238E27FC236}">
                <a16:creationId xmlns:a16="http://schemas.microsoft.com/office/drawing/2014/main" id="{F2881F39-B410-400C-B54B-5DF1D4BA1024}"/>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KIL primer</a:t>
            </a:r>
          </a:p>
        </p:txBody>
      </p:sp>
      <p:sp>
        <p:nvSpPr>
          <p:cNvPr id="6" name="nav-act-case">
            <a:extLst xmlns:a="http://schemas.openxmlformats.org/drawingml/2006/main">
              <a:ext uri="{FF2B5EF4-FFF2-40B4-BE49-F238E27FC236}">
                <a16:creationId xmlns:a16="http://schemas.microsoft.com/office/drawing/2014/main" id="{A08EAFAB-E624-4772-9BD0-EE37BDF563DA}"/>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7" name="nav-act-case-label">
            <a:extLst xmlns:a="http://schemas.openxmlformats.org/drawingml/2006/main">
              <a:ext uri="{FF2B5EF4-FFF2-40B4-BE49-F238E27FC236}">
                <a16:creationId xmlns:a16="http://schemas.microsoft.com/office/drawing/2014/main" id="{1B1B7C1C-AF21-460C-9D8E-BE9CABBE220F}"/>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Hugging Face case study</a:t>
            </a:r>
          </a:p>
        </p:txBody>
      </p:sp>
      <p:sp>
        <p:nvSpPr>
          <p:cNvPr id="8" name="nav-scene-1">
            <a:extLst xmlns:a="http://schemas.openxmlformats.org/drawingml/2006/main">
              <a:ext uri="{FF2B5EF4-FFF2-40B4-BE49-F238E27FC236}">
                <a16:creationId xmlns:a16="http://schemas.microsoft.com/office/drawing/2014/main" id="{37D441D4-5A1B-4BD0-9B6A-6DCA501AB5A8}"/>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2F834507-8823-4AF8-A09D-6D43AE68F92A}"/>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P1</a:t>
            </a:r>
          </a:p>
        </p:txBody>
      </p:sp>
      <p:sp>
        <p:nvSpPr>
          <p:cNvPr id="10" name="nav-scene-2">
            <a:extLst xmlns:a="http://schemas.openxmlformats.org/drawingml/2006/main">
              <a:ext uri="{FF2B5EF4-FFF2-40B4-BE49-F238E27FC236}">
                <a16:creationId xmlns:a16="http://schemas.microsoft.com/office/drawing/2014/main" id="{04A69764-32F1-4B8E-8DAF-42FFAAFD5A2D}"/>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1" name="nav-scene-2-label">
            <a:extLst xmlns:a="http://schemas.openxmlformats.org/drawingml/2006/main">
              <a:ext uri="{FF2B5EF4-FFF2-40B4-BE49-F238E27FC236}">
                <a16:creationId xmlns:a16="http://schemas.microsoft.com/office/drawing/2014/main" id="{10091D1E-CC50-4B9D-9188-721D3C1F537B}"/>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P2</a:t>
            </a:r>
          </a:p>
        </p:txBody>
      </p:sp>
      <p:sp>
        <p:nvSpPr>
          <p:cNvPr id="12" name="nav-scene-3">
            <a:extLst xmlns:a="http://schemas.openxmlformats.org/drawingml/2006/main">
              <a:ext uri="{FF2B5EF4-FFF2-40B4-BE49-F238E27FC236}">
                <a16:creationId xmlns:a16="http://schemas.microsoft.com/office/drawing/2014/main" id="{009E42C6-86A9-4FCC-B53F-D0B807D6BE65}"/>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D7022EB6-0786-4A15-B886-0E90E7230150}"/>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P3</a:t>
            </a:r>
          </a:p>
        </p:txBody>
      </p:sp>
      <p:sp>
        <p:nvSpPr>
          <p:cNvPr id="14" name="nav-scene-4">
            <a:extLst xmlns:a="http://schemas.openxmlformats.org/drawingml/2006/main">
              <a:ext uri="{FF2B5EF4-FFF2-40B4-BE49-F238E27FC236}">
                <a16:creationId xmlns:a16="http://schemas.microsoft.com/office/drawing/2014/main" id="{10B31DFF-ADE7-4E9A-978D-115D994614C8}"/>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061CD5CC-364D-4266-A5B8-CEDAE4AC8CE4}"/>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P4</a:t>
            </a:r>
          </a:p>
        </p:txBody>
      </p:sp>
      <p:sp>
        <p:nvSpPr>
          <p:cNvPr id="16" name="diagram-field">
            <a:extLst xmlns:a="http://schemas.openxmlformats.org/drawingml/2006/main">
              <a:ext uri="{FF2B5EF4-FFF2-40B4-BE49-F238E27FC236}">
                <a16:creationId xmlns:a16="http://schemas.microsoft.com/office/drawing/2014/main" id="{6335DE2A-3D08-4964-89D6-696C85CE1A1F}"/>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17" name="takeaway">
            <a:extLst xmlns:a="http://schemas.openxmlformats.org/drawingml/2006/main">
              <a:ext uri="{FF2B5EF4-FFF2-40B4-BE49-F238E27FC236}">
                <a16:creationId xmlns:a16="http://schemas.microsoft.com/office/drawing/2014/main" id="{B26D3E0B-C2EA-4888-B957-98353460B365}"/>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Ambient enforcement consumes fresh authority at the consequential boundary.</a:t>
            </a:r>
          </a:p>
        </p:txBody>
      </p:sp>
      <p:sp>
        <p:nvSpPr>
          <p:cNvPr id="18" name="source-rail">
            <a:extLst xmlns:a="http://schemas.openxmlformats.org/drawingml/2006/main">
              <a:ext uri="{FF2B5EF4-FFF2-40B4-BE49-F238E27FC236}">
                <a16:creationId xmlns:a16="http://schemas.microsoft.com/office/drawing/2014/main" id="{39E78A95-83BA-4525-8C0A-542133521F65}"/>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19" name="diagram-label">
            <a:extLst xmlns:a="http://schemas.openxmlformats.org/drawingml/2006/main">
              <a:ext uri="{FF2B5EF4-FFF2-40B4-BE49-F238E27FC236}">
                <a16:creationId xmlns:a16="http://schemas.microsoft.com/office/drawing/2014/main" id="{971A7233-C8E8-4289-A6FD-B67CEFE37526}"/>
              </a:ext>
            </a:extLst>
          </p:cNvPr>
          <p:cNvSpPr>
            <a:spLocks xmlns:a="http://schemas.openxmlformats.org/drawingml/2006/main" noGrp="1"/>
          </p:cNvSpPr>
          <p:nvPr/>
        </p:nvSpPr>
        <p:spPr>
          <a:xfrm xmlns:a="http://schemas.openxmlformats.org/drawingml/2006/main" rot="0">
            <a:off x="2581275" y="1675257"/>
            <a:ext cx="3124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TWO DIFFERENT QUESTIONS</a:t>
            </a:r>
          </a:p>
        </p:txBody>
      </p:sp>
      <p:sp>
        <p:nvSpPr>
          <p:cNvPr id="20" name="credential-panel">
            <a:extLst xmlns:a="http://schemas.openxmlformats.org/drawingml/2006/main">
              <a:ext uri="{FF2B5EF4-FFF2-40B4-BE49-F238E27FC236}">
                <a16:creationId xmlns:a16="http://schemas.microsoft.com/office/drawing/2014/main" id="{A477A6C2-5A01-4198-AFBD-78DAE333945A}"/>
              </a:ext>
            </a:extLst>
          </p:cNvPr>
          <p:cNvSpPr>
            <a:spLocks xmlns:a="http://schemas.openxmlformats.org/drawingml/2006/main" noGrp="1"/>
          </p:cNvSpPr>
          <p:nvPr/>
        </p:nvSpPr>
        <p:spPr>
          <a:xfrm xmlns:a="http://schemas.openxmlformats.org/drawingml/2006/main" rot="0">
            <a:off x="2542223" y="2112645"/>
            <a:ext cx="3280410" cy="2460308"/>
          </a:xfrm>
          <a:prstGeom xmlns:a="http://schemas.openxmlformats.org/drawingml/2006/main" prst="roundRect">
            <a:avLst>
              <a:gd name="adj" fmla="val 3097"/>
            </a:avLst>
          </a:prstGeom>
          <a:solidFill xmlns:a="http://schemas.openxmlformats.org/drawingml/2006/main">
            <a:srgbClr val="10151C"/>
          </a:solidFill>
          <a:ln xmlns:a="http://schemas.openxmlformats.org/drawingml/2006/main" w="11430">
            <a:solidFill>
              <a:srgbClr val="40505D"/>
            </a:solidFill>
            <a:prstDash val="solid"/>
          </a:ln>
        </p:spPr>
      </p:sp>
      <p:sp>
        <p:nvSpPr>
          <p:cNvPr id="21" name="credential-panel-title">
            <a:extLst xmlns:a="http://schemas.openxmlformats.org/drawingml/2006/main">
              <a:ext uri="{FF2B5EF4-FFF2-40B4-BE49-F238E27FC236}">
                <a16:creationId xmlns:a16="http://schemas.microsoft.com/office/drawing/2014/main" id="{F4F3A24B-486E-446F-9BFB-9348BD7C45F2}"/>
              </a:ext>
            </a:extLst>
          </p:cNvPr>
          <p:cNvSpPr>
            <a:spLocks xmlns:a="http://schemas.openxmlformats.org/drawingml/2006/main" noGrp="1"/>
          </p:cNvSpPr>
          <p:nvPr/>
        </p:nvSpPr>
        <p:spPr>
          <a:xfrm xmlns:a="http://schemas.openxmlformats.org/drawingml/2006/main" rot="0">
            <a:off x="3049905" y="2284476"/>
            <a:ext cx="226504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Credential checkpoint</a:t>
            </a:r>
          </a:p>
        </p:txBody>
      </p:sp>
      <p:sp>
        <p:nvSpPr>
          <p:cNvPr id="22" name="token-node">
            <a:extLst xmlns:a="http://schemas.openxmlformats.org/drawingml/2006/main">
              <a:ext uri="{FF2B5EF4-FFF2-40B4-BE49-F238E27FC236}">
                <a16:creationId xmlns:a16="http://schemas.microsoft.com/office/drawing/2014/main" id="{4CF1D7F5-27F0-4209-A05B-AF694E466E05}"/>
              </a:ext>
            </a:extLst>
          </p:cNvPr>
          <p:cNvSpPr>
            <a:spLocks xmlns:a="http://schemas.openxmlformats.org/drawingml/2006/main" noGrp="1"/>
          </p:cNvSpPr>
          <p:nvPr/>
        </p:nvSpPr>
        <p:spPr>
          <a:xfrm xmlns:a="http://schemas.openxmlformats.org/drawingml/2006/main" rot="0">
            <a:off x="2971800" y="2815590"/>
            <a:ext cx="859155" cy="859155"/>
          </a:xfrm>
          <a:prstGeom xmlns:a="http://schemas.openxmlformats.org/drawingml/2006/main" prst="ellipse">
            <a:avLst/>
          </a:prstGeom>
          <a:solidFill xmlns:a="http://schemas.openxmlformats.org/drawingml/2006/main">
            <a:srgbClr val="18212C"/>
          </a:solidFill>
          <a:ln xmlns:a="http://schemas.openxmlformats.org/drawingml/2006/main" w="11430">
            <a:solidFill>
              <a:srgbClr val="40505D"/>
            </a:solidFill>
            <a:prstDash val="solid"/>
          </a:ln>
        </p:spPr>
      </p:sp>
      <p:sp>
        <p:nvSpPr>
          <p:cNvPr id="23" name="token-label">
            <a:extLst xmlns:a="http://schemas.openxmlformats.org/drawingml/2006/main">
              <a:ext uri="{FF2B5EF4-FFF2-40B4-BE49-F238E27FC236}">
                <a16:creationId xmlns:a16="http://schemas.microsoft.com/office/drawing/2014/main" id="{2379C8DE-2AE4-43AC-BA29-48259BD4CA33}"/>
              </a:ext>
            </a:extLst>
          </p:cNvPr>
          <p:cNvSpPr>
            <a:spLocks xmlns:a="http://schemas.openxmlformats.org/drawingml/2006/main" noGrp="1"/>
          </p:cNvSpPr>
          <p:nvPr/>
        </p:nvSpPr>
        <p:spPr>
          <a:xfrm xmlns:a="http://schemas.openxmlformats.org/drawingml/2006/main" rot="0">
            <a:off x="3088958" y="3112389"/>
            <a:ext cx="62484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TOKEN</a:t>
            </a:r>
          </a:p>
        </p:txBody>
      </p:sp>
      <p:sp>
        <p:nvSpPr>
          <p:cNvPr id="24" name="token-to-pass-line">
            <a:extLst xmlns:a="http://schemas.openxmlformats.org/drawingml/2006/main">
              <a:ext uri="{FF2B5EF4-FFF2-40B4-BE49-F238E27FC236}">
                <a16:creationId xmlns:a16="http://schemas.microsoft.com/office/drawing/2014/main" id="{9CF03105-AC7D-43AA-98B1-43604B55D1BB}"/>
              </a:ext>
            </a:extLst>
          </p:cNvPr>
          <p:cNvSpPr>
            <a:spLocks xmlns:a="http://schemas.openxmlformats.org/drawingml/2006/main" noGrp="1"/>
          </p:cNvSpPr>
          <p:nvPr/>
        </p:nvSpPr>
        <p:spPr>
          <a:xfrm xmlns:a="http://schemas.openxmlformats.org/drawingml/2006/main" flipH="0" flipV="0">
            <a:off x="3870008" y="3245168"/>
            <a:ext cx="937260" cy="0"/>
          </a:xfrm>
          <a:prstGeom xmlns:a="http://schemas.openxmlformats.org/drawingml/2006/main" prst="line">
            <a:avLst/>
          </a:prstGeom>
          <a:noFill xmlns:a="http://schemas.openxmlformats.org/drawingml/2006/main"/>
          <a:ln xmlns:a="http://schemas.openxmlformats.org/drawingml/2006/main" w="22860">
            <a:solidFill>
              <a:srgbClr val="69AEF5"/>
            </a:solidFill>
            <a:prstDash val="solid"/>
          </a:ln>
        </p:spPr>
      </p:sp>
      <p:sp>
        <p:nvSpPr>
          <p:cNvPr id="25" name="token-to-pass-head">
            <a:extLst xmlns:a="http://schemas.openxmlformats.org/drawingml/2006/main">
              <a:ext uri="{FF2B5EF4-FFF2-40B4-BE49-F238E27FC236}">
                <a16:creationId xmlns:a16="http://schemas.microsoft.com/office/drawing/2014/main" id="{A991D1B3-1559-44BA-9D74-49FEBDDDB1F5}"/>
              </a:ext>
            </a:extLst>
          </p:cNvPr>
          <p:cNvSpPr>
            <a:spLocks xmlns:a="http://schemas.openxmlformats.org/drawingml/2006/main" noGrp="1"/>
          </p:cNvSpPr>
          <p:nvPr/>
        </p:nvSpPr>
        <p:spPr>
          <a:xfrm xmlns:a="http://schemas.openxmlformats.org/drawingml/2006/main" rot="5400000">
            <a:off x="4759643" y="3197543"/>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26" name="pass-node-frame">
            <a:extLst xmlns:a="http://schemas.openxmlformats.org/drawingml/2006/main">
              <a:ext uri="{FF2B5EF4-FFF2-40B4-BE49-F238E27FC236}">
                <a16:creationId xmlns:a16="http://schemas.microsoft.com/office/drawing/2014/main" id="{1B4358F9-04DE-4827-8122-EAEC07EB237C}"/>
              </a:ext>
            </a:extLst>
          </p:cNvPr>
          <p:cNvSpPr>
            <a:spLocks xmlns:a="http://schemas.openxmlformats.org/drawingml/2006/main" noGrp="1"/>
          </p:cNvSpPr>
          <p:nvPr/>
        </p:nvSpPr>
        <p:spPr>
          <a:xfrm xmlns:a="http://schemas.openxmlformats.org/drawingml/2006/main" rot="0">
            <a:off x="4807268" y="2893695"/>
            <a:ext cx="820103" cy="702945"/>
          </a:xfrm>
          <a:prstGeom xmlns:a="http://schemas.openxmlformats.org/drawingml/2006/main" prst="roundRect">
            <a:avLst>
              <a:gd name="adj" fmla="val 10840"/>
            </a:avLst>
          </a:prstGeom>
          <a:solidFill xmlns:a="http://schemas.openxmlformats.org/drawingml/2006/main">
            <a:srgbClr val="10151C"/>
          </a:solidFill>
          <a:ln xmlns:a="http://schemas.openxmlformats.org/drawingml/2006/main" w="13335">
            <a:solidFill>
              <a:srgbClr val="40505D"/>
            </a:solidFill>
            <a:prstDash val="solid"/>
          </a:ln>
        </p:spPr>
      </p:sp>
      <p:sp>
        <p:nvSpPr>
          <p:cNvPr id="27" name="pass-node-title">
            <a:extLst xmlns:a="http://schemas.openxmlformats.org/drawingml/2006/main">
              <a:ext uri="{FF2B5EF4-FFF2-40B4-BE49-F238E27FC236}">
                <a16:creationId xmlns:a16="http://schemas.microsoft.com/office/drawing/2014/main" id="{AC9061D4-8CAD-45CD-ADC3-E6921EF17262}"/>
              </a:ext>
            </a:extLst>
          </p:cNvPr>
          <p:cNvSpPr>
            <a:spLocks xmlns:a="http://schemas.openxmlformats.org/drawingml/2006/main" noGrp="1"/>
          </p:cNvSpPr>
          <p:nvPr/>
        </p:nvSpPr>
        <p:spPr>
          <a:xfrm xmlns:a="http://schemas.openxmlformats.org/drawingml/2006/main" rot="0">
            <a:off x="4883468" y="2969895"/>
            <a:ext cx="667703" cy="55054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PASS</a:t>
            </a:r>
          </a:p>
        </p:txBody>
      </p:sp>
      <p:sp>
        <p:nvSpPr>
          <p:cNvPr id="28" name="credential-question">
            <a:extLst xmlns:a="http://schemas.openxmlformats.org/drawingml/2006/main">
              <a:ext uri="{FF2B5EF4-FFF2-40B4-BE49-F238E27FC236}">
                <a16:creationId xmlns:a16="http://schemas.microsoft.com/office/drawing/2014/main" id="{7CA88D6F-6FDF-4175-8F2F-A8A3F2C0645D}"/>
              </a:ext>
            </a:extLst>
          </p:cNvPr>
          <p:cNvSpPr>
            <a:spLocks xmlns:a="http://schemas.openxmlformats.org/drawingml/2006/main" noGrp="1"/>
          </p:cNvSpPr>
          <p:nvPr/>
        </p:nvSpPr>
        <p:spPr>
          <a:xfrm xmlns:a="http://schemas.openxmlformats.org/drawingml/2006/main" rot="0">
            <a:off x="2932748" y="3909060"/>
            <a:ext cx="249936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Is this credential valid?</a:t>
            </a:r>
          </a:p>
        </p:txBody>
      </p:sp>
      <p:sp>
        <p:nvSpPr>
          <p:cNvPr id="29" name="credential-persistence">
            <a:extLst xmlns:a="http://schemas.openxmlformats.org/drawingml/2006/main">
              <a:ext uri="{FF2B5EF4-FFF2-40B4-BE49-F238E27FC236}">
                <a16:creationId xmlns:a16="http://schemas.microsoft.com/office/drawing/2014/main" id="{F829069F-D546-4874-8B5C-A2604D5240C6}"/>
              </a:ext>
            </a:extLst>
          </p:cNvPr>
          <p:cNvSpPr>
            <a:spLocks xmlns:a="http://schemas.openxmlformats.org/drawingml/2006/main" noGrp="1"/>
          </p:cNvSpPr>
          <p:nvPr/>
        </p:nvSpPr>
        <p:spPr>
          <a:xfrm xmlns:a="http://schemas.openxmlformats.org/drawingml/2006/main" rot="0">
            <a:off x="2932748" y="4143375"/>
            <a:ext cx="249936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Authority persists until expiry.</a:t>
            </a:r>
          </a:p>
        </p:txBody>
      </p:sp>
      <p:sp>
        <p:nvSpPr>
          <p:cNvPr id="30" name="ambient-panel">
            <a:extLst xmlns:a="http://schemas.openxmlformats.org/drawingml/2006/main">
              <a:ext uri="{FF2B5EF4-FFF2-40B4-BE49-F238E27FC236}">
                <a16:creationId xmlns:a16="http://schemas.microsoft.com/office/drawing/2014/main" id="{6EDE0081-EF27-4C45-B3B2-0C7C5894573A}"/>
              </a:ext>
            </a:extLst>
          </p:cNvPr>
          <p:cNvSpPr>
            <a:spLocks xmlns:a="http://schemas.openxmlformats.org/drawingml/2006/main" noGrp="1"/>
          </p:cNvSpPr>
          <p:nvPr/>
        </p:nvSpPr>
        <p:spPr>
          <a:xfrm xmlns:a="http://schemas.openxmlformats.org/drawingml/2006/main" rot="0">
            <a:off x="6369368" y="2112645"/>
            <a:ext cx="3280410" cy="2460308"/>
          </a:xfrm>
          <a:prstGeom xmlns:a="http://schemas.openxmlformats.org/drawingml/2006/main" prst="roundRect">
            <a:avLst>
              <a:gd name="adj" fmla="val 3097"/>
            </a:avLst>
          </a:prstGeom>
          <a:solidFill xmlns:a="http://schemas.openxmlformats.org/drawingml/2006/main">
            <a:srgbClr val="10151C"/>
          </a:solidFill>
          <a:ln xmlns:a="http://schemas.openxmlformats.org/drawingml/2006/main" w="11430">
            <a:solidFill>
              <a:srgbClr val="40505D"/>
            </a:solidFill>
            <a:prstDash val="solid"/>
          </a:ln>
        </p:spPr>
      </p:sp>
      <p:sp>
        <p:nvSpPr>
          <p:cNvPr id="31" name="ambient-panel-title">
            <a:extLst xmlns:a="http://schemas.openxmlformats.org/drawingml/2006/main">
              <a:ext uri="{FF2B5EF4-FFF2-40B4-BE49-F238E27FC236}">
                <a16:creationId xmlns:a16="http://schemas.microsoft.com/office/drawing/2014/main" id="{B4A42366-D794-44A4-97CF-5A36AA311B66}"/>
              </a:ext>
            </a:extLst>
          </p:cNvPr>
          <p:cNvSpPr>
            <a:spLocks xmlns:a="http://schemas.openxmlformats.org/drawingml/2006/main" noGrp="1"/>
          </p:cNvSpPr>
          <p:nvPr/>
        </p:nvSpPr>
        <p:spPr>
          <a:xfrm xmlns:a="http://schemas.openxmlformats.org/drawingml/2006/main" rot="0">
            <a:off x="6877050" y="2284476"/>
            <a:ext cx="226504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Ambient enforcement</a:t>
            </a:r>
          </a:p>
        </p:txBody>
      </p:sp>
      <p:sp>
        <p:nvSpPr>
          <p:cNvPr id="32" name="trajectory-curve-01">
            <a:extLst xmlns:a="http://schemas.openxmlformats.org/drawingml/2006/main">
              <a:ext uri="{FF2B5EF4-FFF2-40B4-BE49-F238E27FC236}">
                <a16:creationId xmlns:a16="http://schemas.microsoft.com/office/drawing/2014/main" id="{71793C40-8BEB-43DE-ADC1-6BC9BC32F11C}"/>
              </a:ext>
            </a:extLst>
          </p:cNvPr>
          <p:cNvSpPr>
            <a:spLocks xmlns:a="http://schemas.openxmlformats.org/drawingml/2006/main" noGrp="1"/>
          </p:cNvSpPr>
          <p:nvPr/>
        </p:nvSpPr>
        <p:spPr>
          <a:xfrm xmlns:a="http://schemas.openxmlformats.org/drawingml/2006/main" flipH="0" flipV="1">
            <a:off x="6759893" y="2932748"/>
            <a:ext cx="312420" cy="413957"/>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3" name="trajectory-curve-02">
            <a:extLst xmlns:a="http://schemas.openxmlformats.org/drawingml/2006/main">
              <a:ext uri="{FF2B5EF4-FFF2-40B4-BE49-F238E27FC236}">
                <a16:creationId xmlns:a16="http://schemas.microsoft.com/office/drawing/2014/main" id="{64CAFF5E-61CC-4E6E-820F-BE8C2A5C2353}"/>
              </a:ext>
            </a:extLst>
          </p:cNvPr>
          <p:cNvSpPr>
            <a:spLocks xmlns:a="http://schemas.openxmlformats.org/drawingml/2006/main" noGrp="1"/>
          </p:cNvSpPr>
          <p:nvPr/>
        </p:nvSpPr>
        <p:spPr>
          <a:xfrm xmlns:a="http://schemas.openxmlformats.org/drawingml/2006/main" flipH="0" flipV="1">
            <a:off x="7072313" y="2721864"/>
            <a:ext cx="390525" cy="210883"/>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4" name="trajectory-curve-03">
            <a:extLst xmlns:a="http://schemas.openxmlformats.org/drawingml/2006/main">
              <a:ext uri="{FF2B5EF4-FFF2-40B4-BE49-F238E27FC236}">
                <a16:creationId xmlns:a16="http://schemas.microsoft.com/office/drawing/2014/main" id="{3E7EF5BA-8DD6-4CA2-86A9-683CFDC3529F}"/>
              </a:ext>
            </a:extLst>
          </p:cNvPr>
          <p:cNvSpPr>
            <a:spLocks xmlns:a="http://schemas.openxmlformats.org/drawingml/2006/main" noGrp="1"/>
          </p:cNvSpPr>
          <p:nvPr/>
        </p:nvSpPr>
        <p:spPr>
          <a:xfrm xmlns:a="http://schemas.openxmlformats.org/drawingml/2006/main" flipH="0" flipV="0">
            <a:off x="7462838" y="2721864"/>
            <a:ext cx="390525" cy="31242"/>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5" name="trajectory-curve-04">
            <a:extLst xmlns:a="http://schemas.openxmlformats.org/drawingml/2006/main">
              <a:ext uri="{FF2B5EF4-FFF2-40B4-BE49-F238E27FC236}">
                <a16:creationId xmlns:a16="http://schemas.microsoft.com/office/drawing/2014/main" id="{4B33FE12-8D01-4D37-8CF8-FC19C0B7ECBA}"/>
              </a:ext>
            </a:extLst>
          </p:cNvPr>
          <p:cNvSpPr>
            <a:spLocks xmlns:a="http://schemas.openxmlformats.org/drawingml/2006/main" noGrp="1"/>
          </p:cNvSpPr>
          <p:nvPr/>
        </p:nvSpPr>
        <p:spPr>
          <a:xfrm xmlns:a="http://schemas.openxmlformats.org/drawingml/2006/main" flipH="0" flipV="0">
            <a:off x="7853363" y="2753106"/>
            <a:ext cx="390525" cy="257747"/>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6" name="trajectory-curve-05">
            <a:extLst xmlns:a="http://schemas.openxmlformats.org/drawingml/2006/main">
              <a:ext uri="{FF2B5EF4-FFF2-40B4-BE49-F238E27FC236}">
                <a16:creationId xmlns:a16="http://schemas.microsoft.com/office/drawing/2014/main" id="{A4B5E509-3E82-4B6B-894D-48CCEF27E290}"/>
              </a:ext>
            </a:extLst>
          </p:cNvPr>
          <p:cNvSpPr>
            <a:spLocks xmlns:a="http://schemas.openxmlformats.org/drawingml/2006/main" noGrp="1"/>
          </p:cNvSpPr>
          <p:nvPr/>
        </p:nvSpPr>
        <p:spPr>
          <a:xfrm xmlns:a="http://schemas.openxmlformats.org/drawingml/2006/main" flipH="0" flipV="0">
            <a:off x="8243888" y="3010853"/>
            <a:ext cx="390525" cy="351472"/>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7" name="trajectory-curve-06">
            <a:extLst xmlns:a="http://schemas.openxmlformats.org/drawingml/2006/main">
              <a:ext uri="{FF2B5EF4-FFF2-40B4-BE49-F238E27FC236}">
                <a16:creationId xmlns:a16="http://schemas.microsoft.com/office/drawing/2014/main" id="{A1F736E6-385D-432E-BCC8-B8C6F4F6D62F}"/>
              </a:ext>
            </a:extLst>
          </p:cNvPr>
          <p:cNvSpPr>
            <a:spLocks xmlns:a="http://schemas.openxmlformats.org/drawingml/2006/main" noGrp="1"/>
          </p:cNvSpPr>
          <p:nvPr/>
        </p:nvSpPr>
        <p:spPr>
          <a:xfrm xmlns:a="http://schemas.openxmlformats.org/drawingml/2006/main" flipH="0" flipV="0">
            <a:off x="8634413" y="3362325"/>
            <a:ext cx="312420" cy="390525"/>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8" name="trajectory-curve-07">
            <a:extLst xmlns:a="http://schemas.openxmlformats.org/drawingml/2006/main">
              <a:ext uri="{FF2B5EF4-FFF2-40B4-BE49-F238E27FC236}">
                <a16:creationId xmlns:a16="http://schemas.microsoft.com/office/drawing/2014/main" id="{9515C16F-E437-4338-A0A3-2271B60F9864}"/>
              </a:ext>
            </a:extLst>
          </p:cNvPr>
          <p:cNvSpPr>
            <a:spLocks xmlns:a="http://schemas.openxmlformats.org/drawingml/2006/main" noGrp="1"/>
          </p:cNvSpPr>
          <p:nvPr/>
        </p:nvSpPr>
        <p:spPr>
          <a:xfrm xmlns:a="http://schemas.openxmlformats.org/drawingml/2006/main" flipH="0" flipV="0">
            <a:off x="8946833" y="3752850"/>
            <a:ext cx="273368" cy="39053"/>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9" name="trajectory-curve-08">
            <a:extLst xmlns:a="http://schemas.openxmlformats.org/drawingml/2006/main">
              <a:ext uri="{FF2B5EF4-FFF2-40B4-BE49-F238E27FC236}">
                <a16:creationId xmlns:a16="http://schemas.microsoft.com/office/drawing/2014/main" id="{77FB126D-5877-49AE-92CE-C2CC315C8714}"/>
              </a:ext>
            </a:extLst>
          </p:cNvPr>
          <p:cNvSpPr>
            <a:spLocks xmlns:a="http://schemas.openxmlformats.org/drawingml/2006/main" noGrp="1"/>
          </p:cNvSpPr>
          <p:nvPr/>
        </p:nvSpPr>
        <p:spPr>
          <a:xfrm xmlns:a="http://schemas.openxmlformats.org/drawingml/2006/main" flipH="0" flipV="1">
            <a:off x="9220200" y="3167063"/>
            <a:ext cx="195263" cy="624840"/>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40" name="trajectory-arrow-head">
            <a:extLst xmlns:a="http://schemas.openxmlformats.org/drawingml/2006/main">
              <a:ext uri="{FF2B5EF4-FFF2-40B4-BE49-F238E27FC236}">
                <a16:creationId xmlns:a16="http://schemas.microsoft.com/office/drawing/2014/main" id="{3E60A24F-D428-415F-93A0-624AAED1F91D}"/>
              </a:ext>
            </a:extLst>
          </p:cNvPr>
          <p:cNvSpPr>
            <a:spLocks xmlns:a="http://schemas.openxmlformats.org/drawingml/2006/main" noGrp="1"/>
          </p:cNvSpPr>
          <p:nvPr/>
        </p:nvSpPr>
        <p:spPr>
          <a:xfrm xmlns:a="http://schemas.openxmlformats.org/drawingml/2006/main" rot="1500000">
            <a:off x="9368600" y="3088958"/>
            <a:ext cx="109347" cy="109347"/>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41" name="infrastructure-boundary">
            <a:extLst xmlns:a="http://schemas.openxmlformats.org/drawingml/2006/main">
              <a:ext uri="{FF2B5EF4-FFF2-40B4-BE49-F238E27FC236}">
                <a16:creationId xmlns:a16="http://schemas.microsoft.com/office/drawing/2014/main" id="{725F503A-0177-4EF8-9A30-324A80D837AF}"/>
              </a:ext>
            </a:extLst>
          </p:cNvPr>
          <p:cNvSpPr>
            <a:spLocks xmlns:a="http://schemas.openxmlformats.org/drawingml/2006/main" noGrp="1"/>
          </p:cNvSpPr>
          <p:nvPr/>
        </p:nvSpPr>
        <p:spPr>
          <a:xfrm xmlns:a="http://schemas.openxmlformats.org/drawingml/2006/main" flipH="0" flipV="0">
            <a:off x="8361045" y="2620328"/>
            <a:ext cx="0" cy="1366838"/>
          </a:xfrm>
          <a:prstGeom xmlns:a="http://schemas.openxmlformats.org/drawingml/2006/main" prst="line">
            <a:avLst/>
          </a:prstGeom>
          <a:noFill xmlns:a="http://schemas.openxmlformats.org/drawingml/2006/main"/>
          <a:ln xmlns:a="http://schemas.openxmlformats.org/drawingml/2006/main" w="19050">
            <a:solidFill>
              <a:srgbClr val="40505D"/>
            </a:solidFill>
            <a:prstDash val="solid"/>
          </a:ln>
        </p:spPr>
      </p:sp>
      <p:sp>
        <p:nvSpPr>
          <p:cNvPr id="42" name="boundary-label">
            <a:extLst xmlns:a="http://schemas.openxmlformats.org/drawingml/2006/main">
              <a:ext uri="{FF2B5EF4-FFF2-40B4-BE49-F238E27FC236}">
                <a16:creationId xmlns:a16="http://schemas.microsoft.com/office/drawing/2014/main" id="{DE966C58-8DFC-47C9-906F-471EA339D08E}"/>
              </a:ext>
            </a:extLst>
          </p:cNvPr>
          <p:cNvSpPr>
            <a:spLocks xmlns:a="http://schemas.openxmlformats.org/drawingml/2006/main" noGrp="1"/>
          </p:cNvSpPr>
          <p:nvPr/>
        </p:nvSpPr>
        <p:spPr>
          <a:xfrm xmlns:a="http://schemas.openxmlformats.org/drawingml/2006/main" rot="0">
            <a:off x="7150418" y="4026218"/>
            <a:ext cx="2421255" cy="171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infrastructure boundary</a:t>
            </a:r>
          </a:p>
        </p:txBody>
      </p:sp>
      <p:sp>
        <p:nvSpPr>
          <p:cNvPr id="43" name="ambient-question">
            <a:extLst xmlns:a="http://schemas.openxmlformats.org/drawingml/2006/main">
              <a:ext uri="{FF2B5EF4-FFF2-40B4-BE49-F238E27FC236}">
                <a16:creationId xmlns:a16="http://schemas.microsoft.com/office/drawing/2014/main" id="{88C882BB-562E-4854-B23E-CA9CFE46353A}"/>
              </a:ext>
            </a:extLst>
          </p:cNvPr>
          <p:cNvSpPr>
            <a:spLocks xmlns:a="http://schemas.openxmlformats.org/drawingml/2006/main" noGrp="1"/>
          </p:cNvSpPr>
          <p:nvPr/>
        </p:nvSpPr>
        <p:spPr>
          <a:xfrm xmlns:a="http://schemas.openxmlformats.org/drawingml/2006/main" rot="0">
            <a:off x="6642735" y="4276154"/>
            <a:ext cx="2733675"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Does this trajectory earn authority now?</a:t>
            </a:r>
          </a:p>
        </p:txBody>
      </p:sp>
      <p:sp>
        <p:nvSpPr>
          <p:cNvPr id="44" name="motion-label">
            <a:extLst xmlns:a="http://schemas.openxmlformats.org/drawingml/2006/main">
              <a:ext uri="{FF2B5EF4-FFF2-40B4-BE49-F238E27FC236}">
                <a16:creationId xmlns:a16="http://schemas.microsoft.com/office/drawing/2014/main" id="{C3E862B9-AF1D-48D2-9046-6FAB6F2F88BF}"/>
              </a:ext>
            </a:extLst>
          </p:cNvPr>
          <p:cNvSpPr>
            <a:spLocks xmlns:a="http://schemas.openxmlformats.org/drawingml/2006/main" noGrp="1"/>
          </p:cNvSpPr>
          <p:nvPr/>
        </p:nvSpPr>
        <p:spPr>
          <a:xfrm xmlns:a="http://schemas.openxmlformats.org/drawingml/2006/main" rot="0">
            <a:off x="6759893" y="4721352"/>
            <a:ext cx="265557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69AEF5"/>
                </a:solidFill>
              </a:defRPr>
            </a:pPr>
            <a:r>
              <a:rPr sz="750" b="1">
                <a:solidFill>
                  <a:srgbClr val="69AEF5"/>
                </a:solidFill>
              </a:rPr>
              <a:t>AUTHORITY BECOMES A PROPERTY OF MOTION</a:t>
            </a:r>
          </a:p>
        </p:txBody>
      </p:sp>
    </p:spTree>
    <p:extLst>
      <p:ext uri="{BB962C8B-B14F-4D97-AF65-F5344CB8AC3E}">
        <p14:creationId xmlns:p14="http://schemas.microsoft.com/office/powerpoint/2010/main" val="261543534"/>
      </p:ext>
    </p:extLst>
  </p:cSld>
</p:sld>
</file>

<file path=ppt/slides/slide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7" name="header-eyebrow">
            <a:extLst xmlns:a="http://schemas.openxmlformats.org/drawingml/2006/main">
              <a:ext uri="{FF2B5EF4-FFF2-40B4-BE49-F238E27FC236}">
                <a16:creationId xmlns:a16="http://schemas.microsoft.com/office/drawing/2014/main" id="{C6F93E60-6EFB-4F6B-971A-FD888A2B0178}"/>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3E770860-D0F7-4D4A-A845-9FFC64F13D01}"/>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KTP source · proposed KIL extension   Primer P3 of P4   Waiting for presenter</a:t>
            </a:r>
          </a:p>
        </p:txBody>
      </p:sp>
      <p:sp>
        <p:nvSpPr>
          <p:cNvPr id="3" name="scene-title">
            <a:extLst xmlns:a="http://schemas.openxmlformats.org/drawingml/2006/main">
              <a:ext uri="{FF2B5EF4-FFF2-40B4-BE49-F238E27FC236}">
                <a16:creationId xmlns:a16="http://schemas.microsoft.com/office/drawing/2014/main" id="{DC8D47B7-64D3-403B-B508-DEEA9C23F1A3}"/>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KIL is a proposed extension of KTP</a:t>
            </a:r>
          </a:p>
        </p:txBody>
      </p:sp>
      <p:sp>
        <p:nvSpPr>
          <p:cNvPr id="4" name="nav-act-primer">
            <a:extLst xmlns:a="http://schemas.openxmlformats.org/drawingml/2006/main">
              <a:ext uri="{FF2B5EF4-FFF2-40B4-BE49-F238E27FC236}">
                <a16:creationId xmlns:a16="http://schemas.microsoft.com/office/drawing/2014/main" id="{6F2AA0CF-A480-4029-A805-A26AF7BFB84F}"/>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5" name="nav-act-primer-label">
            <a:extLst xmlns:a="http://schemas.openxmlformats.org/drawingml/2006/main">
              <a:ext uri="{FF2B5EF4-FFF2-40B4-BE49-F238E27FC236}">
                <a16:creationId xmlns:a16="http://schemas.microsoft.com/office/drawing/2014/main" id="{1A5B160B-9A1D-4AF9-AC15-DCD9FA40B3F9}"/>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KIL primer</a:t>
            </a:r>
          </a:p>
        </p:txBody>
      </p:sp>
      <p:sp>
        <p:nvSpPr>
          <p:cNvPr id="6" name="nav-act-case">
            <a:extLst xmlns:a="http://schemas.openxmlformats.org/drawingml/2006/main">
              <a:ext uri="{FF2B5EF4-FFF2-40B4-BE49-F238E27FC236}">
                <a16:creationId xmlns:a16="http://schemas.microsoft.com/office/drawing/2014/main" id="{CC8FD53A-BC17-46A0-8916-3F7433AE8AEB}"/>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7" name="nav-act-case-label">
            <a:extLst xmlns:a="http://schemas.openxmlformats.org/drawingml/2006/main">
              <a:ext uri="{FF2B5EF4-FFF2-40B4-BE49-F238E27FC236}">
                <a16:creationId xmlns:a16="http://schemas.microsoft.com/office/drawing/2014/main" id="{3BC731AA-C535-4560-B7B0-C9A2FD642ABB}"/>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Hugging Face case study</a:t>
            </a:r>
          </a:p>
        </p:txBody>
      </p:sp>
      <p:sp>
        <p:nvSpPr>
          <p:cNvPr id="8" name="nav-scene-1">
            <a:extLst xmlns:a="http://schemas.openxmlformats.org/drawingml/2006/main">
              <a:ext uri="{FF2B5EF4-FFF2-40B4-BE49-F238E27FC236}">
                <a16:creationId xmlns:a16="http://schemas.microsoft.com/office/drawing/2014/main" id="{38C77799-E013-473C-AEDB-18A20AC150EE}"/>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17839A8E-1D68-4D83-B346-FD7A8D1A8B2C}"/>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P1</a:t>
            </a:r>
          </a:p>
        </p:txBody>
      </p:sp>
      <p:sp>
        <p:nvSpPr>
          <p:cNvPr id="10" name="nav-scene-2">
            <a:extLst xmlns:a="http://schemas.openxmlformats.org/drawingml/2006/main">
              <a:ext uri="{FF2B5EF4-FFF2-40B4-BE49-F238E27FC236}">
                <a16:creationId xmlns:a16="http://schemas.microsoft.com/office/drawing/2014/main" id="{05158B1A-FF94-45CC-A1F7-F747EEA4876B}"/>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8D6E9D5B-BB0B-4425-BFB6-B1D508C519E9}"/>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P2</a:t>
            </a:r>
          </a:p>
        </p:txBody>
      </p:sp>
      <p:sp>
        <p:nvSpPr>
          <p:cNvPr id="12" name="nav-scene-3">
            <a:extLst xmlns:a="http://schemas.openxmlformats.org/drawingml/2006/main">
              <a:ext uri="{FF2B5EF4-FFF2-40B4-BE49-F238E27FC236}">
                <a16:creationId xmlns:a16="http://schemas.microsoft.com/office/drawing/2014/main" id="{FF8059D3-C674-47FE-908F-B317939869CD}"/>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3" name="nav-scene-3-label">
            <a:extLst xmlns:a="http://schemas.openxmlformats.org/drawingml/2006/main">
              <a:ext uri="{FF2B5EF4-FFF2-40B4-BE49-F238E27FC236}">
                <a16:creationId xmlns:a16="http://schemas.microsoft.com/office/drawing/2014/main" id="{D3A8E5BD-98C4-4390-955D-5399563E41E7}"/>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P3</a:t>
            </a:r>
          </a:p>
        </p:txBody>
      </p:sp>
      <p:sp>
        <p:nvSpPr>
          <p:cNvPr id="14" name="nav-scene-4">
            <a:extLst xmlns:a="http://schemas.openxmlformats.org/drawingml/2006/main">
              <a:ext uri="{FF2B5EF4-FFF2-40B4-BE49-F238E27FC236}">
                <a16:creationId xmlns:a16="http://schemas.microsoft.com/office/drawing/2014/main" id="{1204854A-1D4E-47F9-8FBC-C7ECD220E0A9}"/>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C6DB7DB4-D74D-4F9E-A3D0-F218F6C96633}"/>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P4</a:t>
            </a:r>
          </a:p>
        </p:txBody>
      </p:sp>
      <p:sp>
        <p:nvSpPr>
          <p:cNvPr id="16" name="diagram-field">
            <a:extLst xmlns:a="http://schemas.openxmlformats.org/drawingml/2006/main">
              <a:ext uri="{FF2B5EF4-FFF2-40B4-BE49-F238E27FC236}">
                <a16:creationId xmlns:a16="http://schemas.microsoft.com/office/drawing/2014/main" id="{E1B312C2-4EB7-40FA-A8C9-8540530EDF96}"/>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17" name="takeaway">
            <a:extLst xmlns:a="http://schemas.openxmlformats.org/drawingml/2006/main">
              <a:ext uri="{FF2B5EF4-FFF2-40B4-BE49-F238E27FC236}">
                <a16:creationId xmlns:a16="http://schemas.microsoft.com/office/drawing/2014/main" id="{BED0D91C-027D-48A6-9BAB-F137E0BEC144}"/>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KTP remains authoritative; KIL adds a reducing-only infrastructure consumption profile.</a:t>
            </a:r>
          </a:p>
        </p:txBody>
      </p:sp>
      <p:sp>
        <p:nvSpPr>
          <p:cNvPr id="18" name="source-rail">
            <a:extLst xmlns:a="http://schemas.openxmlformats.org/drawingml/2006/main">
              <a:ext uri="{FF2B5EF4-FFF2-40B4-BE49-F238E27FC236}">
                <a16:creationId xmlns:a16="http://schemas.microsoft.com/office/drawing/2014/main" id="{A4477108-49D8-46F7-97CA-52DE7BA5CFD6}"/>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19" name="slow-loop-label">
            <a:extLst xmlns:a="http://schemas.openxmlformats.org/drawingml/2006/main">
              <a:ext uri="{FF2B5EF4-FFF2-40B4-BE49-F238E27FC236}">
                <a16:creationId xmlns:a16="http://schemas.microsoft.com/office/drawing/2014/main" id="{5681A20E-D67B-4701-883C-F2EDE1284151}"/>
              </a:ext>
            </a:extLst>
          </p:cNvPr>
          <p:cNvSpPr>
            <a:spLocks xmlns:a="http://schemas.openxmlformats.org/drawingml/2006/main" noGrp="1"/>
          </p:cNvSpPr>
          <p:nvPr/>
        </p:nvSpPr>
        <p:spPr>
          <a:xfrm xmlns:a="http://schemas.openxmlformats.org/drawingml/2006/main" rot="0">
            <a:off x="2542223" y="1628394"/>
            <a:ext cx="3514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KTP AUTHORITATIVE LOOP — SLOWER</a:t>
            </a:r>
          </a:p>
        </p:txBody>
      </p:sp>
      <p:sp>
        <p:nvSpPr>
          <p:cNvPr id="20" name="slow-loop-frame">
            <a:extLst xmlns:a="http://schemas.openxmlformats.org/drawingml/2006/main">
              <a:ext uri="{FF2B5EF4-FFF2-40B4-BE49-F238E27FC236}">
                <a16:creationId xmlns:a16="http://schemas.microsoft.com/office/drawing/2014/main" id="{92BD37EB-66FB-4E21-BE5A-42715C7C1449}"/>
              </a:ext>
            </a:extLst>
          </p:cNvPr>
          <p:cNvSpPr>
            <a:spLocks xmlns:a="http://schemas.openxmlformats.org/drawingml/2006/main" noGrp="1"/>
          </p:cNvSpPr>
          <p:nvPr/>
        </p:nvSpPr>
        <p:spPr>
          <a:xfrm xmlns:a="http://schemas.openxmlformats.org/drawingml/2006/main" rot="0">
            <a:off x="2542223" y="1987677"/>
            <a:ext cx="7107555" cy="1015365"/>
          </a:xfrm>
          <a:prstGeom xmlns:a="http://schemas.openxmlformats.org/drawingml/2006/main" prst="roundRect">
            <a:avLst>
              <a:gd name="adj" fmla="val 7505"/>
            </a:avLst>
          </a:prstGeom>
          <a:solidFill xmlns:a="http://schemas.openxmlformats.org/drawingml/2006/main">
            <a:srgbClr val="10151C"/>
          </a:solidFill>
          <a:ln xmlns:a="http://schemas.openxmlformats.org/drawingml/2006/main" w="11430">
            <a:solidFill>
              <a:srgbClr val="40505D"/>
            </a:solidFill>
            <a:prstDash val="solid"/>
          </a:ln>
        </p:spPr>
      </p:sp>
      <p:sp>
        <p:nvSpPr>
          <p:cNvPr id="21" name="ktp-constructs-frame">
            <a:extLst xmlns:a="http://schemas.openxmlformats.org/drawingml/2006/main">
              <a:ext uri="{FF2B5EF4-FFF2-40B4-BE49-F238E27FC236}">
                <a16:creationId xmlns:a16="http://schemas.microsoft.com/office/drawing/2014/main" id="{5C83C3EA-F4DB-4D7F-85F0-132C13AD0993}"/>
              </a:ext>
            </a:extLst>
          </p:cNvPr>
          <p:cNvSpPr>
            <a:spLocks xmlns:a="http://schemas.openxmlformats.org/drawingml/2006/main" noGrp="1"/>
          </p:cNvSpPr>
          <p:nvPr/>
        </p:nvSpPr>
        <p:spPr>
          <a:xfrm xmlns:a="http://schemas.openxmlformats.org/drawingml/2006/main" rot="0">
            <a:off x="2854643" y="2229803"/>
            <a:ext cx="1835468" cy="515493"/>
          </a:xfrm>
          <a:prstGeom xmlns:a="http://schemas.openxmlformats.org/drawingml/2006/main" prst="roundRect">
            <a:avLst>
              <a:gd name="adj" fmla="val 14782"/>
            </a:avLst>
          </a:prstGeom>
          <a:solidFill xmlns:a="http://schemas.openxmlformats.org/drawingml/2006/main">
            <a:srgbClr val="10151C"/>
          </a:solidFill>
          <a:ln xmlns:a="http://schemas.openxmlformats.org/drawingml/2006/main" w="13335">
            <a:solidFill>
              <a:srgbClr val="40505D"/>
            </a:solidFill>
            <a:prstDash val="solid"/>
          </a:ln>
        </p:spPr>
      </p:sp>
      <p:sp>
        <p:nvSpPr>
          <p:cNvPr id="22" name="ktp-constructs-title">
            <a:extLst xmlns:a="http://schemas.openxmlformats.org/drawingml/2006/main">
              <a:ext uri="{FF2B5EF4-FFF2-40B4-BE49-F238E27FC236}">
                <a16:creationId xmlns:a16="http://schemas.microsoft.com/office/drawing/2014/main" id="{687BB7C6-5CB4-43DB-89D3-FF785296EE4B}"/>
              </a:ext>
            </a:extLst>
          </p:cNvPr>
          <p:cNvSpPr>
            <a:spLocks xmlns:a="http://schemas.openxmlformats.org/drawingml/2006/main" noGrp="1"/>
          </p:cNvSpPr>
          <p:nvPr/>
        </p:nvSpPr>
        <p:spPr>
          <a:xfrm xmlns:a="http://schemas.openxmlformats.org/drawingml/2006/main" rot="0">
            <a:off x="2930843" y="2306003"/>
            <a:ext cx="168306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KTP constructs</a:t>
            </a:r>
          </a:p>
        </p:txBody>
      </p:sp>
      <p:sp>
        <p:nvSpPr>
          <p:cNvPr id="23" name="ktp-constructs-subtitle">
            <a:extLst xmlns:a="http://schemas.openxmlformats.org/drawingml/2006/main">
              <a:ext uri="{FF2B5EF4-FFF2-40B4-BE49-F238E27FC236}">
                <a16:creationId xmlns:a16="http://schemas.microsoft.com/office/drawing/2014/main" id="{21547AF4-79F1-4DCB-9B68-F4DA02CD9DE6}"/>
              </a:ext>
            </a:extLst>
          </p:cNvPr>
          <p:cNvSpPr>
            <a:spLocks xmlns:a="http://schemas.openxmlformats.org/drawingml/2006/main" noGrp="1"/>
          </p:cNvSpPr>
          <p:nvPr/>
        </p:nvSpPr>
        <p:spPr>
          <a:xfrm xmlns:a="http://schemas.openxmlformats.org/drawingml/2006/main" rot="0">
            <a:off x="2930843" y="2525078"/>
            <a:ext cx="1683068" cy="1630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identity · trajectory · vetoes</a:t>
            </a:r>
          </a:p>
        </p:txBody>
      </p:sp>
      <p:sp>
        <p:nvSpPr>
          <p:cNvPr id="24" name="ktp-to-state-line">
            <a:extLst xmlns:a="http://schemas.openxmlformats.org/drawingml/2006/main">
              <a:ext uri="{FF2B5EF4-FFF2-40B4-BE49-F238E27FC236}">
                <a16:creationId xmlns:a16="http://schemas.microsoft.com/office/drawing/2014/main" id="{AE5AAAD2-D940-4C04-9979-0C908A1B6269}"/>
              </a:ext>
            </a:extLst>
          </p:cNvPr>
          <p:cNvSpPr>
            <a:spLocks xmlns:a="http://schemas.openxmlformats.org/drawingml/2006/main" noGrp="1"/>
          </p:cNvSpPr>
          <p:nvPr/>
        </p:nvSpPr>
        <p:spPr>
          <a:xfrm xmlns:a="http://schemas.openxmlformats.org/drawingml/2006/main" flipH="0" flipV="0">
            <a:off x="4690110" y="2487549"/>
            <a:ext cx="765429"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5" name="ktp-to-state-head">
            <a:extLst xmlns:a="http://schemas.openxmlformats.org/drawingml/2006/main">
              <a:ext uri="{FF2B5EF4-FFF2-40B4-BE49-F238E27FC236}">
                <a16:creationId xmlns:a16="http://schemas.microsoft.com/office/drawing/2014/main" id="{274252BF-0C89-4F86-8DC7-3D65BC143D7E}"/>
              </a:ext>
            </a:extLst>
          </p:cNvPr>
          <p:cNvSpPr>
            <a:spLocks xmlns:a="http://schemas.openxmlformats.org/drawingml/2006/main" noGrp="1"/>
          </p:cNvSpPr>
          <p:nvPr/>
        </p:nvSpPr>
        <p:spPr>
          <a:xfrm xmlns:a="http://schemas.openxmlformats.org/drawingml/2006/main" rot="5400000">
            <a:off x="5407914" y="2439924"/>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26" name="signed-state-frame">
            <a:extLst xmlns:a="http://schemas.openxmlformats.org/drawingml/2006/main">
              <a:ext uri="{FF2B5EF4-FFF2-40B4-BE49-F238E27FC236}">
                <a16:creationId xmlns:a16="http://schemas.microsoft.com/office/drawing/2014/main" id="{CF24EDB1-7995-4CB0-92D0-DC9D7BA8819F}"/>
              </a:ext>
            </a:extLst>
          </p:cNvPr>
          <p:cNvSpPr>
            <a:spLocks xmlns:a="http://schemas.openxmlformats.org/drawingml/2006/main" noGrp="1"/>
          </p:cNvSpPr>
          <p:nvPr/>
        </p:nvSpPr>
        <p:spPr>
          <a:xfrm xmlns:a="http://schemas.openxmlformats.org/drawingml/2006/main" rot="0">
            <a:off x="5549265" y="2128266"/>
            <a:ext cx="3436620" cy="718566"/>
          </a:xfrm>
          <a:prstGeom xmlns:a="http://schemas.openxmlformats.org/drawingml/2006/main" prst="roundRect">
            <a:avLst>
              <a:gd name="adj" fmla="val 10604"/>
            </a:avLst>
          </a:prstGeom>
          <a:solidFill xmlns:a="http://schemas.openxmlformats.org/drawingml/2006/main">
            <a:srgbClr val="10151C"/>
          </a:solidFill>
          <a:ln xmlns:a="http://schemas.openxmlformats.org/drawingml/2006/main" w="13335">
            <a:solidFill>
              <a:srgbClr val="40505D"/>
            </a:solidFill>
            <a:prstDash val="solid"/>
          </a:ln>
        </p:spPr>
      </p:sp>
      <p:sp>
        <p:nvSpPr>
          <p:cNvPr id="27" name="signed-state-title">
            <a:extLst xmlns:a="http://schemas.openxmlformats.org/drawingml/2006/main">
              <a:ext uri="{FF2B5EF4-FFF2-40B4-BE49-F238E27FC236}">
                <a16:creationId xmlns:a16="http://schemas.microsoft.com/office/drawing/2014/main" id="{5CF41984-2885-475A-BA09-3755EA3B5DD8}"/>
              </a:ext>
            </a:extLst>
          </p:cNvPr>
          <p:cNvSpPr>
            <a:spLocks xmlns:a="http://schemas.openxmlformats.org/drawingml/2006/main" noGrp="1"/>
          </p:cNvSpPr>
          <p:nvPr/>
        </p:nvSpPr>
        <p:spPr>
          <a:xfrm xmlns:a="http://schemas.openxmlformats.org/drawingml/2006/main" rot="0">
            <a:off x="5625465" y="2204466"/>
            <a:ext cx="328422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Signed, short-lived composite KTP enforcement state</a:t>
            </a:r>
          </a:p>
        </p:txBody>
      </p:sp>
      <p:sp>
        <p:nvSpPr>
          <p:cNvPr id="28" name="signed-state-subtitle">
            <a:extLst xmlns:a="http://schemas.openxmlformats.org/drawingml/2006/main">
              <a:ext uri="{FF2B5EF4-FFF2-40B4-BE49-F238E27FC236}">
                <a16:creationId xmlns:a16="http://schemas.microsoft.com/office/drawing/2014/main" id="{73708FFF-E10C-45E8-82AF-7669A7B6E450}"/>
              </a:ext>
            </a:extLst>
          </p:cNvPr>
          <p:cNvSpPr>
            <a:spLocks xmlns:a="http://schemas.openxmlformats.org/drawingml/2006/main" noGrp="1"/>
          </p:cNvSpPr>
          <p:nvPr/>
        </p:nvSpPr>
        <p:spPr>
          <a:xfrm xmlns:a="http://schemas.openxmlformats.org/drawingml/2006/main" rot="0">
            <a:off x="5625465" y="2423541"/>
            <a:ext cx="3284220" cy="36614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identity × authority class × envelope × expiry</a:t>
            </a:r>
          </a:p>
        </p:txBody>
      </p:sp>
      <p:sp>
        <p:nvSpPr>
          <p:cNvPr id="29" name="state-to-fast-line">
            <a:extLst xmlns:a="http://schemas.openxmlformats.org/drawingml/2006/main">
              <a:ext uri="{FF2B5EF4-FFF2-40B4-BE49-F238E27FC236}">
                <a16:creationId xmlns:a16="http://schemas.microsoft.com/office/drawing/2014/main" id="{144B1FF6-093D-401E-826E-003FC64372F7}"/>
              </a:ext>
            </a:extLst>
          </p:cNvPr>
          <p:cNvSpPr>
            <a:spLocks xmlns:a="http://schemas.openxmlformats.org/drawingml/2006/main" noGrp="1"/>
          </p:cNvSpPr>
          <p:nvPr/>
        </p:nvSpPr>
        <p:spPr>
          <a:xfrm xmlns:a="http://schemas.openxmlformats.org/drawingml/2006/main" flipH="0" flipV="0">
            <a:off x="7267575" y="2846832"/>
            <a:ext cx="0" cy="671703"/>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0" name="state-to-fast-head">
            <a:extLst xmlns:a="http://schemas.openxmlformats.org/drawingml/2006/main">
              <a:ext uri="{FF2B5EF4-FFF2-40B4-BE49-F238E27FC236}">
                <a16:creationId xmlns:a16="http://schemas.microsoft.com/office/drawing/2014/main" id="{9FA2AB10-DA57-418E-B428-C7C5768793F3}"/>
              </a:ext>
            </a:extLst>
          </p:cNvPr>
          <p:cNvSpPr>
            <a:spLocks xmlns:a="http://schemas.openxmlformats.org/drawingml/2006/main" noGrp="1"/>
          </p:cNvSpPr>
          <p:nvPr/>
        </p:nvSpPr>
        <p:spPr>
          <a:xfrm xmlns:a="http://schemas.openxmlformats.org/drawingml/2006/main" rot="10800000">
            <a:off x="7219950" y="3470910"/>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31" name="fast-loop-label">
            <a:extLst xmlns:a="http://schemas.openxmlformats.org/drawingml/2006/main">
              <a:ext uri="{FF2B5EF4-FFF2-40B4-BE49-F238E27FC236}">
                <a16:creationId xmlns:a16="http://schemas.microsoft.com/office/drawing/2014/main" id="{0A7B4C66-07A8-49CF-8892-80BA4773D882}"/>
              </a:ext>
            </a:extLst>
          </p:cNvPr>
          <p:cNvSpPr>
            <a:spLocks xmlns:a="http://schemas.openxmlformats.org/drawingml/2006/main" noGrp="1"/>
          </p:cNvSpPr>
          <p:nvPr/>
        </p:nvSpPr>
        <p:spPr>
          <a:xfrm xmlns:a="http://schemas.openxmlformats.org/drawingml/2006/main" rot="0">
            <a:off x="2542223" y="3315462"/>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INFRASTRUCTURE ENFORCEMENT LOOP — FAST</a:t>
            </a:r>
          </a:p>
        </p:txBody>
      </p:sp>
      <p:sp>
        <p:nvSpPr>
          <p:cNvPr id="32" name="fast-loop-frame">
            <a:extLst xmlns:a="http://schemas.openxmlformats.org/drawingml/2006/main">
              <a:ext uri="{FF2B5EF4-FFF2-40B4-BE49-F238E27FC236}">
                <a16:creationId xmlns:a16="http://schemas.microsoft.com/office/drawing/2014/main" id="{3C80FBF4-65C2-444F-934F-25366348178C}"/>
              </a:ext>
            </a:extLst>
          </p:cNvPr>
          <p:cNvSpPr>
            <a:spLocks xmlns:a="http://schemas.openxmlformats.org/drawingml/2006/main" noGrp="1"/>
          </p:cNvSpPr>
          <p:nvPr/>
        </p:nvSpPr>
        <p:spPr>
          <a:xfrm xmlns:a="http://schemas.openxmlformats.org/drawingml/2006/main" rot="0">
            <a:off x="2542223" y="3674745"/>
            <a:ext cx="7107555" cy="1171575"/>
          </a:xfrm>
          <a:prstGeom xmlns:a="http://schemas.openxmlformats.org/drawingml/2006/main" prst="roundRect">
            <a:avLst>
              <a:gd name="adj" fmla="val 6504"/>
            </a:avLst>
          </a:prstGeom>
          <a:solidFill xmlns:a="http://schemas.openxmlformats.org/drawingml/2006/main">
            <a:srgbClr val="10151C"/>
          </a:solidFill>
          <a:ln xmlns:a="http://schemas.openxmlformats.org/drawingml/2006/main" w="11430">
            <a:solidFill>
              <a:srgbClr val="40505D"/>
            </a:solidFill>
            <a:prstDash val="solid"/>
          </a:ln>
        </p:spPr>
      </p:sp>
      <p:sp>
        <p:nvSpPr>
          <p:cNvPr id="33" name="verify-state-frame">
            <a:extLst xmlns:a="http://schemas.openxmlformats.org/drawingml/2006/main">
              <a:ext uri="{FF2B5EF4-FFF2-40B4-BE49-F238E27FC236}">
                <a16:creationId xmlns:a16="http://schemas.microsoft.com/office/drawing/2014/main" id="{CFD74630-36C9-4DF1-BD94-149E3D5B1A84}"/>
              </a:ext>
            </a:extLst>
          </p:cNvPr>
          <p:cNvSpPr>
            <a:spLocks xmlns:a="http://schemas.openxmlformats.org/drawingml/2006/main" noGrp="1"/>
          </p:cNvSpPr>
          <p:nvPr/>
        </p:nvSpPr>
        <p:spPr>
          <a:xfrm xmlns:a="http://schemas.openxmlformats.org/drawingml/2006/main" rot="0">
            <a:off x="2854643" y="3987165"/>
            <a:ext cx="1718310" cy="546735"/>
          </a:xfrm>
          <a:prstGeom xmlns:a="http://schemas.openxmlformats.org/drawingml/2006/main" prst="roundRect">
            <a:avLst>
              <a:gd name="adj" fmla="val 13937"/>
            </a:avLst>
          </a:prstGeom>
          <a:solidFill xmlns:a="http://schemas.openxmlformats.org/drawingml/2006/main">
            <a:srgbClr val="10151C"/>
          </a:solidFill>
          <a:ln xmlns:a="http://schemas.openxmlformats.org/drawingml/2006/main" w="13335">
            <a:solidFill>
              <a:srgbClr val="40505D"/>
            </a:solidFill>
            <a:prstDash val="solid"/>
          </a:ln>
        </p:spPr>
      </p:sp>
      <p:sp>
        <p:nvSpPr>
          <p:cNvPr id="34" name="verify-state-title">
            <a:extLst xmlns:a="http://schemas.openxmlformats.org/drawingml/2006/main">
              <a:ext uri="{FF2B5EF4-FFF2-40B4-BE49-F238E27FC236}">
                <a16:creationId xmlns:a16="http://schemas.microsoft.com/office/drawing/2014/main" id="{16522A33-0EAD-49D8-B0C4-CD071A34C791}"/>
              </a:ext>
            </a:extLst>
          </p:cNvPr>
          <p:cNvSpPr>
            <a:spLocks xmlns:a="http://schemas.openxmlformats.org/drawingml/2006/main" noGrp="1"/>
          </p:cNvSpPr>
          <p:nvPr/>
        </p:nvSpPr>
        <p:spPr>
          <a:xfrm xmlns:a="http://schemas.openxmlformats.org/drawingml/2006/main" rot="0">
            <a:off x="2930843" y="4063365"/>
            <a:ext cx="15659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Verify state</a:t>
            </a:r>
          </a:p>
        </p:txBody>
      </p:sp>
      <p:sp>
        <p:nvSpPr>
          <p:cNvPr id="35" name="verify-state-subtitle">
            <a:extLst xmlns:a="http://schemas.openxmlformats.org/drawingml/2006/main">
              <a:ext uri="{FF2B5EF4-FFF2-40B4-BE49-F238E27FC236}">
                <a16:creationId xmlns:a16="http://schemas.microsoft.com/office/drawing/2014/main" id="{CCE21090-5EB0-4F26-8D1E-927269DF262F}"/>
              </a:ext>
            </a:extLst>
          </p:cNvPr>
          <p:cNvSpPr>
            <a:spLocks xmlns:a="http://schemas.openxmlformats.org/drawingml/2006/main" noGrp="1"/>
          </p:cNvSpPr>
          <p:nvPr/>
        </p:nvSpPr>
        <p:spPr>
          <a:xfrm xmlns:a="http://schemas.openxmlformats.org/drawingml/2006/main" rot="0">
            <a:off x="2930843" y="4282440"/>
            <a:ext cx="1565910" cy="194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signature · freshness · veto</a:t>
            </a:r>
          </a:p>
        </p:txBody>
      </p:sp>
      <p:sp>
        <p:nvSpPr>
          <p:cNvPr id="36" name="verify-to-overlay-line">
            <a:extLst xmlns:a="http://schemas.openxmlformats.org/drawingml/2006/main">
              <a:ext uri="{FF2B5EF4-FFF2-40B4-BE49-F238E27FC236}">
                <a16:creationId xmlns:a16="http://schemas.microsoft.com/office/drawing/2014/main" id="{85A5E679-1AD3-43E9-9DBE-B91C7F540C85}"/>
              </a:ext>
            </a:extLst>
          </p:cNvPr>
          <p:cNvSpPr>
            <a:spLocks xmlns:a="http://schemas.openxmlformats.org/drawingml/2006/main" noGrp="1"/>
          </p:cNvSpPr>
          <p:nvPr/>
        </p:nvSpPr>
        <p:spPr>
          <a:xfrm xmlns:a="http://schemas.openxmlformats.org/drawingml/2006/main" flipH="0" flipV="0">
            <a:off x="4572953" y="4260533"/>
            <a:ext cx="781050"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7" name="verify-to-overlay-head">
            <a:extLst xmlns:a="http://schemas.openxmlformats.org/drawingml/2006/main">
              <a:ext uri="{FF2B5EF4-FFF2-40B4-BE49-F238E27FC236}">
                <a16:creationId xmlns:a16="http://schemas.microsoft.com/office/drawing/2014/main" id="{9D36F45D-DA9F-48DC-9EBE-F179E37A212D}"/>
              </a:ext>
            </a:extLst>
          </p:cNvPr>
          <p:cNvSpPr>
            <a:spLocks xmlns:a="http://schemas.openxmlformats.org/drawingml/2006/main" noGrp="1"/>
          </p:cNvSpPr>
          <p:nvPr/>
        </p:nvSpPr>
        <p:spPr>
          <a:xfrm xmlns:a="http://schemas.openxmlformats.org/drawingml/2006/main" rot="5400000">
            <a:off x="5306378" y="4212908"/>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38" name="local-overlay-frame">
            <a:extLst xmlns:a="http://schemas.openxmlformats.org/drawingml/2006/main">
              <a:ext uri="{FF2B5EF4-FFF2-40B4-BE49-F238E27FC236}">
                <a16:creationId xmlns:a16="http://schemas.microsoft.com/office/drawing/2014/main" id="{50AE6D1F-C56F-4D0F-A387-2A487844827C}"/>
              </a:ext>
            </a:extLst>
          </p:cNvPr>
          <p:cNvSpPr>
            <a:spLocks xmlns:a="http://schemas.openxmlformats.org/drawingml/2006/main" noGrp="1"/>
          </p:cNvSpPr>
          <p:nvPr/>
        </p:nvSpPr>
        <p:spPr>
          <a:xfrm xmlns:a="http://schemas.openxmlformats.org/drawingml/2006/main" rot="0">
            <a:off x="5471160" y="3893439"/>
            <a:ext cx="2030730" cy="734187"/>
          </a:xfrm>
          <a:prstGeom xmlns:a="http://schemas.openxmlformats.org/drawingml/2006/main" prst="roundRect">
            <a:avLst>
              <a:gd name="adj" fmla="val 10379"/>
            </a:avLst>
          </a:prstGeom>
          <a:solidFill xmlns:a="http://schemas.openxmlformats.org/drawingml/2006/main">
            <a:srgbClr val="10151C"/>
          </a:solidFill>
          <a:ln xmlns:a="http://schemas.openxmlformats.org/drawingml/2006/main" w="13335">
            <a:solidFill>
              <a:srgbClr val="40505D"/>
            </a:solidFill>
            <a:prstDash val="solid"/>
          </a:ln>
        </p:spPr>
      </p:sp>
      <p:sp>
        <p:nvSpPr>
          <p:cNvPr id="39" name="local-overlay-title">
            <a:extLst xmlns:a="http://schemas.openxmlformats.org/drawingml/2006/main">
              <a:ext uri="{FF2B5EF4-FFF2-40B4-BE49-F238E27FC236}">
                <a16:creationId xmlns:a16="http://schemas.microsoft.com/office/drawing/2014/main" id="{5D42D2DB-EA98-4809-A8A6-91B0D2212CA7}"/>
              </a:ext>
            </a:extLst>
          </p:cNvPr>
          <p:cNvSpPr>
            <a:spLocks xmlns:a="http://schemas.openxmlformats.org/drawingml/2006/main" noGrp="1"/>
          </p:cNvSpPr>
          <p:nvPr/>
        </p:nvSpPr>
        <p:spPr>
          <a:xfrm xmlns:a="http://schemas.openxmlformats.org/drawingml/2006/main" rot="0">
            <a:off x="5547360" y="3969639"/>
            <a:ext cx="18783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Reducing-only local overlay</a:t>
            </a:r>
          </a:p>
        </p:txBody>
      </p:sp>
      <p:sp>
        <p:nvSpPr>
          <p:cNvPr id="40" name="local-overlay-subtitle">
            <a:extLst xmlns:a="http://schemas.openxmlformats.org/drawingml/2006/main">
              <a:ext uri="{FF2B5EF4-FFF2-40B4-BE49-F238E27FC236}">
                <a16:creationId xmlns:a16="http://schemas.microsoft.com/office/drawing/2014/main" id="{CEBFB2F8-8517-4504-91FE-8CA1746C178A}"/>
              </a:ext>
            </a:extLst>
          </p:cNvPr>
          <p:cNvSpPr>
            <a:spLocks xmlns:a="http://schemas.openxmlformats.org/drawingml/2006/main" noGrp="1"/>
          </p:cNvSpPr>
          <p:nvPr/>
        </p:nvSpPr>
        <p:spPr>
          <a:xfrm xmlns:a="http://schemas.openxmlformats.org/drawingml/2006/main" rot="0">
            <a:off x="5547360" y="4188714"/>
            <a:ext cx="1878330" cy="3817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fresh evidence can clamp ↓</a:t>
            </a:r>
          </a:p>
        </p:txBody>
      </p:sp>
      <p:sp>
        <p:nvSpPr>
          <p:cNvPr id="41" name="overlay-to-enforce-line">
            <a:extLst xmlns:a="http://schemas.openxmlformats.org/drawingml/2006/main">
              <a:ext uri="{FF2B5EF4-FFF2-40B4-BE49-F238E27FC236}">
                <a16:creationId xmlns:a16="http://schemas.microsoft.com/office/drawing/2014/main" id="{9FBE88F3-1AA9-4D84-9666-F6860E78400C}"/>
              </a:ext>
            </a:extLst>
          </p:cNvPr>
          <p:cNvSpPr>
            <a:spLocks xmlns:a="http://schemas.openxmlformats.org/drawingml/2006/main" noGrp="1"/>
          </p:cNvSpPr>
          <p:nvPr/>
        </p:nvSpPr>
        <p:spPr>
          <a:xfrm xmlns:a="http://schemas.openxmlformats.org/drawingml/2006/main" flipH="0" flipV="0">
            <a:off x="7501890" y="4260533"/>
            <a:ext cx="85915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42" name="overlay-to-enforce-head">
            <a:extLst xmlns:a="http://schemas.openxmlformats.org/drawingml/2006/main">
              <a:ext uri="{FF2B5EF4-FFF2-40B4-BE49-F238E27FC236}">
                <a16:creationId xmlns:a16="http://schemas.microsoft.com/office/drawing/2014/main" id="{4A7D453B-221F-4CDB-AA7E-1B11F77CA006}"/>
              </a:ext>
            </a:extLst>
          </p:cNvPr>
          <p:cNvSpPr>
            <a:spLocks xmlns:a="http://schemas.openxmlformats.org/drawingml/2006/main" noGrp="1"/>
          </p:cNvSpPr>
          <p:nvPr/>
        </p:nvSpPr>
        <p:spPr>
          <a:xfrm xmlns:a="http://schemas.openxmlformats.org/drawingml/2006/main" rot="5400000">
            <a:off x="8313420" y="4212908"/>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43" name="enforce-node-frame">
            <a:extLst xmlns:a="http://schemas.openxmlformats.org/drawingml/2006/main">
              <a:ext uri="{FF2B5EF4-FFF2-40B4-BE49-F238E27FC236}">
                <a16:creationId xmlns:a16="http://schemas.microsoft.com/office/drawing/2014/main" id="{468B0D69-74D0-43B6-B06B-0CF82D4E5A3F}"/>
              </a:ext>
            </a:extLst>
          </p:cNvPr>
          <p:cNvSpPr>
            <a:spLocks xmlns:a="http://schemas.openxmlformats.org/drawingml/2006/main" noGrp="1"/>
          </p:cNvSpPr>
          <p:nvPr/>
        </p:nvSpPr>
        <p:spPr>
          <a:xfrm xmlns:a="http://schemas.openxmlformats.org/drawingml/2006/main" rot="0">
            <a:off x="8439150" y="3987165"/>
            <a:ext cx="898208" cy="546735"/>
          </a:xfrm>
          <a:prstGeom xmlns:a="http://schemas.openxmlformats.org/drawingml/2006/main" prst="roundRect">
            <a:avLst>
              <a:gd name="adj" fmla="val 13937"/>
            </a:avLst>
          </a:prstGeom>
          <a:solidFill xmlns:a="http://schemas.openxmlformats.org/drawingml/2006/main">
            <a:srgbClr val="10151C"/>
          </a:solidFill>
          <a:ln xmlns:a="http://schemas.openxmlformats.org/drawingml/2006/main" w="13335">
            <a:solidFill>
              <a:srgbClr val="40505D"/>
            </a:solidFill>
            <a:prstDash val="solid"/>
          </a:ln>
        </p:spPr>
      </p:sp>
      <p:sp>
        <p:nvSpPr>
          <p:cNvPr id="44" name="enforce-node-title">
            <a:extLst xmlns:a="http://schemas.openxmlformats.org/drawingml/2006/main">
              <a:ext uri="{FF2B5EF4-FFF2-40B4-BE49-F238E27FC236}">
                <a16:creationId xmlns:a16="http://schemas.microsoft.com/office/drawing/2014/main" id="{C91C3654-46D5-4229-81FD-4CF48AAAAAFF}"/>
              </a:ext>
            </a:extLst>
          </p:cNvPr>
          <p:cNvSpPr>
            <a:spLocks xmlns:a="http://schemas.openxmlformats.org/drawingml/2006/main" noGrp="1"/>
          </p:cNvSpPr>
          <p:nvPr/>
        </p:nvSpPr>
        <p:spPr>
          <a:xfrm xmlns:a="http://schemas.openxmlformats.org/drawingml/2006/main" rot="0">
            <a:off x="8515350" y="4063365"/>
            <a:ext cx="74580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Enforce</a:t>
            </a:r>
          </a:p>
        </p:txBody>
      </p:sp>
      <p:sp>
        <p:nvSpPr>
          <p:cNvPr id="45" name="enforce-node-subtitle">
            <a:extLst xmlns:a="http://schemas.openxmlformats.org/drawingml/2006/main">
              <a:ext uri="{FF2B5EF4-FFF2-40B4-BE49-F238E27FC236}">
                <a16:creationId xmlns:a16="http://schemas.microsoft.com/office/drawing/2014/main" id="{B71F04A3-E0D5-48A2-A12B-572366C1487E}"/>
              </a:ext>
            </a:extLst>
          </p:cNvPr>
          <p:cNvSpPr>
            <a:spLocks xmlns:a="http://schemas.openxmlformats.org/drawingml/2006/main" noGrp="1"/>
          </p:cNvSpPr>
          <p:nvPr/>
        </p:nvSpPr>
        <p:spPr>
          <a:xfrm xmlns:a="http://schemas.openxmlformats.org/drawingml/2006/main" rot="0">
            <a:off x="8515350" y="4282440"/>
            <a:ext cx="745808" cy="194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now</a:t>
            </a:r>
          </a:p>
        </p:txBody>
      </p:sp>
      <p:sp>
        <p:nvSpPr>
          <p:cNvPr id="46" name="non-expansion-invariant">
            <a:extLst xmlns:a="http://schemas.openxmlformats.org/drawingml/2006/main">
              <a:ext uri="{FF2B5EF4-FFF2-40B4-BE49-F238E27FC236}">
                <a16:creationId xmlns:a16="http://schemas.microsoft.com/office/drawing/2014/main" id="{71C95E23-4E75-4736-BE56-1E7830D0898D}"/>
              </a:ext>
            </a:extLst>
          </p:cNvPr>
          <p:cNvSpPr>
            <a:spLocks xmlns:a="http://schemas.openxmlformats.org/drawingml/2006/main" noGrp="1"/>
          </p:cNvSpPr>
          <p:nvPr/>
        </p:nvSpPr>
        <p:spPr>
          <a:xfrm xmlns:a="http://schemas.openxmlformats.org/drawingml/2006/main" rot="0">
            <a:off x="3245168" y="4979099"/>
            <a:ext cx="5701665"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Invariant: local evidence cannot create authority, widen the envelope, or clear a KTP veto.</a:t>
            </a:r>
          </a:p>
        </p:txBody>
      </p:sp>
    </p:spTree>
    <p:extLst>
      <p:ext uri="{BB962C8B-B14F-4D97-AF65-F5344CB8AC3E}">
        <p14:creationId xmlns:p14="http://schemas.microsoft.com/office/powerpoint/2010/main" val="1895615808"/>
      </p:ext>
    </p:extLst>
  </p:cSld>
</p:sld>
</file>

<file path=ppt/slides/slide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8" name="header-eyebrow">
            <a:extLst xmlns:a="http://schemas.openxmlformats.org/drawingml/2006/main">
              <a:ext uri="{FF2B5EF4-FFF2-40B4-BE49-F238E27FC236}">
                <a16:creationId xmlns:a16="http://schemas.microsoft.com/office/drawing/2014/main" id="{6831025B-D11D-4892-B4C5-D794342CCA66}"/>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AD5886C0-B450-4B26-B952-9F0392E28050}"/>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Proposed mechanism · modeled parameters   Primer P4 of P4   Waiting for presenter</a:t>
            </a:r>
          </a:p>
        </p:txBody>
      </p:sp>
      <p:sp>
        <p:nvSpPr>
          <p:cNvPr id="3" name="scene-title">
            <a:extLst xmlns:a="http://schemas.openxmlformats.org/drawingml/2006/main">
              <a:ext uri="{FF2B5EF4-FFF2-40B4-BE49-F238E27FC236}">
                <a16:creationId xmlns:a16="http://schemas.microsoft.com/office/drawing/2014/main" id="{29C34FF2-FE35-4DAB-A2F3-F60B0D4EF4EF}"/>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Why kinetic authority works</a:t>
            </a:r>
          </a:p>
        </p:txBody>
      </p:sp>
      <p:sp>
        <p:nvSpPr>
          <p:cNvPr id="4" name="nav-act-primer">
            <a:extLst xmlns:a="http://schemas.openxmlformats.org/drawingml/2006/main">
              <a:ext uri="{FF2B5EF4-FFF2-40B4-BE49-F238E27FC236}">
                <a16:creationId xmlns:a16="http://schemas.microsoft.com/office/drawing/2014/main" id="{C4F7DBB3-0714-4968-B69F-E043CF4A928A}"/>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5" name="nav-act-primer-label">
            <a:extLst xmlns:a="http://schemas.openxmlformats.org/drawingml/2006/main">
              <a:ext uri="{FF2B5EF4-FFF2-40B4-BE49-F238E27FC236}">
                <a16:creationId xmlns:a16="http://schemas.microsoft.com/office/drawing/2014/main" id="{0C8F4213-6313-4EA2-B522-3F4C0FDEE924}"/>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KIL primer</a:t>
            </a:r>
          </a:p>
        </p:txBody>
      </p:sp>
      <p:sp>
        <p:nvSpPr>
          <p:cNvPr id="6" name="nav-act-case">
            <a:extLst xmlns:a="http://schemas.openxmlformats.org/drawingml/2006/main">
              <a:ext uri="{FF2B5EF4-FFF2-40B4-BE49-F238E27FC236}">
                <a16:creationId xmlns:a16="http://schemas.microsoft.com/office/drawing/2014/main" id="{011935B8-BA48-4A0D-A4D3-DF934E43C7B6}"/>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7" name="nav-act-case-label">
            <a:extLst xmlns:a="http://schemas.openxmlformats.org/drawingml/2006/main">
              <a:ext uri="{FF2B5EF4-FFF2-40B4-BE49-F238E27FC236}">
                <a16:creationId xmlns:a16="http://schemas.microsoft.com/office/drawing/2014/main" id="{0B795F53-CCE8-4DD2-8DCA-CDA674CB4F3F}"/>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Hugging Face case study</a:t>
            </a:r>
          </a:p>
        </p:txBody>
      </p:sp>
      <p:sp>
        <p:nvSpPr>
          <p:cNvPr id="8" name="nav-scene-1">
            <a:extLst xmlns:a="http://schemas.openxmlformats.org/drawingml/2006/main">
              <a:ext uri="{FF2B5EF4-FFF2-40B4-BE49-F238E27FC236}">
                <a16:creationId xmlns:a16="http://schemas.microsoft.com/office/drawing/2014/main" id="{930B8FB7-B6B1-4C7B-AD3D-02B3A84DEE69}"/>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96247B5A-60F3-40ED-A745-F4CC34BA8141}"/>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P1</a:t>
            </a:r>
          </a:p>
        </p:txBody>
      </p:sp>
      <p:sp>
        <p:nvSpPr>
          <p:cNvPr id="10" name="nav-scene-2">
            <a:extLst xmlns:a="http://schemas.openxmlformats.org/drawingml/2006/main">
              <a:ext uri="{FF2B5EF4-FFF2-40B4-BE49-F238E27FC236}">
                <a16:creationId xmlns:a16="http://schemas.microsoft.com/office/drawing/2014/main" id="{1866D927-1705-4B7C-B467-3F60B6D41C7E}"/>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3691F2BD-12AC-4A88-BAD4-7B1552383D3D}"/>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P2</a:t>
            </a:r>
          </a:p>
        </p:txBody>
      </p:sp>
      <p:sp>
        <p:nvSpPr>
          <p:cNvPr id="12" name="nav-scene-3">
            <a:extLst xmlns:a="http://schemas.openxmlformats.org/drawingml/2006/main">
              <a:ext uri="{FF2B5EF4-FFF2-40B4-BE49-F238E27FC236}">
                <a16:creationId xmlns:a16="http://schemas.microsoft.com/office/drawing/2014/main" id="{3FE5A30A-F23E-4C95-A7FF-D08B86AF4663}"/>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AF06D8FF-8064-45FE-BD3F-31B595E2916A}"/>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P3</a:t>
            </a:r>
          </a:p>
        </p:txBody>
      </p:sp>
      <p:sp>
        <p:nvSpPr>
          <p:cNvPr id="14" name="nav-scene-4">
            <a:extLst xmlns:a="http://schemas.openxmlformats.org/drawingml/2006/main">
              <a:ext uri="{FF2B5EF4-FFF2-40B4-BE49-F238E27FC236}">
                <a16:creationId xmlns:a16="http://schemas.microsoft.com/office/drawing/2014/main" id="{5ADBA714-CF35-4372-AD1B-38A52123C3C4}"/>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5" name="nav-scene-4-label">
            <a:extLst xmlns:a="http://schemas.openxmlformats.org/drawingml/2006/main">
              <a:ext uri="{FF2B5EF4-FFF2-40B4-BE49-F238E27FC236}">
                <a16:creationId xmlns:a16="http://schemas.microsoft.com/office/drawing/2014/main" id="{6A92867D-3E47-4865-B6C5-40594F40A93A}"/>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P4</a:t>
            </a:r>
          </a:p>
        </p:txBody>
      </p:sp>
      <p:sp>
        <p:nvSpPr>
          <p:cNvPr id="16" name="diagram-field">
            <a:extLst xmlns:a="http://schemas.openxmlformats.org/drawingml/2006/main">
              <a:ext uri="{FF2B5EF4-FFF2-40B4-BE49-F238E27FC236}">
                <a16:creationId xmlns:a16="http://schemas.microsoft.com/office/drawing/2014/main" id="{61CD0770-5D87-4001-A533-CD051BA8BD18}"/>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17" name="takeaway">
            <a:extLst xmlns:a="http://schemas.openxmlformats.org/drawingml/2006/main">
              <a:ext uri="{FF2B5EF4-FFF2-40B4-BE49-F238E27FC236}">
                <a16:creationId xmlns:a16="http://schemas.microsoft.com/office/drawing/2014/main" id="{7D31DDA4-228E-4688-8D90-3BAE9557209D}"/>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Authority is earned slowly, remains class-bound, decays, and can be lost quickly.</a:t>
            </a:r>
          </a:p>
        </p:txBody>
      </p:sp>
      <p:sp>
        <p:nvSpPr>
          <p:cNvPr id="18" name="source-rail">
            <a:extLst xmlns:a="http://schemas.openxmlformats.org/drawingml/2006/main">
              <a:ext uri="{FF2B5EF4-FFF2-40B4-BE49-F238E27FC236}">
                <a16:creationId xmlns:a16="http://schemas.microsoft.com/office/drawing/2014/main" id="{59F39D35-2D28-437B-8938-A88C6F4E46C2}"/>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19" name="diagram-label">
            <a:extLst xmlns:a="http://schemas.openxmlformats.org/drawingml/2006/main">
              <a:ext uri="{FF2B5EF4-FFF2-40B4-BE49-F238E27FC236}">
                <a16:creationId xmlns:a16="http://schemas.microsoft.com/office/drawing/2014/main" id="{211E0DBA-69D4-46B2-8C20-EA76A2467F6B}"/>
              </a:ext>
            </a:extLst>
          </p:cNvPr>
          <p:cNvSpPr>
            <a:spLocks xmlns:a="http://schemas.openxmlformats.org/drawingml/2006/main" noGrp="1"/>
          </p:cNvSpPr>
          <p:nvPr/>
        </p:nvSpPr>
        <p:spPr>
          <a:xfrm xmlns:a="http://schemas.openxmlformats.org/drawingml/2006/main" rot="0">
            <a:off x="2542223" y="1628394"/>
            <a:ext cx="374904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ASYMMETRIC AUTHORITY DYNAMICS</a:t>
            </a:r>
          </a:p>
        </p:txBody>
      </p:sp>
      <p:sp>
        <p:nvSpPr>
          <p:cNvPr id="20" name="x-axis">
            <a:extLst xmlns:a="http://schemas.openxmlformats.org/drawingml/2006/main">
              <a:ext uri="{FF2B5EF4-FFF2-40B4-BE49-F238E27FC236}">
                <a16:creationId xmlns:a16="http://schemas.microsoft.com/office/drawing/2014/main" id="{EDE79C63-CFEA-4976-AFC6-3B6BA47770C6}"/>
              </a:ext>
            </a:extLst>
          </p:cNvPr>
          <p:cNvSpPr>
            <a:spLocks xmlns:a="http://schemas.openxmlformats.org/drawingml/2006/main" noGrp="1"/>
          </p:cNvSpPr>
          <p:nvPr/>
        </p:nvSpPr>
        <p:spPr>
          <a:xfrm xmlns:a="http://schemas.openxmlformats.org/drawingml/2006/main" flipH="0" flipV="0">
            <a:off x="2893695" y="4455795"/>
            <a:ext cx="6560820" cy="0"/>
          </a:xfrm>
          <a:prstGeom xmlns:a="http://schemas.openxmlformats.org/drawingml/2006/main" prst="line">
            <a:avLst/>
          </a:prstGeom>
          <a:noFill xmlns:a="http://schemas.openxmlformats.org/drawingml/2006/main"/>
          <a:ln xmlns:a="http://schemas.openxmlformats.org/drawingml/2006/main" w="19050">
            <a:solidFill>
              <a:srgbClr val="40505D"/>
            </a:solidFill>
            <a:prstDash val="solid"/>
          </a:ln>
        </p:spPr>
      </p:sp>
      <p:sp>
        <p:nvSpPr>
          <p:cNvPr id="21" name="y-axis">
            <a:extLst xmlns:a="http://schemas.openxmlformats.org/drawingml/2006/main">
              <a:ext uri="{FF2B5EF4-FFF2-40B4-BE49-F238E27FC236}">
                <a16:creationId xmlns:a16="http://schemas.microsoft.com/office/drawing/2014/main" id="{CEF40FED-B489-4E8C-9719-B5385B913827}"/>
              </a:ext>
            </a:extLst>
          </p:cNvPr>
          <p:cNvSpPr>
            <a:spLocks xmlns:a="http://schemas.openxmlformats.org/drawingml/2006/main" noGrp="1"/>
          </p:cNvSpPr>
          <p:nvPr/>
        </p:nvSpPr>
        <p:spPr>
          <a:xfrm xmlns:a="http://schemas.openxmlformats.org/drawingml/2006/main" flipH="0" flipV="0">
            <a:off x="2893695" y="2151698"/>
            <a:ext cx="0" cy="2304098"/>
          </a:xfrm>
          <a:prstGeom xmlns:a="http://schemas.openxmlformats.org/drawingml/2006/main" prst="line">
            <a:avLst/>
          </a:prstGeom>
          <a:noFill xmlns:a="http://schemas.openxmlformats.org/drawingml/2006/main"/>
          <a:ln xmlns:a="http://schemas.openxmlformats.org/drawingml/2006/main" w="19050">
            <a:solidFill>
              <a:srgbClr val="40505D"/>
            </a:solidFill>
            <a:prstDash val="solid"/>
          </a:ln>
        </p:spPr>
      </p:sp>
      <p:sp>
        <p:nvSpPr>
          <p:cNvPr id="22" name="slow-ascent-01">
            <a:extLst xmlns:a="http://schemas.openxmlformats.org/drawingml/2006/main">
              <a:ext uri="{FF2B5EF4-FFF2-40B4-BE49-F238E27FC236}">
                <a16:creationId xmlns:a16="http://schemas.microsoft.com/office/drawing/2014/main" id="{79A262CB-2AC1-4C8D-9602-E993FD5472A2}"/>
              </a:ext>
            </a:extLst>
          </p:cNvPr>
          <p:cNvSpPr>
            <a:spLocks xmlns:a="http://schemas.openxmlformats.org/drawingml/2006/main" noGrp="1"/>
          </p:cNvSpPr>
          <p:nvPr/>
        </p:nvSpPr>
        <p:spPr>
          <a:xfrm xmlns:a="http://schemas.openxmlformats.org/drawingml/2006/main" flipH="0" flipV="0">
            <a:off x="2893695" y="4455795"/>
            <a:ext cx="54673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3" name="slow-ascent-02">
            <a:extLst xmlns:a="http://schemas.openxmlformats.org/drawingml/2006/main">
              <a:ext uri="{FF2B5EF4-FFF2-40B4-BE49-F238E27FC236}">
                <a16:creationId xmlns:a16="http://schemas.microsoft.com/office/drawing/2014/main" id="{A6AE5ADF-F216-45F2-A604-C1D8486D2683}"/>
              </a:ext>
            </a:extLst>
          </p:cNvPr>
          <p:cNvSpPr>
            <a:spLocks xmlns:a="http://schemas.openxmlformats.org/drawingml/2006/main" noGrp="1"/>
          </p:cNvSpPr>
          <p:nvPr/>
        </p:nvSpPr>
        <p:spPr>
          <a:xfrm xmlns:a="http://schemas.openxmlformats.org/drawingml/2006/main" flipH="0" flipV="1">
            <a:off x="3440430" y="4182427"/>
            <a:ext cx="0" cy="273368"/>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4" name="slow-ascent-03">
            <a:extLst xmlns:a="http://schemas.openxmlformats.org/drawingml/2006/main">
              <a:ext uri="{FF2B5EF4-FFF2-40B4-BE49-F238E27FC236}">
                <a16:creationId xmlns:a16="http://schemas.microsoft.com/office/drawing/2014/main" id="{0D270FA0-64E0-4B93-9E63-1D213958063F}"/>
              </a:ext>
            </a:extLst>
          </p:cNvPr>
          <p:cNvSpPr>
            <a:spLocks xmlns:a="http://schemas.openxmlformats.org/drawingml/2006/main" noGrp="1"/>
          </p:cNvSpPr>
          <p:nvPr/>
        </p:nvSpPr>
        <p:spPr>
          <a:xfrm xmlns:a="http://schemas.openxmlformats.org/drawingml/2006/main" flipH="0" flipV="0">
            <a:off x="3440430" y="4182427"/>
            <a:ext cx="54673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5" name="slow-ascent-04">
            <a:extLst xmlns:a="http://schemas.openxmlformats.org/drawingml/2006/main">
              <a:ext uri="{FF2B5EF4-FFF2-40B4-BE49-F238E27FC236}">
                <a16:creationId xmlns:a16="http://schemas.microsoft.com/office/drawing/2014/main" id="{1AC92EE6-53D7-428B-B524-C59AD38800ED}"/>
              </a:ext>
            </a:extLst>
          </p:cNvPr>
          <p:cNvSpPr>
            <a:spLocks xmlns:a="http://schemas.openxmlformats.org/drawingml/2006/main" noGrp="1"/>
          </p:cNvSpPr>
          <p:nvPr/>
        </p:nvSpPr>
        <p:spPr>
          <a:xfrm xmlns:a="http://schemas.openxmlformats.org/drawingml/2006/main" flipH="0" flipV="1">
            <a:off x="3987165" y="3909060"/>
            <a:ext cx="0" cy="273367"/>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6" name="slow-ascent-05">
            <a:extLst xmlns:a="http://schemas.openxmlformats.org/drawingml/2006/main">
              <a:ext uri="{FF2B5EF4-FFF2-40B4-BE49-F238E27FC236}">
                <a16:creationId xmlns:a16="http://schemas.microsoft.com/office/drawing/2014/main" id="{81AAF835-9B5B-4EF0-820E-0A6327307760}"/>
              </a:ext>
            </a:extLst>
          </p:cNvPr>
          <p:cNvSpPr>
            <a:spLocks xmlns:a="http://schemas.openxmlformats.org/drawingml/2006/main" noGrp="1"/>
          </p:cNvSpPr>
          <p:nvPr/>
        </p:nvSpPr>
        <p:spPr>
          <a:xfrm xmlns:a="http://schemas.openxmlformats.org/drawingml/2006/main" flipH="0" flipV="0">
            <a:off x="3987165" y="3909060"/>
            <a:ext cx="54673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7" name="slow-ascent-06">
            <a:extLst xmlns:a="http://schemas.openxmlformats.org/drawingml/2006/main">
              <a:ext uri="{FF2B5EF4-FFF2-40B4-BE49-F238E27FC236}">
                <a16:creationId xmlns:a16="http://schemas.microsoft.com/office/drawing/2014/main" id="{E7C3A098-6CDF-423C-9B51-C405DFFADB4E}"/>
              </a:ext>
            </a:extLst>
          </p:cNvPr>
          <p:cNvSpPr>
            <a:spLocks xmlns:a="http://schemas.openxmlformats.org/drawingml/2006/main" noGrp="1"/>
          </p:cNvSpPr>
          <p:nvPr/>
        </p:nvSpPr>
        <p:spPr>
          <a:xfrm xmlns:a="http://schemas.openxmlformats.org/drawingml/2006/main" flipH="0" flipV="1">
            <a:off x="4533900" y="3635693"/>
            <a:ext cx="0" cy="273367"/>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8" name="slow-ascent-07">
            <a:extLst xmlns:a="http://schemas.openxmlformats.org/drawingml/2006/main">
              <a:ext uri="{FF2B5EF4-FFF2-40B4-BE49-F238E27FC236}">
                <a16:creationId xmlns:a16="http://schemas.microsoft.com/office/drawing/2014/main" id="{3F5ABC21-C286-4EAD-91D4-98F422556D29}"/>
              </a:ext>
            </a:extLst>
          </p:cNvPr>
          <p:cNvSpPr>
            <a:spLocks xmlns:a="http://schemas.openxmlformats.org/drawingml/2006/main" noGrp="1"/>
          </p:cNvSpPr>
          <p:nvPr/>
        </p:nvSpPr>
        <p:spPr>
          <a:xfrm xmlns:a="http://schemas.openxmlformats.org/drawingml/2006/main" flipH="0" flipV="0">
            <a:off x="4533900" y="3635693"/>
            <a:ext cx="54673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9" name="slow-ascent-08">
            <a:extLst xmlns:a="http://schemas.openxmlformats.org/drawingml/2006/main">
              <a:ext uri="{FF2B5EF4-FFF2-40B4-BE49-F238E27FC236}">
                <a16:creationId xmlns:a16="http://schemas.microsoft.com/office/drawing/2014/main" id="{1FB5B52D-936B-45F9-9C25-D5DE8C26A332}"/>
              </a:ext>
            </a:extLst>
          </p:cNvPr>
          <p:cNvSpPr>
            <a:spLocks xmlns:a="http://schemas.openxmlformats.org/drawingml/2006/main" noGrp="1"/>
          </p:cNvSpPr>
          <p:nvPr/>
        </p:nvSpPr>
        <p:spPr>
          <a:xfrm xmlns:a="http://schemas.openxmlformats.org/drawingml/2006/main" flipH="0" flipV="1">
            <a:off x="5080635" y="3362325"/>
            <a:ext cx="0" cy="273367"/>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0" name="slow-ascent-09">
            <a:extLst xmlns:a="http://schemas.openxmlformats.org/drawingml/2006/main">
              <a:ext uri="{FF2B5EF4-FFF2-40B4-BE49-F238E27FC236}">
                <a16:creationId xmlns:a16="http://schemas.microsoft.com/office/drawing/2014/main" id="{3727DF14-B6A3-44AE-9476-F03BD3DEFCB8}"/>
              </a:ext>
            </a:extLst>
          </p:cNvPr>
          <p:cNvSpPr>
            <a:spLocks xmlns:a="http://schemas.openxmlformats.org/drawingml/2006/main" noGrp="1"/>
          </p:cNvSpPr>
          <p:nvPr/>
        </p:nvSpPr>
        <p:spPr>
          <a:xfrm xmlns:a="http://schemas.openxmlformats.org/drawingml/2006/main" flipH="0" flipV="0">
            <a:off x="5080635" y="3362325"/>
            <a:ext cx="54673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1" name="slow-ascent-10">
            <a:extLst xmlns:a="http://schemas.openxmlformats.org/drawingml/2006/main">
              <a:ext uri="{FF2B5EF4-FFF2-40B4-BE49-F238E27FC236}">
                <a16:creationId xmlns:a16="http://schemas.microsoft.com/office/drawing/2014/main" id="{60289222-1186-42BF-9D3D-5E6EAB47EFAD}"/>
              </a:ext>
            </a:extLst>
          </p:cNvPr>
          <p:cNvSpPr>
            <a:spLocks xmlns:a="http://schemas.openxmlformats.org/drawingml/2006/main" noGrp="1"/>
          </p:cNvSpPr>
          <p:nvPr/>
        </p:nvSpPr>
        <p:spPr>
          <a:xfrm xmlns:a="http://schemas.openxmlformats.org/drawingml/2006/main" flipH="0" flipV="1">
            <a:off x="5627370" y="3088958"/>
            <a:ext cx="0" cy="273367"/>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2" name="passive-decay-01">
            <a:extLst xmlns:a="http://schemas.openxmlformats.org/drawingml/2006/main">
              <a:ext uri="{FF2B5EF4-FFF2-40B4-BE49-F238E27FC236}">
                <a16:creationId xmlns:a16="http://schemas.microsoft.com/office/drawing/2014/main" id="{BAA9DCF5-CFC0-465E-971F-1DA564014E82}"/>
              </a:ext>
            </a:extLst>
          </p:cNvPr>
          <p:cNvSpPr>
            <a:spLocks xmlns:a="http://schemas.openxmlformats.org/drawingml/2006/main" noGrp="1"/>
          </p:cNvSpPr>
          <p:nvPr/>
        </p:nvSpPr>
        <p:spPr>
          <a:xfrm xmlns:a="http://schemas.openxmlformats.org/drawingml/2006/main" flipH="0" flipV="0">
            <a:off x="5627370" y="3088958"/>
            <a:ext cx="468630" cy="54673"/>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3" name="passive-decay-02">
            <a:extLst xmlns:a="http://schemas.openxmlformats.org/drawingml/2006/main">
              <a:ext uri="{FF2B5EF4-FFF2-40B4-BE49-F238E27FC236}">
                <a16:creationId xmlns:a16="http://schemas.microsoft.com/office/drawing/2014/main" id="{5C634F40-F625-4CA0-BE02-DC806CF827E8}"/>
              </a:ext>
            </a:extLst>
          </p:cNvPr>
          <p:cNvSpPr>
            <a:spLocks xmlns:a="http://schemas.openxmlformats.org/drawingml/2006/main" noGrp="1"/>
          </p:cNvSpPr>
          <p:nvPr/>
        </p:nvSpPr>
        <p:spPr>
          <a:xfrm xmlns:a="http://schemas.openxmlformats.org/drawingml/2006/main" flipH="0" flipV="0">
            <a:off x="6096000" y="3143631"/>
            <a:ext cx="468630" cy="15621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4" name="passive-decay-03">
            <a:extLst xmlns:a="http://schemas.openxmlformats.org/drawingml/2006/main">
              <a:ext uri="{FF2B5EF4-FFF2-40B4-BE49-F238E27FC236}">
                <a16:creationId xmlns:a16="http://schemas.microsoft.com/office/drawing/2014/main" id="{941BAFC2-33A6-437B-808E-A555C8DB2AC8}"/>
              </a:ext>
            </a:extLst>
          </p:cNvPr>
          <p:cNvSpPr>
            <a:spLocks xmlns:a="http://schemas.openxmlformats.org/drawingml/2006/main" noGrp="1"/>
          </p:cNvSpPr>
          <p:nvPr/>
        </p:nvSpPr>
        <p:spPr>
          <a:xfrm xmlns:a="http://schemas.openxmlformats.org/drawingml/2006/main" flipH="0" flipV="0">
            <a:off x="6564630" y="3299841"/>
            <a:ext cx="468630" cy="218694"/>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5" name="passive-decay-04">
            <a:extLst xmlns:a="http://schemas.openxmlformats.org/drawingml/2006/main">
              <a:ext uri="{FF2B5EF4-FFF2-40B4-BE49-F238E27FC236}">
                <a16:creationId xmlns:a16="http://schemas.microsoft.com/office/drawing/2014/main" id="{6B93B6E9-104A-45AA-B1C9-1225AFBD6204}"/>
              </a:ext>
            </a:extLst>
          </p:cNvPr>
          <p:cNvSpPr>
            <a:spLocks xmlns:a="http://schemas.openxmlformats.org/drawingml/2006/main" noGrp="1"/>
          </p:cNvSpPr>
          <p:nvPr/>
        </p:nvSpPr>
        <p:spPr>
          <a:xfrm xmlns:a="http://schemas.openxmlformats.org/drawingml/2006/main" flipH="0" flipV="0">
            <a:off x="7033260" y="3518535"/>
            <a:ext cx="624840" cy="31242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6" name="rapid-loss-01">
            <a:extLst xmlns:a="http://schemas.openxmlformats.org/drawingml/2006/main">
              <a:ext uri="{FF2B5EF4-FFF2-40B4-BE49-F238E27FC236}">
                <a16:creationId xmlns:a16="http://schemas.microsoft.com/office/drawing/2014/main" id="{FBCAA642-C124-47E0-8E46-DF347C18E284}"/>
              </a:ext>
            </a:extLst>
          </p:cNvPr>
          <p:cNvSpPr>
            <a:spLocks xmlns:a="http://schemas.openxmlformats.org/drawingml/2006/main" noGrp="1"/>
          </p:cNvSpPr>
          <p:nvPr/>
        </p:nvSpPr>
        <p:spPr>
          <a:xfrm xmlns:a="http://schemas.openxmlformats.org/drawingml/2006/main" flipH="0" flipV="1">
            <a:off x="7658100" y="2284476"/>
            <a:ext cx="117157" cy="1546479"/>
          </a:xfrm>
          <a:prstGeom xmlns:a="http://schemas.openxmlformats.org/drawingml/2006/main" prst="line">
            <a:avLst/>
          </a:prstGeom>
          <a:noFill xmlns:a="http://schemas.openxmlformats.org/drawingml/2006/main"/>
          <a:ln xmlns:a="http://schemas.openxmlformats.org/drawingml/2006/main" w="32385">
            <a:solidFill>
              <a:srgbClr val="FF766C"/>
            </a:solidFill>
            <a:prstDash val="solid"/>
          </a:ln>
        </p:spPr>
      </p:sp>
      <p:sp>
        <p:nvSpPr>
          <p:cNvPr id="37" name="rapid-loss-02">
            <a:extLst xmlns:a="http://schemas.openxmlformats.org/drawingml/2006/main">
              <a:ext uri="{FF2B5EF4-FFF2-40B4-BE49-F238E27FC236}">
                <a16:creationId xmlns:a16="http://schemas.microsoft.com/office/drawing/2014/main" id="{BB99905A-5D8C-44FA-BA5E-6344EF798F28}"/>
              </a:ext>
            </a:extLst>
          </p:cNvPr>
          <p:cNvSpPr>
            <a:spLocks xmlns:a="http://schemas.openxmlformats.org/drawingml/2006/main" noGrp="1"/>
          </p:cNvSpPr>
          <p:nvPr/>
        </p:nvSpPr>
        <p:spPr>
          <a:xfrm xmlns:a="http://schemas.openxmlformats.org/drawingml/2006/main" flipH="0" flipV="0">
            <a:off x="7775258" y="2284476"/>
            <a:ext cx="117158" cy="2155698"/>
          </a:xfrm>
          <a:prstGeom xmlns:a="http://schemas.openxmlformats.org/drawingml/2006/main" prst="line">
            <a:avLst/>
          </a:prstGeom>
          <a:noFill xmlns:a="http://schemas.openxmlformats.org/drawingml/2006/main"/>
          <a:ln xmlns:a="http://schemas.openxmlformats.org/drawingml/2006/main" w="32385">
            <a:solidFill>
              <a:srgbClr val="FF766C"/>
            </a:solidFill>
            <a:prstDash val="solid"/>
          </a:ln>
        </p:spPr>
      </p:sp>
      <p:sp>
        <p:nvSpPr>
          <p:cNvPr id="38" name="rapid-loss-03">
            <a:extLst xmlns:a="http://schemas.openxmlformats.org/drawingml/2006/main">
              <a:ext uri="{FF2B5EF4-FFF2-40B4-BE49-F238E27FC236}">
                <a16:creationId xmlns:a16="http://schemas.microsoft.com/office/drawing/2014/main" id="{8485CAC2-6CE3-42CB-8C84-DF81A6C56AB3}"/>
              </a:ext>
            </a:extLst>
          </p:cNvPr>
          <p:cNvSpPr>
            <a:spLocks xmlns:a="http://schemas.openxmlformats.org/drawingml/2006/main" noGrp="1"/>
          </p:cNvSpPr>
          <p:nvPr/>
        </p:nvSpPr>
        <p:spPr>
          <a:xfrm xmlns:a="http://schemas.openxmlformats.org/drawingml/2006/main" flipH="0" flipV="0">
            <a:off x="7892415" y="4440174"/>
            <a:ext cx="1562100" cy="0"/>
          </a:xfrm>
          <a:prstGeom xmlns:a="http://schemas.openxmlformats.org/drawingml/2006/main" prst="line">
            <a:avLst/>
          </a:prstGeom>
          <a:noFill xmlns:a="http://schemas.openxmlformats.org/drawingml/2006/main"/>
          <a:ln xmlns:a="http://schemas.openxmlformats.org/drawingml/2006/main" w="32385">
            <a:solidFill>
              <a:srgbClr val="FF766C"/>
            </a:solidFill>
            <a:prstDash val="solid"/>
          </a:ln>
        </p:spPr>
      </p:sp>
      <p:sp>
        <p:nvSpPr>
          <p:cNvPr id="39" name="earn-label">
            <a:extLst xmlns:a="http://schemas.openxmlformats.org/drawingml/2006/main">
              <a:ext uri="{FF2B5EF4-FFF2-40B4-BE49-F238E27FC236}">
                <a16:creationId xmlns:a16="http://schemas.microsoft.com/office/drawing/2014/main" id="{B3D23E66-491E-41C4-8530-9FF7F44BAA4D}"/>
              </a:ext>
            </a:extLst>
          </p:cNvPr>
          <p:cNvSpPr>
            <a:spLocks xmlns:a="http://schemas.openxmlformats.org/drawingml/2006/main" noGrp="1"/>
          </p:cNvSpPr>
          <p:nvPr/>
        </p:nvSpPr>
        <p:spPr>
          <a:xfrm xmlns:a="http://schemas.openxmlformats.org/drawingml/2006/main" rot="0">
            <a:off x="3791903" y="2776538"/>
            <a:ext cx="132778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Earn slowly</a:t>
            </a:r>
          </a:p>
        </p:txBody>
      </p:sp>
      <p:sp>
        <p:nvSpPr>
          <p:cNvPr id="40" name="decay-label">
            <a:extLst xmlns:a="http://schemas.openxmlformats.org/drawingml/2006/main">
              <a:ext uri="{FF2B5EF4-FFF2-40B4-BE49-F238E27FC236}">
                <a16:creationId xmlns:a16="http://schemas.microsoft.com/office/drawing/2014/main" id="{3B7CC45E-42CB-4089-A6CD-DDE84CD9D3E1}"/>
              </a:ext>
            </a:extLst>
          </p:cNvPr>
          <p:cNvSpPr>
            <a:spLocks xmlns:a="http://schemas.openxmlformats.org/drawingml/2006/main" noGrp="1"/>
          </p:cNvSpPr>
          <p:nvPr/>
        </p:nvSpPr>
        <p:spPr>
          <a:xfrm xmlns:a="http://schemas.openxmlformats.org/drawingml/2006/main" rot="0">
            <a:off x="5744528" y="3128010"/>
            <a:ext cx="148399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Passive decay</a:t>
            </a:r>
          </a:p>
        </p:txBody>
      </p:sp>
      <p:sp>
        <p:nvSpPr>
          <p:cNvPr id="41" name="loss-label">
            <a:extLst xmlns:a="http://schemas.openxmlformats.org/drawingml/2006/main">
              <a:ext uri="{FF2B5EF4-FFF2-40B4-BE49-F238E27FC236}">
                <a16:creationId xmlns:a16="http://schemas.microsoft.com/office/drawing/2014/main" id="{B5996A45-F07D-48C5-A5AD-4F275349D9AD}"/>
              </a:ext>
            </a:extLst>
          </p:cNvPr>
          <p:cNvSpPr>
            <a:spLocks xmlns:a="http://schemas.openxmlformats.org/drawingml/2006/main" noGrp="1"/>
          </p:cNvSpPr>
          <p:nvPr/>
        </p:nvSpPr>
        <p:spPr>
          <a:xfrm xmlns:a="http://schemas.openxmlformats.org/drawingml/2006/main" rot="0">
            <a:off x="7736205" y="1956435"/>
            <a:ext cx="148399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Lose quickly</a:t>
            </a:r>
          </a:p>
        </p:txBody>
      </p:sp>
      <p:sp>
        <p:nvSpPr>
          <p:cNvPr id="42" name="ascent-caption">
            <a:extLst xmlns:a="http://schemas.openxmlformats.org/drawingml/2006/main">
              <a:ext uri="{FF2B5EF4-FFF2-40B4-BE49-F238E27FC236}">
                <a16:creationId xmlns:a16="http://schemas.microsoft.com/office/drawing/2014/main" id="{1DD482DD-D999-4221-B3A0-3183E57934A1}"/>
              </a:ext>
            </a:extLst>
          </p:cNvPr>
          <p:cNvSpPr>
            <a:spLocks xmlns:a="http://schemas.openxmlformats.org/drawingml/2006/main" noGrp="1"/>
          </p:cNvSpPr>
          <p:nvPr/>
        </p:nvSpPr>
        <p:spPr>
          <a:xfrm xmlns:a="http://schemas.openxmlformats.org/drawingml/2006/main" rot="0">
            <a:off x="3245168" y="4643247"/>
            <a:ext cx="203073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consistent, class-matched history</a:t>
            </a:r>
          </a:p>
        </p:txBody>
      </p:sp>
      <p:sp>
        <p:nvSpPr>
          <p:cNvPr id="43" name="decay-caption">
            <a:extLst xmlns:a="http://schemas.openxmlformats.org/drawingml/2006/main">
              <a:ext uri="{FF2B5EF4-FFF2-40B4-BE49-F238E27FC236}">
                <a16:creationId xmlns:a16="http://schemas.microsoft.com/office/drawing/2014/main" id="{BB1197D4-8D3C-4E60-A925-B15C9CDEFA27}"/>
              </a:ext>
            </a:extLst>
          </p:cNvPr>
          <p:cNvSpPr>
            <a:spLocks xmlns:a="http://schemas.openxmlformats.org/drawingml/2006/main" noGrp="1"/>
          </p:cNvSpPr>
          <p:nvPr/>
        </p:nvSpPr>
        <p:spPr>
          <a:xfrm xmlns:a="http://schemas.openxmlformats.org/drawingml/2006/main" rot="0">
            <a:off x="5549265" y="4643247"/>
            <a:ext cx="1952625"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state ages without fresh evidence</a:t>
            </a:r>
          </a:p>
        </p:txBody>
      </p:sp>
      <p:sp>
        <p:nvSpPr>
          <p:cNvPr id="44" name="loss-caption">
            <a:extLst xmlns:a="http://schemas.openxmlformats.org/drawingml/2006/main">
              <a:ext uri="{FF2B5EF4-FFF2-40B4-BE49-F238E27FC236}">
                <a16:creationId xmlns:a16="http://schemas.microsoft.com/office/drawing/2014/main" id="{EF9033EE-E963-4AC3-8B67-79FF9508B63A}"/>
              </a:ext>
            </a:extLst>
          </p:cNvPr>
          <p:cNvSpPr>
            <a:spLocks xmlns:a="http://schemas.openxmlformats.org/drawingml/2006/main" noGrp="1"/>
          </p:cNvSpPr>
          <p:nvPr/>
        </p:nvSpPr>
        <p:spPr>
          <a:xfrm xmlns:a="http://schemas.openxmlformats.org/drawingml/2006/main" rot="0">
            <a:off x="7814310" y="4643247"/>
            <a:ext cx="156210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high divergence</a:t>
            </a:r>
          </a:p>
        </p:txBody>
      </p:sp>
      <p:sp>
        <p:nvSpPr>
          <p:cNvPr id="45" name="class-isolation">
            <a:extLst xmlns:a="http://schemas.openxmlformats.org/drawingml/2006/main">
              <a:ext uri="{FF2B5EF4-FFF2-40B4-BE49-F238E27FC236}">
                <a16:creationId xmlns:a16="http://schemas.microsoft.com/office/drawing/2014/main" id="{F5BC1A9D-F65A-46BE-935B-59C30B66DF74}"/>
              </a:ext>
            </a:extLst>
          </p:cNvPr>
          <p:cNvSpPr>
            <a:spLocks xmlns:a="http://schemas.openxmlformats.org/drawingml/2006/main" noGrp="1"/>
          </p:cNvSpPr>
          <p:nvPr/>
        </p:nvSpPr>
        <p:spPr>
          <a:xfrm xmlns:a="http://schemas.openxmlformats.org/drawingml/2006/main" rot="0">
            <a:off x="7931468" y="2893695"/>
            <a:ext cx="1444943" cy="671703"/>
          </a:xfrm>
          <a:prstGeom xmlns:a="http://schemas.openxmlformats.org/drawingml/2006/main" prst="roundRect">
            <a:avLst>
              <a:gd name="adj" fmla="val 11344"/>
            </a:avLst>
          </a:prstGeom>
          <a:solidFill xmlns:a="http://schemas.openxmlformats.org/drawingml/2006/main">
            <a:srgbClr val="10151C"/>
          </a:solidFill>
          <a:ln xmlns:a="http://schemas.openxmlformats.org/drawingml/2006/main" w="11430">
            <a:solidFill>
              <a:srgbClr val="40505D"/>
            </a:solidFill>
            <a:prstDash val="solid"/>
          </a:ln>
        </p:spPr>
      </p:sp>
      <p:sp>
        <p:nvSpPr>
          <p:cNvPr id="46" name="class-isolation-title">
            <a:extLst xmlns:a="http://schemas.openxmlformats.org/drawingml/2006/main">
              <a:ext uri="{FF2B5EF4-FFF2-40B4-BE49-F238E27FC236}">
                <a16:creationId xmlns:a16="http://schemas.microsoft.com/office/drawing/2014/main" id="{FF00DB29-CD36-49BC-9F07-B81F73559331}"/>
              </a:ext>
            </a:extLst>
          </p:cNvPr>
          <p:cNvSpPr>
            <a:spLocks xmlns:a="http://schemas.openxmlformats.org/drawingml/2006/main" noGrp="1"/>
          </p:cNvSpPr>
          <p:nvPr/>
        </p:nvSpPr>
        <p:spPr>
          <a:xfrm xmlns:a="http://schemas.openxmlformats.org/drawingml/2006/main" rot="0">
            <a:off x="8048625" y="3010853"/>
            <a:ext cx="1210628"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AAB9C5"/>
                </a:solidFill>
              </a:defRPr>
            </a:pPr>
            <a:r>
              <a:rPr sz="825" b="0">
                <a:solidFill>
                  <a:srgbClr val="AAB9C5"/>
                </a:solidFill>
              </a:rPr>
              <a:t>Per-class isolation</a:t>
            </a:r>
          </a:p>
        </p:txBody>
      </p:sp>
      <p:sp>
        <p:nvSpPr>
          <p:cNvPr id="47" name="class-isolation-body">
            <a:extLst xmlns:a="http://schemas.openxmlformats.org/drawingml/2006/main">
              <a:ext uri="{FF2B5EF4-FFF2-40B4-BE49-F238E27FC236}">
                <a16:creationId xmlns:a16="http://schemas.microsoft.com/office/drawing/2014/main" id="{215D74BD-423F-47A9-9C29-6247201ECD41}"/>
              </a:ext>
            </a:extLst>
          </p:cNvPr>
          <p:cNvSpPr>
            <a:spLocks xmlns:a="http://schemas.openxmlformats.org/drawingml/2006/main" noGrp="1"/>
          </p:cNvSpPr>
          <p:nvPr/>
        </p:nvSpPr>
        <p:spPr>
          <a:xfrm xmlns:a="http://schemas.openxmlformats.org/drawingml/2006/main" rot="0">
            <a:off x="8048625" y="3245168"/>
            <a:ext cx="1210628"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read ≠ admin</a:t>
            </a:r>
          </a:p>
        </p:txBody>
      </p:sp>
    </p:spTree>
    <p:extLst>
      <p:ext uri="{BB962C8B-B14F-4D97-AF65-F5344CB8AC3E}">
        <p14:creationId xmlns:p14="http://schemas.microsoft.com/office/powerpoint/2010/main" val="1513985353"/>
      </p:ext>
    </p:extLst>
  </p:cSld>
</p:sld>
</file>

<file path=ppt/slides/slide5.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67" name="header-eyebrow">
            <a:extLst xmlns:a="http://schemas.openxmlformats.org/drawingml/2006/main">
              <a:ext uri="{FF2B5EF4-FFF2-40B4-BE49-F238E27FC236}">
                <a16:creationId xmlns:a16="http://schemas.microsoft.com/office/drawing/2014/main" id="{B168B4C1-5384-4F0F-BC52-41E4A40181FA}"/>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DD81021A-B9AF-4A77-AD70-047224863BF6}"/>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Observed incident · KIL framing   Case study 1 of 8   Waiting for presenter</a:t>
            </a:r>
          </a:p>
        </p:txBody>
      </p:sp>
      <p:sp>
        <p:nvSpPr>
          <p:cNvPr id="3" name="scene-title">
            <a:extLst xmlns:a="http://schemas.openxmlformats.org/drawingml/2006/main">
              <a:ext uri="{FF2B5EF4-FFF2-40B4-BE49-F238E27FC236}">
                <a16:creationId xmlns:a16="http://schemas.microsoft.com/office/drawing/2014/main" id="{19A69A43-9FF0-449E-9B7B-4252C42DCC58}"/>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From ambient threat to ambient breach</a:t>
            </a:r>
          </a:p>
        </p:txBody>
      </p:sp>
      <p:sp>
        <p:nvSpPr>
          <p:cNvPr id="4" name="nav-act-primer">
            <a:extLst xmlns:a="http://schemas.openxmlformats.org/drawingml/2006/main">
              <a:ext uri="{FF2B5EF4-FFF2-40B4-BE49-F238E27FC236}">
                <a16:creationId xmlns:a16="http://schemas.microsoft.com/office/drawing/2014/main" id="{0B8179E7-7C31-46BA-B77D-13CCC699A990}"/>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8DB4B4C4-0D47-497F-8461-A8489F6EEAB6}"/>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C7A14602-DCE6-4079-92CF-C828E3A294D7}"/>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9BF2AA77-45E1-4710-945A-A2C4950D3E27}"/>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8F264028-2565-40BE-B522-79A0CBE63427}"/>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9" name="nav-scene-1-label">
            <a:extLst xmlns:a="http://schemas.openxmlformats.org/drawingml/2006/main">
              <a:ext uri="{FF2B5EF4-FFF2-40B4-BE49-F238E27FC236}">
                <a16:creationId xmlns:a16="http://schemas.microsoft.com/office/drawing/2014/main" id="{A0366EEC-B653-4CA8-8E8A-2FD703319B5F}"/>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1</a:t>
            </a:r>
          </a:p>
        </p:txBody>
      </p:sp>
      <p:sp>
        <p:nvSpPr>
          <p:cNvPr id="10" name="nav-scene-2">
            <a:extLst xmlns:a="http://schemas.openxmlformats.org/drawingml/2006/main">
              <a:ext uri="{FF2B5EF4-FFF2-40B4-BE49-F238E27FC236}">
                <a16:creationId xmlns:a16="http://schemas.microsoft.com/office/drawing/2014/main" id="{79AF93E0-AAFD-49ED-92BD-7473896E90D9}"/>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C85EE42E-7BF0-4FB5-BB28-B70B6A9FC0A7}"/>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CC8C9186-8772-412E-84FF-432D6556FDD3}"/>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012EE1F8-77EB-4F82-BCC0-E5C2DA337AE2}"/>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A3F740DC-B76D-4C10-98F7-ACA0A9A16583}"/>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2545E861-93CE-4218-B085-E0420317B9AE}"/>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9D93CAE2-8B1B-4EBA-B74F-16ECF24F9473}"/>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F2985DC1-CDB4-49FF-925E-5189A3A9A03B}"/>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5318917B-36F8-47FC-B71E-BC21FEBDC4A2}"/>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3EAD4F85-690F-43A0-9ECD-04E5E933DBAD}"/>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A958BDF8-FBED-4061-9C35-64528C670448}"/>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E962CB76-1A25-4061-8069-B9146C1C76FA}"/>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289C2055-A3F3-4AC8-B14C-4F43098E9F77}"/>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F4EB5C9F-D2CE-44AC-90EE-20F71C2E788E}"/>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8F06E887-76C7-4BBF-B602-6AD2D6B7DF5B}"/>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455E4338-8381-4552-A4C6-372506B62EC5}"/>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The disclosure provides a source-cited sequence for a bounded counterfactual.</a:t>
            </a:r>
          </a:p>
        </p:txBody>
      </p:sp>
      <p:sp>
        <p:nvSpPr>
          <p:cNvPr id="26" name="source-rail">
            <a:extLst xmlns:a="http://schemas.openxmlformats.org/drawingml/2006/main">
              <a:ext uri="{FF2B5EF4-FFF2-40B4-BE49-F238E27FC236}">
                <a16:creationId xmlns:a16="http://schemas.microsoft.com/office/drawing/2014/main" id="{A9B512F4-F5C3-4788-B18E-FBA7F0911D68}"/>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A9DF7B09-2A74-4B62-938C-02957B80DE23}"/>
              </a:ext>
            </a:extLst>
          </p:cNvPr>
          <p:cNvSpPr>
            <a:spLocks xmlns:a="http://schemas.openxmlformats.org/drawingml/2006/main" noGrp="1"/>
          </p:cNvSpPr>
          <p:nvPr/>
        </p:nvSpPr>
        <p:spPr>
          <a:xfrm xmlns:a="http://schemas.openxmlformats.org/drawingml/2006/main" rot="0">
            <a:off x="2542223" y="1612773"/>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OBSERVED SEQUENCE · SOURCE-CITED</a:t>
            </a:r>
          </a:p>
        </p:txBody>
      </p:sp>
      <p:sp>
        <p:nvSpPr>
          <p:cNvPr id="28" name="observed-sequence-line">
            <a:extLst xmlns:a="http://schemas.openxmlformats.org/drawingml/2006/main">
              <a:ext uri="{FF2B5EF4-FFF2-40B4-BE49-F238E27FC236}">
                <a16:creationId xmlns:a16="http://schemas.microsoft.com/office/drawing/2014/main" id="{79D86B41-68E3-4462-880E-C4E46E64043D}"/>
              </a:ext>
            </a:extLst>
          </p:cNvPr>
          <p:cNvSpPr>
            <a:spLocks xmlns:a="http://schemas.openxmlformats.org/drawingml/2006/main" noGrp="1"/>
          </p:cNvSpPr>
          <p:nvPr/>
        </p:nvSpPr>
        <p:spPr>
          <a:xfrm xmlns:a="http://schemas.openxmlformats.org/drawingml/2006/main" flipH="0" flipV="0">
            <a:off x="2737485" y="2776538"/>
            <a:ext cx="6717030" cy="0"/>
          </a:xfrm>
          <a:prstGeom xmlns:a="http://schemas.openxmlformats.org/drawingml/2006/main" prst="line">
            <a:avLst/>
          </a:prstGeom>
          <a:noFill xmlns:a="http://schemas.openxmlformats.org/drawingml/2006/main"/>
          <a:ln xmlns:a="http://schemas.openxmlformats.org/drawingml/2006/main" w="28575">
            <a:solidFill>
              <a:srgbClr val="FF766C"/>
            </a:solidFill>
            <a:prstDash val="solid"/>
          </a:ln>
        </p:spPr>
      </p:sp>
      <p:sp>
        <p:nvSpPr>
          <p:cNvPr id="29" name="phase-1-frame">
            <a:extLst xmlns:a="http://schemas.openxmlformats.org/drawingml/2006/main">
              <a:ext uri="{FF2B5EF4-FFF2-40B4-BE49-F238E27FC236}">
                <a16:creationId xmlns:a16="http://schemas.microsoft.com/office/drawing/2014/main" id="{39330112-216A-4C06-A243-2ACB3F295E5E}"/>
              </a:ext>
            </a:extLst>
          </p:cNvPr>
          <p:cNvSpPr>
            <a:spLocks xmlns:a="http://schemas.openxmlformats.org/drawingml/2006/main" noGrp="1"/>
          </p:cNvSpPr>
          <p:nvPr/>
        </p:nvSpPr>
        <p:spPr>
          <a:xfrm xmlns:a="http://schemas.openxmlformats.org/drawingml/2006/main" rot="0">
            <a:off x="2440686"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30" name="phase-1-number-dot">
            <a:extLst xmlns:a="http://schemas.openxmlformats.org/drawingml/2006/main">
              <a:ext uri="{FF2B5EF4-FFF2-40B4-BE49-F238E27FC236}">
                <a16:creationId xmlns:a16="http://schemas.microsoft.com/office/drawing/2014/main" id="{1AD940B1-9648-428B-92DB-055DD363E9BA}"/>
              </a:ext>
            </a:extLst>
          </p:cNvPr>
          <p:cNvSpPr>
            <a:spLocks xmlns:a="http://schemas.openxmlformats.org/drawingml/2006/main" noGrp="1"/>
          </p:cNvSpPr>
          <p:nvPr/>
        </p:nvSpPr>
        <p:spPr>
          <a:xfrm xmlns:a="http://schemas.openxmlformats.org/drawingml/2006/main" rot="0">
            <a:off x="2507361"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31" name="phase-1-number">
            <a:extLst xmlns:a="http://schemas.openxmlformats.org/drawingml/2006/main">
              <a:ext uri="{FF2B5EF4-FFF2-40B4-BE49-F238E27FC236}">
                <a16:creationId xmlns:a16="http://schemas.microsoft.com/office/drawing/2014/main" id="{361616DE-ED9F-4136-B5CA-3620D433667B}"/>
              </a:ext>
            </a:extLst>
          </p:cNvPr>
          <p:cNvSpPr>
            <a:spLocks xmlns:a="http://schemas.openxmlformats.org/drawingml/2006/main" noGrp="1"/>
          </p:cNvSpPr>
          <p:nvPr/>
        </p:nvSpPr>
        <p:spPr>
          <a:xfrm xmlns:a="http://schemas.openxmlformats.org/drawingml/2006/main" rot="0">
            <a:off x="2507361"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1</a:t>
            </a:r>
          </a:p>
        </p:txBody>
      </p:sp>
      <p:sp>
        <p:nvSpPr>
          <p:cNvPr id="32" name="phase-1-label">
            <a:extLst xmlns:a="http://schemas.openxmlformats.org/drawingml/2006/main">
              <a:ext uri="{FF2B5EF4-FFF2-40B4-BE49-F238E27FC236}">
                <a16:creationId xmlns:a16="http://schemas.microsoft.com/office/drawing/2014/main" id="{B912135D-048E-44EB-864E-A355F37A2505}"/>
              </a:ext>
            </a:extLst>
          </p:cNvPr>
          <p:cNvSpPr>
            <a:spLocks xmlns:a="http://schemas.openxmlformats.org/drawingml/2006/main" noGrp="1"/>
          </p:cNvSpPr>
          <p:nvPr/>
        </p:nvSpPr>
        <p:spPr>
          <a:xfrm xmlns:a="http://schemas.openxmlformats.org/drawingml/2006/main" rot="0">
            <a:off x="2650236"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Worker</a:t>
            </a:r>
          </a:p>
          <a:p xmlns:a="http://schemas.openxmlformats.org/drawingml/2006/main">
            <a:pPr algn="ctr">
              <a:defRPr sz="675" b="0">
                <a:solidFill>
                  <a:srgbClr val="EDF4FA"/>
                </a:solidFill>
              </a:defRPr>
            </a:pPr>
            <a:r>
              <a:rPr sz="675" b="0">
                <a:solidFill>
                  <a:srgbClr val="EDF4FA"/>
                </a:solidFill>
              </a:rPr>
              <a:t>foothold</a:t>
            </a:r>
          </a:p>
        </p:txBody>
      </p:sp>
      <p:sp>
        <p:nvSpPr>
          <p:cNvPr id="33" name="phase-2-frame">
            <a:extLst xmlns:a="http://schemas.openxmlformats.org/drawingml/2006/main">
              <a:ext uri="{FF2B5EF4-FFF2-40B4-BE49-F238E27FC236}">
                <a16:creationId xmlns:a16="http://schemas.microsoft.com/office/drawing/2014/main" id="{87E02AB2-4361-436A-8135-129457A64AC5}"/>
              </a:ext>
            </a:extLst>
          </p:cNvPr>
          <p:cNvSpPr>
            <a:spLocks xmlns:a="http://schemas.openxmlformats.org/drawingml/2006/main" noGrp="1"/>
          </p:cNvSpPr>
          <p:nvPr/>
        </p:nvSpPr>
        <p:spPr>
          <a:xfrm xmlns:a="http://schemas.openxmlformats.org/drawingml/2006/main" rot="0">
            <a:off x="3385757"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34" name="phase-2-number-dot">
            <a:extLst xmlns:a="http://schemas.openxmlformats.org/drawingml/2006/main">
              <a:ext uri="{FF2B5EF4-FFF2-40B4-BE49-F238E27FC236}">
                <a16:creationId xmlns:a16="http://schemas.microsoft.com/office/drawing/2014/main" id="{5D851457-E2FE-405C-B0E3-0C4D0C4D57E0}"/>
              </a:ext>
            </a:extLst>
          </p:cNvPr>
          <p:cNvSpPr>
            <a:spLocks xmlns:a="http://schemas.openxmlformats.org/drawingml/2006/main" noGrp="1"/>
          </p:cNvSpPr>
          <p:nvPr/>
        </p:nvSpPr>
        <p:spPr>
          <a:xfrm xmlns:a="http://schemas.openxmlformats.org/drawingml/2006/main" rot="0">
            <a:off x="3452432"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35" name="phase-2-number">
            <a:extLst xmlns:a="http://schemas.openxmlformats.org/drawingml/2006/main">
              <a:ext uri="{FF2B5EF4-FFF2-40B4-BE49-F238E27FC236}">
                <a16:creationId xmlns:a16="http://schemas.microsoft.com/office/drawing/2014/main" id="{30872F8E-2D44-4A7A-BA82-D6D2BD46C853}"/>
              </a:ext>
            </a:extLst>
          </p:cNvPr>
          <p:cNvSpPr>
            <a:spLocks xmlns:a="http://schemas.openxmlformats.org/drawingml/2006/main" noGrp="1"/>
          </p:cNvSpPr>
          <p:nvPr/>
        </p:nvSpPr>
        <p:spPr>
          <a:xfrm xmlns:a="http://schemas.openxmlformats.org/drawingml/2006/main" rot="0">
            <a:off x="3452432"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2</a:t>
            </a:r>
          </a:p>
        </p:txBody>
      </p:sp>
      <p:sp>
        <p:nvSpPr>
          <p:cNvPr id="36" name="phase-2-label">
            <a:extLst xmlns:a="http://schemas.openxmlformats.org/drawingml/2006/main">
              <a:ext uri="{FF2B5EF4-FFF2-40B4-BE49-F238E27FC236}">
                <a16:creationId xmlns:a16="http://schemas.microsoft.com/office/drawing/2014/main" id="{74D0600C-9A0B-407C-97C7-386E44A595E8}"/>
              </a:ext>
            </a:extLst>
          </p:cNvPr>
          <p:cNvSpPr>
            <a:spLocks xmlns:a="http://schemas.openxmlformats.org/drawingml/2006/main" noGrp="1"/>
          </p:cNvSpPr>
          <p:nvPr/>
        </p:nvSpPr>
        <p:spPr>
          <a:xfrm xmlns:a="http://schemas.openxmlformats.org/drawingml/2006/main" rot="0">
            <a:off x="3595307"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Cluster</a:t>
            </a:r>
          </a:p>
          <a:p xmlns:a="http://schemas.openxmlformats.org/drawingml/2006/main">
            <a:pPr algn="ctr">
              <a:defRPr sz="675" b="0">
                <a:solidFill>
                  <a:srgbClr val="EDF4FA"/>
                </a:solidFill>
              </a:defRPr>
            </a:pPr>
            <a:r>
              <a:rPr sz="675" b="0">
                <a:solidFill>
                  <a:srgbClr val="EDF4FA"/>
                </a:solidFill>
              </a:rPr>
              <a:t>API</a:t>
            </a:r>
          </a:p>
        </p:txBody>
      </p:sp>
      <p:sp>
        <p:nvSpPr>
          <p:cNvPr id="37" name="phase-3-frame">
            <a:extLst xmlns:a="http://schemas.openxmlformats.org/drawingml/2006/main">
              <a:ext uri="{FF2B5EF4-FFF2-40B4-BE49-F238E27FC236}">
                <a16:creationId xmlns:a16="http://schemas.microsoft.com/office/drawing/2014/main" id="{46CE8249-4D01-47F7-9FA6-F050C9AE1F12}"/>
              </a:ext>
            </a:extLst>
          </p:cNvPr>
          <p:cNvSpPr>
            <a:spLocks xmlns:a="http://schemas.openxmlformats.org/drawingml/2006/main" noGrp="1"/>
          </p:cNvSpPr>
          <p:nvPr/>
        </p:nvSpPr>
        <p:spPr>
          <a:xfrm xmlns:a="http://schemas.openxmlformats.org/drawingml/2006/main" rot="0">
            <a:off x="4330827"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38" name="phase-3-number-dot">
            <a:extLst xmlns:a="http://schemas.openxmlformats.org/drawingml/2006/main">
              <a:ext uri="{FF2B5EF4-FFF2-40B4-BE49-F238E27FC236}">
                <a16:creationId xmlns:a16="http://schemas.microsoft.com/office/drawing/2014/main" id="{92B9651A-7778-4637-BA7B-F415CF28A5EB}"/>
              </a:ext>
            </a:extLst>
          </p:cNvPr>
          <p:cNvSpPr>
            <a:spLocks xmlns:a="http://schemas.openxmlformats.org/drawingml/2006/main" noGrp="1"/>
          </p:cNvSpPr>
          <p:nvPr/>
        </p:nvSpPr>
        <p:spPr>
          <a:xfrm xmlns:a="http://schemas.openxmlformats.org/drawingml/2006/main" rot="0">
            <a:off x="4397502"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39" name="phase-3-number">
            <a:extLst xmlns:a="http://schemas.openxmlformats.org/drawingml/2006/main">
              <a:ext uri="{FF2B5EF4-FFF2-40B4-BE49-F238E27FC236}">
                <a16:creationId xmlns:a16="http://schemas.microsoft.com/office/drawing/2014/main" id="{027C94A0-205F-4FE2-B0E2-3DC6E7B71FE4}"/>
              </a:ext>
            </a:extLst>
          </p:cNvPr>
          <p:cNvSpPr>
            <a:spLocks xmlns:a="http://schemas.openxmlformats.org/drawingml/2006/main" noGrp="1"/>
          </p:cNvSpPr>
          <p:nvPr/>
        </p:nvSpPr>
        <p:spPr>
          <a:xfrm xmlns:a="http://schemas.openxmlformats.org/drawingml/2006/main" rot="0">
            <a:off x="4397502"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3</a:t>
            </a:r>
          </a:p>
        </p:txBody>
      </p:sp>
      <p:sp>
        <p:nvSpPr>
          <p:cNvPr id="40" name="phase-3-label">
            <a:extLst xmlns:a="http://schemas.openxmlformats.org/drawingml/2006/main">
              <a:ext uri="{FF2B5EF4-FFF2-40B4-BE49-F238E27FC236}">
                <a16:creationId xmlns:a16="http://schemas.microsoft.com/office/drawing/2014/main" id="{3642E0D7-825C-450A-AB3D-9F4C607FADC4}"/>
              </a:ext>
            </a:extLst>
          </p:cNvPr>
          <p:cNvSpPr>
            <a:spLocks xmlns:a="http://schemas.openxmlformats.org/drawingml/2006/main" noGrp="1"/>
          </p:cNvSpPr>
          <p:nvPr/>
        </p:nvSpPr>
        <p:spPr>
          <a:xfrm xmlns:a="http://schemas.openxmlformats.org/drawingml/2006/main" rot="0">
            <a:off x="4540377"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Cloud +</a:t>
            </a:r>
          </a:p>
          <a:p xmlns:a="http://schemas.openxmlformats.org/drawingml/2006/main">
            <a:pPr algn="ctr">
              <a:defRPr sz="675" b="0">
                <a:solidFill>
                  <a:srgbClr val="EDF4FA"/>
                </a:solidFill>
              </a:defRPr>
            </a:pPr>
            <a:r>
              <a:rPr sz="675" b="0">
                <a:solidFill>
                  <a:srgbClr val="EDF4FA"/>
                </a:solidFill>
              </a:rPr>
              <a:t>node</a:t>
            </a:r>
          </a:p>
        </p:txBody>
      </p:sp>
      <p:sp>
        <p:nvSpPr>
          <p:cNvPr id="41" name="phase-4-frame">
            <a:extLst xmlns:a="http://schemas.openxmlformats.org/drawingml/2006/main">
              <a:ext uri="{FF2B5EF4-FFF2-40B4-BE49-F238E27FC236}">
                <a16:creationId xmlns:a16="http://schemas.microsoft.com/office/drawing/2014/main" id="{7AE1ECCC-6126-45EF-9A97-A777D47029C4}"/>
              </a:ext>
            </a:extLst>
          </p:cNvPr>
          <p:cNvSpPr>
            <a:spLocks xmlns:a="http://schemas.openxmlformats.org/drawingml/2006/main" noGrp="1"/>
          </p:cNvSpPr>
          <p:nvPr/>
        </p:nvSpPr>
        <p:spPr>
          <a:xfrm xmlns:a="http://schemas.openxmlformats.org/drawingml/2006/main" rot="0">
            <a:off x="5275898"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42" name="phase-4-number-dot">
            <a:extLst xmlns:a="http://schemas.openxmlformats.org/drawingml/2006/main">
              <a:ext uri="{FF2B5EF4-FFF2-40B4-BE49-F238E27FC236}">
                <a16:creationId xmlns:a16="http://schemas.microsoft.com/office/drawing/2014/main" id="{A5F9E3B0-2051-4284-A086-0A8256515281}"/>
              </a:ext>
            </a:extLst>
          </p:cNvPr>
          <p:cNvSpPr>
            <a:spLocks xmlns:a="http://schemas.openxmlformats.org/drawingml/2006/main" noGrp="1"/>
          </p:cNvSpPr>
          <p:nvPr/>
        </p:nvSpPr>
        <p:spPr>
          <a:xfrm xmlns:a="http://schemas.openxmlformats.org/drawingml/2006/main" rot="0">
            <a:off x="5342573"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43" name="phase-4-number">
            <a:extLst xmlns:a="http://schemas.openxmlformats.org/drawingml/2006/main">
              <a:ext uri="{FF2B5EF4-FFF2-40B4-BE49-F238E27FC236}">
                <a16:creationId xmlns:a16="http://schemas.microsoft.com/office/drawing/2014/main" id="{D3C5EBF2-0C85-4731-B5F6-09ABF4FDF80E}"/>
              </a:ext>
            </a:extLst>
          </p:cNvPr>
          <p:cNvSpPr>
            <a:spLocks xmlns:a="http://schemas.openxmlformats.org/drawingml/2006/main" noGrp="1"/>
          </p:cNvSpPr>
          <p:nvPr/>
        </p:nvSpPr>
        <p:spPr>
          <a:xfrm xmlns:a="http://schemas.openxmlformats.org/drawingml/2006/main" rot="0">
            <a:off x="5342573"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4</a:t>
            </a:r>
          </a:p>
        </p:txBody>
      </p:sp>
      <p:sp>
        <p:nvSpPr>
          <p:cNvPr id="44" name="phase-4-label">
            <a:extLst xmlns:a="http://schemas.openxmlformats.org/drawingml/2006/main">
              <a:ext uri="{FF2B5EF4-FFF2-40B4-BE49-F238E27FC236}">
                <a16:creationId xmlns:a16="http://schemas.microsoft.com/office/drawing/2014/main" id="{4883B0C8-A427-4796-8497-9511470D304D}"/>
              </a:ext>
            </a:extLst>
          </p:cNvPr>
          <p:cNvSpPr>
            <a:spLocks xmlns:a="http://schemas.openxmlformats.org/drawingml/2006/main" noGrp="1"/>
          </p:cNvSpPr>
          <p:nvPr/>
        </p:nvSpPr>
        <p:spPr>
          <a:xfrm xmlns:a="http://schemas.openxmlformats.org/drawingml/2006/main" rot="0">
            <a:off x="5485448"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Secret</a:t>
            </a:r>
          </a:p>
          <a:p xmlns:a="http://schemas.openxmlformats.org/drawingml/2006/main">
            <a:pPr algn="ctr">
              <a:defRPr sz="675" b="0">
                <a:solidFill>
                  <a:srgbClr val="EDF4FA"/>
                </a:solidFill>
              </a:defRPr>
            </a:pPr>
            <a:r>
              <a:rPr sz="675" b="0">
                <a:solidFill>
                  <a:srgbClr val="EDF4FA"/>
                </a:solidFill>
              </a:rPr>
              <a:t>read</a:t>
            </a:r>
          </a:p>
        </p:txBody>
      </p:sp>
      <p:sp>
        <p:nvSpPr>
          <p:cNvPr id="45" name="phase-5-frame">
            <a:extLst xmlns:a="http://schemas.openxmlformats.org/drawingml/2006/main">
              <a:ext uri="{FF2B5EF4-FFF2-40B4-BE49-F238E27FC236}">
                <a16:creationId xmlns:a16="http://schemas.microsoft.com/office/drawing/2014/main" id="{3C02D395-A517-45DB-B084-3E171587D9EB}"/>
              </a:ext>
            </a:extLst>
          </p:cNvPr>
          <p:cNvSpPr>
            <a:spLocks xmlns:a="http://schemas.openxmlformats.org/drawingml/2006/main" noGrp="1"/>
          </p:cNvSpPr>
          <p:nvPr/>
        </p:nvSpPr>
        <p:spPr>
          <a:xfrm xmlns:a="http://schemas.openxmlformats.org/drawingml/2006/main" rot="0">
            <a:off x="6220968"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46" name="phase-5-number-dot">
            <a:extLst xmlns:a="http://schemas.openxmlformats.org/drawingml/2006/main">
              <a:ext uri="{FF2B5EF4-FFF2-40B4-BE49-F238E27FC236}">
                <a16:creationId xmlns:a16="http://schemas.microsoft.com/office/drawing/2014/main" id="{2924350B-A363-4B7F-81FD-8B46DF281111}"/>
              </a:ext>
            </a:extLst>
          </p:cNvPr>
          <p:cNvSpPr>
            <a:spLocks xmlns:a="http://schemas.openxmlformats.org/drawingml/2006/main" noGrp="1"/>
          </p:cNvSpPr>
          <p:nvPr/>
        </p:nvSpPr>
        <p:spPr>
          <a:xfrm xmlns:a="http://schemas.openxmlformats.org/drawingml/2006/main" rot="0">
            <a:off x="6287643"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47" name="phase-5-number">
            <a:extLst xmlns:a="http://schemas.openxmlformats.org/drawingml/2006/main">
              <a:ext uri="{FF2B5EF4-FFF2-40B4-BE49-F238E27FC236}">
                <a16:creationId xmlns:a16="http://schemas.microsoft.com/office/drawing/2014/main" id="{4BB6D28E-4AC7-4C23-BF37-8AEC15FC2C03}"/>
              </a:ext>
            </a:extLst>
          </p:cNvPr>
          <p:cNvSpPr>
            <a:spLocks xmlns:a="http://schemas.openxmlformats.org/drawingml/2006/main" noGrp="1"/>
          </p:cNvSpPr>
          <p:nvPr/>
        </p:nvSpPr>
        <p:spPr>
          <a:xfrm xmlns:a="http://schemas.openxmlformats.org/drawingml/2006/main" rot="0">
            <a:off x="6287643"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5</a:t>
            </a:r>
          </a:p>
        </p:txBody>
      </p:sp>
      <p:sp>
        <p:nvSpPr>
          <p:cNvPr id="48" name="phase-5-label">
            <a:extLst xmlns:a="http://schemas.openxmlformats.org/drawingml/2006/main">
              <a:ext uri="{FF2B5EF4-FFF2-40B4-BE49-F238E27FC236}">
                <a16:creationId xmlns:a16="http://schemas.microsoft.com/office/drawing/2014/main" id="{9A32CFF2-5A03-46E5-A07C-2ADBBAEE71AD}"/>
              </a:ext>
            </a:extLst>
          </p:cNvPr>
          <p:cNvSpPr>
            <a:spLocks xmlns:a="http://schemas.openxmlformats.org/drawingml/2006/main" noGrp="1"/>
          </p:cNvSpPr>
          <p:nvPr/>
        </p:nvSpPr>
        <p:spPr>
          <a:xfrm xmlns:a="http://schemas.openxmlformats.org/drawingml/2006/main" rot="0">
            <a:off x="6430518"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Cross-</a:t>
            </a:r>
          </a:p>
          <a:p xmlns:a="http://schemas.openxmlformats.org/drawingml/2006/main">
            <a:pPr algn="ctr">
              <a:defRPr sz="675" b="0">
                <a:solidFill>
                  <a:srgbClr val="EDF4FA"/>
                </a:solidFill>
              </a:defRPr>
            </a:pPr>
            <a:r>
              <a:rPr sz="675" b="0">
                <a:solidFill>
                  <a:srgbClr val="EDF4FA"/>
                </a:solidFill>
              </a:rPr>
              <a:t>cluster</a:t>
            </a:r>
          </a:p>
        </p:txBody>
      </p:sp>
      <p:sp>
        <p:nvSpPr>
          <p:cNvPr id="49" name="phase-6-frame">
            <a:extLst xmlns:a="http://schemas.openxmlformats.org/drawingml/2006/main">
              <a:ext uri="{FF2B5EF4-FFF2-40B4-BE49-F238E27FC236}">
                <a16:creationId xmlns:a16="http://schemas.microsoft.com/office/drawing/2014/main" id="{A676F812-EEE6-4EEE-B995-BDE87B2A8330}"/>
              </a:ext>
            </a:extLst>
          </p:cNvPr>
          <p:cNvSpPr>
            <a:spLocks xmlns:a="http://schemas.openxmlformats.org/drawingml/2006/main" noGrp="1"/>
          </p:cNvSpPr>
          <p:nvPr/>
        </p:nvSpPr>
        <p:spPr>
          <a:xfrm xmlns:a="http://schemas.openxmlformats.org/drawingml/2006/main" rot="0">
            <a:off x="7166039"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50" name="phase-6-number-dot">
            <a:extLst xmlns:a="http://schemas.openxmlformats.org/drawingml/2006/main">
              <a:ext uri="{FF2B5EF4-FFF2-40B4-BE49-F238E27FC236}">
                <a16:creationId xmlns:a16="http://schemas.microsoft.com/office/drawing/2014/main" id="{E0B61595-ED1E-4970-B024-E0715FC4119F}"/>
              </a:ext>
            </a:extLst>
          </p:cNvPr>
          <p:cNvSpPr>
            <a:spLocks xmlns:a="http://schemas.openxmlformats.org/drawingml/2006/main" noGrp="1"/>
          </p:cNvSpPr>
          <p:nvPr/>
        </p:nvSpPr>
        <p:spPr>
          <a:xfrm xmlns:a="http://schemas.openxmlformats.org/drawingml/2006/main" rot="0">
            <a:off x="7232714"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51" name="phase-6-number">
            <a:extLst xmlns:a="http://schemas.openxmlformats.org/drawingml/2006/main">
              <a:ext uri="{FF2B5EF4-FFF2-40B4-BE49-F238E27FC236}">
                <a16:creationId xmlns:a16="http://schemas.microsoft.com/office/drawing/2014/main" id="{4235057B-24FD-45BA-ABD1-EC0688088762}"/>
              </a:ext>
            </a:extLst>
          </p:cNvPr>
          <p:cNvSpPr>
            <a:spLocks xmlns:a="http://schemas.openxmlformats.org/drawingml/2006/main" noGrp="1"/>
          </p:cNvSpPr>
          <p:nvPr/>
        </p:nvSpPr>
        <p:spPr>
          <a:xfrm xmlns:a="http://schemas.openxmlformats.org/drawingml/2006/main" rot="0">
            <a:off x="7232714"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6</a:t>
            </a:r>
          </a:p>
        </p:txBody>
      </p:sp>
      <p:sp>
        <p:nvSpPr>
          <p:cNvPr id="52" name="phase-6-label">
            <a:extLst xmlns:a="http://schemas.openxmlformats.org/drawingml/2006/main">
              <a:ext uri="{FF2B5EF4-FFF2-40B4-BE49-F238E27FC236}">
                <a16:creationId xmlns:a16="http://schemas.microsoft.com/office/drawing/2014/main" id="{B421559F-ABCB-4C24-A7CA-3597D4D95A3C}"/>
              </a:ext>
            </a:extLst>
          </p:cNvPr>
          <p:cNvSpPr>
            <a:spLocks xmlns:a="http://schemas.openxmlformats.org/drawingml/2006/main" noGrp="1"/>
          </p:cNvSpPr>
          <p:nvPr/>
        </p:nvSpPr>
        <p:spPr>
          <a:xfrm xmlns:a="http://schemas.openxmlformats.org/drawingml/2006/main" rot="0">
            <a:off x="7375589"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Mesh</a:t>
            </a:r>
          </a:p>
          <a:p xmlns:a="http://schemas.openxmlformats.org/drawingml/2006/main">
            <a:pPr algn="ctr">
              <a:defRPr sz="675" b="0">
                <a:solidFill>
                  <a:srgbClr val="EDF4FA"/>
                </a:solidFill>
              </a:defRPr>
            </a:pPr>
            <a:r>
              <a:rPr sz="675" b="0">
                <a:solidFill>
                  <a:srgbClr val="EDF4FA"/>
                </a:solidFill>
              </a:rPr>
              <a:t>enroll</a:t>
            </a:r>
          </a:p>
        </p:txBody>
      </p:sp>
      <p:sp>
        <p:nvSpPr>
          <p:cNvPr id="53" name="phase-7-frame">
            <a:extLst xmlns:a="http://schemas.openxmlformats.org/drawingml/2006/main">
              <a:ext uri="{FF2B5EF4-FFF2-40B4-BE49-F238E27FC236}">
                <a16:creationId xmlns:a16="http://schemas.microsoft.com/office/drawing/2014/main" id="{B22335BE-11A3-4531-AF04-80958490FAC4}"/>
              </a:ext>
            </a:extLst>
          </p:cNvPr>
          <p:cNvSpPr>
            <a:spLocks xmlns:a="http://schemas.openxmlformats.org/drawingml/2006/main" noGrp="1"/>
          </p:cNvSpPr>
          <p:nvPr/>
        </p:nvSpPr>
        <p:spPr>
          <a:xfrm xmlns:a="http://schemas.openxmlformats.org/drawingml/2006/main" rot="0">
            <a:off x="8111109"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54" name="phase-7-number-dot">
            <a:extLst xmlns:a="http://schemas.openxmlformats.org/drawingml/2006/main">
              <a:ext uri="{FF2B5EF4-FFF2-40B4-BE49-F238E27FC236}">
                <a16:creationId xmlns:a16="http://schemas.microsoft.com/office/drawing/2014/main" id="{724A0055-0167-492F-AF12-9EFDD6DD03D8}"/>
              </a:ext>
            </a:extLst>
          </p:cNvPr>
          <p:cNvSpPr>
            <a:spLocks xmlns:a="http://schemas.openxmlformats.org/drawingml/2006/main" noGrp="1"/>
          </p:cNvSpPr>
          <p:nvPr/>
        </p:nvSpPr>
        <p:spPr>
          <a:xfrm xmlns:a="http://schemas.openxmlformats.org/drawingml/2006/main" rot="0">
            <a:off x="8177784"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55" name="phase-7-number">
            <a:extLst xmlns:a="http://schemas.openxmlformats.org/drawingml/2006/main">
              <a:ext uri="{FF2B5EF4-FFF2-40B4-BE49-F238E27FC236}">
                <a16:creationId xmlns:a16="http://schemas.microsoft.com/office/drawing/2014/main" id="{C8A20E77-1575-4EC6-B247-E5BFDA7C4BA4}"/>
              </a:ext>
            </a:extLst>
          </p:cNvPr>
          <p:cNvSpPr>
            <a:spLocks xmlns:a="http://schemas.openxmlformats.org/drawingml/2006/main" noGrp="1"/>
          </p:cNvSpPr>
          <p:nvPr/>
        </p:nvSpPr>
        <p:spPr>
          <a:xfrm xmlns:a="http://schemas.openxmlformats.org/drawingml/2006/main" rot="0">
            <a:off x="8177784"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7</a:t>
            </a:r>
          </a:p>
        </p:txBody>
      </p:sp>
      <p:sp>
        <p:nvSpPr>
          <p:cNvPr id="56" name="phase-7-label">
            <a:extLst xmlns:a="http://schemas.openxmlformats.org/drawingml/2006/main">
              <a:ext uri="{FF2B5EF4-FFF2-40B4-BE49-F238E27FC236}">
                <a16:creationId xmlns:a16="http://schemas.microsoft.com/office/drawing/2014/main" id="{6057CFC8-C74A-47F7-83EB-7E0C2E618B6B}"/>
              </a:ext>
            </a:extLst>
          </p:cNvPr>
          <p:cNvSpPr>
            <a:spLocks xmlns:a="http://schemas.openxmlformats.org/drawingml/2006/main" noGrp="1"/>
          </p:cNvSpPr>
          <p:nvPr/>
        </p:nvSpPr>
        <p:spPr>
          <a:xfrm xmlns:a="http://schemas.openxmlformats.org/drawingml/2006/main" rot="0">
            <a:off x="8320659"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Token</a:t>
            </a:r>
          </a:p>
          <a:p xmlns:a="http://schemas.openxmlformats.org/drawingml/2006/main">
            <a:pPr algn="ctr">
              <a:defRPr sz="675" b="0">
                <a:solidFill>
                  <a:srgbClr val="EDF4FA"/>
                </a:solidFill>
              </a:defRPr>
            </a:pPr>
            <a:r>
              <a:rPr sz="675" b="0">
                <a:solidFill>
                  <a:srgbClr val="EDF4FA"/>
                </a:solidFill>
              </a:rPr>
              <a:t>forge</a:t>
            </a:r>
          </a:p>
        </p:txBody>
      </p:sp>
      <p:sp>
        <p:nvSpPr>
          <p:cNvPr id="57" name="phase-8-frame">
            <a:extLst xmlns:a="http://schemas.openxmlformats.org/drawingml/2006/main">
              <a:ext uri="{FF2B5EF4-FFF2-40B4-BE49-F238E27FC236}">
                <a16:creationId xmlns:a16="http://schemas.microsoft.com/office/drawing/2014/main" id="{0AA8B7D8-0182-4DA7-9ECE-2C4CD836DA73}"/>
              </a:ext>
            </a:extLst>
          </p:cNvPr>
          <p:cNvSpPr>
            <a:spLocks xmlns:a="http://schemas.openxmlformats.org/drawingml/2006/main" noGrp="1"/>
          </p:cNvSpPr>
          <p:nvPr/>
        </p:nvSpPr>
        <p:spPr>
          <a:xfrm xmlns:a="http://schemas.openxmlformats.org/drawingml/2006/main" rot="0">
            <a:off x="9056180" y="222980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58" name="phase-8-number-dot">
            <a:extLst xmlns:a="http://schemas.openxmlformats.org/drawingml/2006/main">
              <a:ext uri="{FF2B5EF4-FFF2-40B4-BE49-F238E27FC236}">
                <a16:creationId xmlns:a16="http://schemas.microsoft.com/office/drawing/2014/main" id="{A075B44A-D982-4829-B638-C5E8B67FC3CD}"/>
              </a:ext>
            </a:extLst>
          </p:cNvPr>
          <p:cNvSpPr>
            <a:spLocks xmlns:a="http://schemas.openxmlformats.org/drawingml/2006/main" noGrp="1"/>
          </p:cNvSpPr>
          <p:nvPr/>
        </p:nvSpPr>
        <p:spPr>
          <a:xfrm xmlns:a="http://schemas.openxmlformats.org/drawingml/2006/main" rot="0">
            <a:off x="9122855" y="229647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59" name="phase-8-number">
            <a:extLst xmlns:a="http://schemas.openxmlformats.org/drawingml/2006/main">
              <a:ext uri="{FF2B5EF4-FFF2-40B4-BE49-F238E27FC236}">
                <a16:creationId xmlns:a16="http://schemas.microsoft.com/office/drawing/2014/main" id="{2CBA3A45-35F6-4E43-ACC6-CA6B92F8EA72}"/>
              </a:ext>
            </a:extLst>
          </p:cNvPr>
          <p:cNvSpPr>
            <a:spLocks xmlns:a="http://schemas.openxmlformats.org/drawingml/2006/main" noGrp="1"/>
          </p:cNvSpPr>
          <p:nvPr/>
        </p:nvSpPr>
        <p:spPr>
          <a:xfrm xmlns:a="http://schemas.openxmlformats.org/drawingml/2006/main" rot="0">
            <a:off x="9122855" y="229647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8</a:t>
            </a:r>
          </a:p>
        </p:txBody>
      </p:sp>
      <p:sp>
        <p:nvSpPr>
          <p:cNvPr id="60" name="phase-8-label">
            <a:extLst xmlns:a="http://schemas.openxmlformats.org/drawingml/2006/main">
              <a:ext uri="{FF2B5EF4-FFF2-40B4-BE49-F238E27FC236}">
                <a16:creationId xmlns:a16="http://schemas.microsoft.com/office/drawing/2014/main" id="{2E2B7CB0-B117-41CF-8F23-2442601B63C4}"/>
              </a:ext>
            </a:extLst>
          </p:cNvPr>
          <p:cNvSpPr>
            <a:spLocks xmlns:a="http://schemas.openxmlformats.org/drawingml/2006/main" noGrp="1"/>
          </p:cNvSpPr>
          <p:nvPr/>
        </p:nvSpPr>
        <p:spPr>
          <a:xfrm xmlns:a="http://schemas.openxmlformats.org/drawingml/2006/main" rot="0">
            <a:off x="9265730" y="245840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CI</a:t>
            </a:r>
          </a:p>
          <a:p xmlns:a="http://schemas.openxmlformats.org/drawingml/2006/main">
            <a:pPr algn="ctr">
              <a:defRPr sz="675" b="0">
                <a:solidFill>
                  <a:srgbClr val="EDF4FA"/>
                </a:solidFill>
              </a:defRPr>
            </a:pPr>
            <a:r>
              <a:rPr sz="675" b="0">
                <a:solidFill>
                  <a:srgbClr val="EDF4FA"/>
                </a:solidFill>
              </a:rPr>
              <a:t>pivot</a:t>
            </a:r>
          </a:p>
        </p:txBody>
      </p:sp>
      <p:sp>
        <p:nvSpPr>
          <p:cNvPr id="61" name="blast-radius-arrow-line">
            <a:extLst xmlns:a="http://schemas.openxmlformats.org/drawingml/2006/main">
              <a:ext uri="{FF2B5EF4-FFF2-40B4-BE49-F238E27FC236}">
                <a16:creationId xmlns:a16="http://schemas.microsoft.com/office/drawing/2014/main" id="{4CEE6826-C3D6-4E05-AE4B-166452794E65}"/>
              </a:ext>
            </a:extLst>
          </p:cNvPr>
          <p:cNvSpPr>
            <a:spLocks xmlns:a="http://schemas.openxmlformats.org/drawingml/2006/main" noGrp="1"/>
          </p:cNvSpPr>
          <p:nvPr/>
        </p:nvSpPr>
        <p:spPr>
          <a:xfrm xmlns:a="http://schemas.openxmlformats.org/drawingml/2006/main" flipH="0" flipV="0">
            <a:off x="2737485" y="3870008"/>
            <a:ext cx="6717030" cy="0"/>
          </a:xfrm>
          <a:prstGeom xmlns:a="http://schemas.openxmlformats.org/drawingml/2006/main" prst="line">
            <a:avLst/>
          </a:prstGeom>
          <a:noFill xmlns:a="http://schemas.openxmlformats.org/drawingml/2006/main"/>
          <a:ln xmlns:a="http://schemas.openxmlformats.org/drawingml/2006/main" w="33338">
            <a:solidFill>
              <a:srgbClr val="FF766C"/>
            </a:solidFill>
            <a:prstDash val="solid"/>
          </a:ln>
        </p:spPr>
      </p:sp>
      <p:sp>
        <p:nvSpPr>
          <p:cNvPr id="62" name="blast-radius-arrow-head">
            <a:extLst xmlns:a="http://schemas.openxmlformats.org/drawingml/2006/main">
              <a:ext uri="{FF2B5EF4-FFF2-40B4-BE49-F238E27FC236}">
                <a16:creationId xmlns:a16="http://schemas.microsoft.com/office/drawing/2014/main" id="{931712E9-41A2-46FA-8679-F8A9AE99F7A4}"/>
              </a:ext>
            </a:extLst>
          </p:cNvPr>
          <p:cNvSpPr>
            <a:spLocks xmlns:a="http://schemas.openxmlformats.org/drawingml/2006/main" noGrp="1"/>
          </p:cNvSpPr>
          <p:nvPr/>
        </p:nvSpPr>
        <p:spPr>
          <a:xfrm xmlns:a="http://schemas.openxmlformats.org/drawingml/2006/main" rot="5400000">
            <a:off x="9406890" y="3822383"/>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63" name="blast-radius-label">
            <a:extLst xmlns:a="http://schemas.openxmlformats.org/drawingml/2006/main">
              <a:ext uri="{FF2B5EF4-FFF2-40B4-BE49-F238E27FC236}">
                <a16:creationId xmlns:a16="http://schemas.microsoft.com/office/drawing/2014/main" id="{94140B38-852C-4DF9-9235-47E9A8F4C8BE}"/>
              </a:ext>
            </a:extLst>
          </p:cNvPr>
          <p:cNvSpPr>
            <a:spLocks xmlns:a="http://schemas.openxmlformats.org/drawingml/2006/main" noGrp="1"/>
          </p:cNvSpPr>
          <p:nvPr/>
        </p:nvSpPr>
        <p:spPr>
          <a:xfrm xmlns:a="http://schemas.openxmlformats.org/drawingml/2006/main" rot="0">
            <a:off x="4221480" y="3581019"/>
            <a:ext cx="374904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Expanding authority and blast radius</a:t>
            </a:r>
          </a:p>
        </p:txBody>
      </p:sp>
      <p:sp>
        <p:nvSpPr>
          <p:cNvPr id="64" name="discipline-frame">
            <a:extLst xmlns:a="http://schemas.openxmlformats.org/drawingml/2006/main">
              <a:ext uri="{FF2B5EF4-FFF2-40B4-BE49-F238E27FC236}">
                <a16:creationId xmlns:a16="http://schemas.microsoft.com/office/drawing/2014/main" id="{28F35E6A-CA0A-464C-9813-D90C675AFE8B}"/>
              </a:ext>
            </a:extLst>
          </p:cNvPr>
          <p:cNvSpPr>
            <a:spLocks xmlns:a="http://schemas.openxmlformats.org/drawingml/2006/main" noGrp="1"/>
          </p:cNvSpPr>
          <p:nvPr/>
        </p:nvSpPr>
        <p:spPr>
          <a:xfrm xmlns:a="http://schemas.openxmlformats.org/drawingml/2006/main" rot="0">
            <a:off x="2854643" y="4182427"/>
            <a:ext cx="6482715" cy="734187"/>
          </a:xfrm>
          <a:prstGeom xmlns:a="http://schemas.openxmlformats.org/drawingml/2006/main" prst="roundRect">
            <a:avLst>
              <a:gd name="adj" fmla="val 10379"/>
            </a:avLst>
          </a:prstGeom>
          <a:solidFill xmlns:a="http://schemas.openxmlformats.org/drawingml/2006/main">
            <a:srgbClr val="10151C"/>
          </a:solidFill>
          <a:ln xmlns:a="http://schemas.openxmlformats.org/drawingml/2006/main" w="11430">
            <a:solidFill>
              <a:srgbClr val="40505D"/>
            </a:solidFill>
            <a:prstDash val="solid"/>
          </a:ln>
        </p:spPr>
      </p:sp>
      <p:sp>
        <p:nvSpPr>
          <p:cNvPr id="65" name="discipline-title">
            <a:extLst xmlns:a="http://schemas.openxmlformats.org/drawingml/2006/main">
              <a:ext uri="{FF2B5EF4-FFF2-40B4-BE49-F238E27FC236}">
                <a16:creationId xmlns:a16="http://schemas.microsoft.com/office/drawing/2014/main" id="{1EBFFF74-B3F8-4C6F-BC4E-F507DB7F531C}"/>
              </a:ext>
            </a:extLst>
          </p:cNvPr>
          <p:cNvSpPr>
            <a:spLocks xmlns:a="http://schemas.openxmlformats.org/drawingml/2006/main" noGrp="1"/>
          </p:cNvSpPr>
          <p:nvPr/>
        </p:nvSpPr>
        <p:spPr>
          <a:xfrm xmlns:a="http://schemas.openxmlformats.org/drawingml/2006/main" rot="0">
            <a:off x="4182428" y="4315206"/>
            <a:ext cx="382714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Counterfactual discipline</a:t>
            </a:r>
          </a:p>
        </p:txBody>
      </p:sp>
      <p:sp>
        <p:nvSpPr>
          <p:cNvPr id="66" name="discipline-body">
            <a:extLst xmlns:a="http://schemas.openxmlformats.org/drawingml/2006/main">
              <a:ext uri="{FF2B5EF4-FFF2-40B4-BE49-F238E27FC236}">
                <a16:creationId xmlns:a16="http://schemas.microsoft.com/office/drawing/2014/main" id="{D226B30F-6CBF-49D4-BE06-221A6FEA8D04}"/>
              </a:ext>
            </a:extLst>
          </p:cNvPr>
          <p:cNvSpPr>
            <a:spLocks xmlns:a="http://schemas.openxmlformats.org/drawingml/2006/main" noGrp="1"/>
          </p:cNvSpPr>
          <p:nvPr/>
        </p:nvSpPr>
        <p:spPr>
          <a:xfrm xmlns:a="http://schemas.openxmlformats.org/drawingml/2006/main" rot="0">
            <a:off x="3440430" y="4596384"/>
            <a:ext cx="531114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Observed incident actions + clearly labeled modeled KIL context</a:t>
            </a:r>
          </a:p>
        </p:txBody>
      </p:sp>
    </p:spTree>
    <p:extLst>
      <p:ext uri="{BB962C8B-B14F-4D97-AF65-F5344CB8AC3E}">
        <p14:creationId xmlns:p14="http://schemas.microsoft.com/office/powerpoint/2010/main" val="1558604267"/>
      </p:ext>
    </p:extLst>
  </p:cSld>
</p:sld>
</file>

<file path=ppt/slides/slide6.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3" name="header-eyebrow">
            <a:extLst xmlns:a="http://schemas.openxmlformats.org/drawingml/2006/main">
              <a:ext uri="{FF2B5EF4-FFF2-40B4-BE49-F238E27FC236}">
                <a16:creationId xmlns:a16="http://schemas.microsoft.com/office/drawing/2014/main" id="{F120F8E8-4B44-4B69-8D28-0F65009974E2}"/>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DAA22709-FCC1-44B8-8012-7EF93E0CB78B}"/>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Observed incident   Case study 2 of 8   Waiting for presenter</a:t>
            </a:r>
          </a:p>
        </p:txBody>
      </p:sp>
      <p:sp>
        <p:nvSpPr>
          <p:cNvPr id="3" name="scene-title">
            <a:extLst xmlns:a="http://schemas.openxmlformats.org/drawingml/2006/main">
              <a:ext uri="{FF2B5EF4-FFF2-40B4-BE49-F238E27FC236}">
                <a16:creationId xmlns:a16="http://schemas.microsoft.com/office/drawing/2014/main" id="{ECCB9F50-0C5D-45E8-A834-1D54B7645810}"/>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A trusted worker becomes the foothold</a:t>
            </a:r>
          </a:p>
        </p:txBody>
      </p:sp>
      <p:sp>
        <p:nvSpPr>
          <p:cNvPr id="4" name="nav-act-primer">
            <a:extLst xmlns:a="http://schemas.openxmlformats.org/drawingml/2006/main">
              <a:ext uri="{FF2B5EF4-FFF2-40B4-BE49-F238E27FC236}">
                <a16:creationId xmlns:a16="http://schemas.microsoft.com/office/drawing/2014/main" id="{E52549F7-E0D4-407A-805A-0B682F912B09}"/>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02531798-4CE8-471D-9757-C0757522F792}"/>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CCAD12B5-F2BA-49D4-A734-7518748AFD8A}"/>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BADD3BE8-DD05-4F89-A7AB-44E293D30008}"/>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A5C5435E-DDD9-4199-88E5-1DDE6A59B24F}"/>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4123F8CD-E055-4E9C-AC43-11D7F9E2D577}"/>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AC3FC5AA-9BD7-4C82-B4BC-8D6936242170}"/>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1" name="nav-scene-2-label">
            <a:extLst xmlns:a="http://schemas.openxmlformats.org/drawingml/2006/main">
              <a:ext uri="{FF2B5EF4-FFF2-40B4-BE49-F238E27FC236}">
                <a16:creationId xmlns:a16="http://schemas.microsoft.com/office/drawing/2014/main" id="{3523DB07-D862-44C6-A43C-FE3B4B45CBBF}"/>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2</a:t>
            </a:r>
          </a:p>
        </p:txBody>
      </p:sp>
      <p:sp>
        <p:nvSpPr>
          <p:cNvPr id="12" name="nav-scene-3">
            <a:extLst xmlns:a="http://schemas.openxmlformats.org/drawingml/2006/main">
              <a:ext uri="{FF2B5EF4-FFF2-40B4-BE49-F238E27FC236}">
                <a16:creationId xmlns:a16="http://schemas.microsoft.com/office/drawing/2014/main" id="{D23F8DAD-66C3-454D-AC71-EED797A9FBBD}"/>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C06724C8-4791-43B7-AF08-434D33B4ED8F}"/>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E6A9F0E0-13B1-489C-8DB5-6D69F9A9F03E}"/>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2BD2FDC2-0031-4FEA-A3CD-89E8AB05FB9B}"/>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32C0483C-0727-447E-90AE-E408CF992842}"/>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E033EDB2-F564-4702-94F7-5077837C90EB}"/>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2AE24445-1C6B-4291-A22A-75D7335361AC}"/>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6CFB5EE6-6379-4548-84F0-F03452D25DFF}"/>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84FB2045-90D3-40EE-967C-B3C6BC860439}"/>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6AB3CADC-411B-419F-8D2F-D2D13540900C}"/>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6DA51210-87B9-4FCE-A45A-7116444294B2}"/>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8E562241-02E6-4E96-B854-15AF3E380C1F}"/>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FD7593BC-0816-4F85-AEB9-A2190618CD79}"/>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36948D9B-3ABC-4124-A0B4-D5EAC6CCA844}"/>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The disclosed application compromise precedes the transport boundary tested by the lab.</a:t>
            </a:r>
          </a:p>
        </p:txBody>
      </p:sp>
      <p:sp>
        <p:nvSpPr>
          <p:cNvPr id="26" name="source-rail">
            <a:extLst xmlns:a="http://schemas.openxmlformats.org/drawingml/2006/main">
              <a:ext uri="{FF2B5EF4-FFF2-40B4-BE49-F238E27FC236}">
                <a16:creationId xmlns:a16="http://schemas.microsoft.com/office/drawing/2014/main" id="{72FB98DC-3B34-4917-8F0F-BC93774352C6}"/>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A4942199-43F6-4C32-8C56-A3567B5E09B1}"/>
              </a:ext>
            </a:extLst>
          </p:cNvPr>
          <p:cNvSpPr>
            <a:spLocks xmlns:a="http://schemas.openxmlformats.org/drawingml/2006/main" noGrp="1"/>
          </p:cNvSpPr>
          <p:nvPr/>
        </p:nvSpPr>
        <p:spPr>
          <a:xfrm xmlns:a="http://schemas.openxmlformats.org/drawingml/2006/main" rot="0">
            <a:off x="2542223" y="1612773"/>
            <a:ext cx="468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WHERE THE CURRENT DEMONSTRATION BEGINS</a:t>
            </a:r>
          </a:p>
        </p:txBody>
      </p:sp>
      <p:sp>
        <p:nvSpPr>
          <p:cNvPr id="28" name="application-foothold-frame">
            <a:extLst xmlns:a="http://schemas.openxmlformats.org/drawingml/2006/main">
              <a:ext uri="{FF2B5EF4-FFF2-40B4-BE49-F238E27FC236}">
                <a16:creationId xmlns:a16="http://schemas.microsoft.com/office/drawing/2014/main" id="{39E1C80C-EBC5-4DEA-8D77-DBEEE7703E5E}"/>
              </a:ext>
            </a:extLst>
          </p:cNvPr>
          <p:cNvSpPr>
            <a:spLocks xmlns:a="http://schemas.openxmlformats.org/drawingml/2006/main" noGrp="1"/>
          </p:cNvSpPr>
          <p:nvPr/>
        </p:nvSpPr>
        <p:spPr>
          <a:xfrm xmlns:a="http://schemas.openxmlformats.org/drawingml/2006/main" rot="0">
            <a:off x="2620328" y="2190750"/>
            <a:ext cx="1913573" cy="1796415"/>
          </a:xfrm>
          <a:prstGeom xmlns:a="http://schemas.openxmlformats.org/drawingml/2006/main" prst="roundRect">
            <a:avLst>
              <a:gd name="adj" fmla="val 4242"/>
            </a:avLst>
          </a:prstGeom>
          <a:solidFill xmlns:a="http://schemas.openxmlformats.org/drawingml/2006/main">
            <a:srgbClr val="10151C"/>
          </a:solidFill>
          <a:ln xmlns:a="http://schemas.openxmlformats.org/drawingml/2006/main" w="13335">
            <a:solidFill>
              <a:srgbClr val="40505D"/>
            </a:solidFill>
            <a:prstDash val="solid"/>
          </a:ln>
        </p:spPr>
      </p:sp>
      <p:sp>
        <p:nvSpPr>
          <p:cNvPr id="29" name="application-foothold-title">
            <a:extLst xmlns:a="http://schemas.openxmlformats.org/drawingml/2006/main">
              <a:ext uri="{FF2B5EF4-FFF2-40B4-BE49-F238E27FC236}">
                <a16:creationId xmlns:a16="http://schemas.microsoft.com/office/drawing/2014/main" id="{539BCCC8-8389-4FE4-BE63-7D9D2A0B2FC2}"/>
              </a:ext>
            </a:extLst>
          </p:cNvPr>
          <p:cNvSpPr>
            <a:spLocks xmlns:a="http://schemas.openxmlformats.org/drawingml/2006/main" noGrp="1"/>
          </p:cNvSpPr>
          <p:nvPr/>
        </p:nvSpPr>
        <p:spPr>
          <a:xfrm xmlns:a="http://schemas.openxmlformats.org/drawingml/2006/main" rot="0">
            <a:off x="2696528" y="2266950"/>
            <a:ext cx="17611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Application foothold</a:t>
            </a:r>
          </a:p>
        </p:txBody>
      </p:sp>
      <p:sp>
        <p:nvSpPr>
          <p:cNvPr id="30" name="application-foothold-subtitle">
            <a:extLst xmlns:a="http://schemas.openxmlformats.org/drawingml/2006/main">
              <a:ext uri="{FF2B5EF4-FFF2-40B4-BE49-F238E27FC236}">
                <a16:creationId xmlns:a16="http://schemas.microsoft.com/office/drawing/2014/main" id="{1B5232B0-2A0D-4F27-9848-A44694D0FA4D}"/>
              </a:ext>
            </a:extLst>
          </p:cNvPr>
          <p:cNvSpPr>
            <a:spLocks xmlns:a="http://schemas.openxmlformats.org/drawingml/2006/main" noGrp="1"/>
          </p:cNvSpPr>
          <p:nvPr/>
        </p:nvSpPr>
        <p:spPr>
          <a:xfrm xmlns:a="http://schemas.openxmlformats.org/drawingml/2006/main" rot="0">
            <a:off x="2696528" y="2486025"/>
            <a:ext cx="1761173" cy="14439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renderer-related</a:t>
            </a:r>
          </a:p>
          <a:p xmlns:a="http://schemas.openxmlformats.org/drawingml/2006/main">
            <a:pPr algn="ctr">
              <a:defRPr sz="750" b="0">
                <a:solidFill>
                  <a:srgbClr val="AAB9C5"/>
                </a:solidFill>
              </a:defRPr>
            </a:pPr>
            <a:r>
              <a:rPr sz="750" b="0">
                <a:solidFill>
                  <a:srgbClr val="AAB9C5"/>
                </a:solidFill>
              </a:rPr>
              <a:t>injection path</a:t>
            </a:r>
          </a:p>
        </p:txBody>
      </p:sp>
      <p:sp>
        <p:nvSpPr>
          <p:cNvPr id="31" name="observed-label">
            <a:extLst xmlns:a="http://schemas.openxmlformats.org/drawingml/2006/main">
              <a:ext uri="{FF2B5EF4-FFF2-40B4-BE49-F238E27FC236}">
                <a16:creationId xmlns:a16="http://schemas.microsoft.com/office/drawing/2014/main" id="{BF611049-C984-4D31-9C82-972F9FF66C78}"/>
              </a:ext>
            </a:extLst>
          </p:cNvPr>
          <p:cNvSpPr>
            <a:spLocks xmlns:a="http://schemas.openxmlformats.org/drawingml/2006/main" noGrp="1"/>
          </p:cNvSpPr>
          <p:nvPr/>
        </p:nvSpPr>
        <p:spPr>
          <a:xfrm xmlns:a="http://schemas.openxmlformats.org/drawingml/2006/main" rot="0">
            <a:off x="2932748" y="3440430"/>
            <a:ext cx="1288733"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69AEF5"/>
                </a:solidFill>
              </a:defRPr>
            </a:pPr>
            <a:r>
              <a:rPr sz="750" b="1">
                <a:solidFill>
                  <a:srgbClr val="69AEF5"/>
                </a:solidFill>
              </a:rPr>
              <a:t>OBSERVED</a:t>
            </a:r>
          </a:p>
        </p:txBody>
      </p:sp>
      <p:sp>
        <p:nvSpPr>
          <p:cNvPr id="32" name="observed-flow-line">
            <a:extLst xmlns:a="http://schemas.openxmlformats.org/drawingml/2006/main">
              <a:ext uri="{FF2B5EF4-FFF2-40B4-BE49-F238E27FC236}">
                <a16:creationId xmlns:a16="http://schemas.microsoft.com/office/drawing/2014/main" id="{09884F0F-663E-4A6D-9387-1756C06E9B56}"/>
              </a:ext>
            </a:extLst>
          </p:cNvPr>
          <p:cNvSpPr>
            <a:spLocks xmlns:a="http://schemas.openxmlformats.org/drawingml/2006/main" noGrp="1"/>
          </p:cNvSpPr>
          <p:nvPr/>
        </p:nvSpPr>
        <p:spPr>
          <a:xfrm xmlns:a="http://schemas.openxmlformats.org/drawingml/2006/main" flipH="0" flipV="0">
            <a:off x="4533900" y="3088958"/>
            <a:ext cx="1327785" cy="0"/>
          </a:xfrm>
          <a:prstGeom xmlns:a="http://schemas.openxmlformats.org/drawingml/2006/main" prst="line">
            <a:avLst/>
          </a:prstGeom>
          <a:noFill xmlns:a="http://schemas.openxmlformats.org/drawingml/2006/main"/>
          <a:ln xmlns:a="http://schemas.openxmlformats.org/drawingml/2006/main" w="33338">
            <a:solidFill>
              <a:srgbClr val="FF766C"/>
            </a:solidFill>
            <a:prstDash val="solid"/>
          </a:ln>
        </p:spPr>
      </p:sp>
      <p:sp>
        <p:nvSpPr>
          <p:cNvPr id="33" name="observed-flow-head">
            <a:extLst xmlns:a="http://schemas.openxmlformats.org/drawingml/2006/main">
              <a:ext uri="{FF2B5EF4-FFF2-40B4-BE49-F238E27FC236}">
                <a16:creationId xmlns:a16="http://schemas.microsoft.com/office/drawing/2014/main" id="{37555AE7-8CE4-477C-941F-C05684DC461C}"/>
              </a:ext>
            </a:extLst>
          </p:cNvPr>
          <p:cNvSpPr>
            <a:spLocks xmlns:a="http://schemas.openxmlformats.org/drawingml/2006/main" noGrp="1"/>
          </p:cNvSpPr>
          <p:nvPr/>
        </p:nvSpPr>
        <p:spPr>
          <a:xfrm xmlns:a="http://schemas.openxmlformats.org/drawingml/2006/main" rot="5400000">
            <a:off x="5814060" y="3041333"/>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4" name="mediation-boundary">
            <a:extLst xmlns:a="http://schemas.openxmlformats.org/drawingml/2006/main">
              <a:ext uri="{FF2B5EF4-FFF2-40B4-BE49-F238E27FC236}">
                <a16:creationId xmlns:a16="http://schemas.microsoft.com/office/drawing/2014/main" id="{87013C99-B93E-4921-A9EB-087772444E16}"/>
              </a:ext>
            </a:extLst>
          </p:cNvPr>
          <p:cNvSpPr>
            <a:spLocks xmlns:a="http://schemas.openxmlformats.org/drawingml/2006/main" noGrp="1"/>
          </p:cNvSpPr>
          <p:nvPr/>
        </p:nvSpPr>
        <p:spPr>
          <a:xfrm xmlns:a="http://schemas.openxmlformats.org/drawingml/2006/main" rot="0">
            <a:off x="5861685" y="1956435"/>
            <a:ext cx="218694" cy="2265045"/>
          </a:xfrm>
          <a:prstGeom xmlns:a="http://schemas.openxmlformats.org/drawingml/2006/main" prst="roundRect">
            <a:avLst>
              <a:gd name="adj" fmla="val 26132"/>
            </a:avLst>
          </a:prstGeom>
          <a:solidFill xmlns:a="http://schemas.openxmlformats.org/drawingml/2006/main">
            <a:srgbClr val="69AEF5"/>
          </a:solidFill>
          <a:ln xmlns:a="http://schemas.openxmlformats.org/drawingml/2006/main" w="0">
            <a:solidFill>
              <a:srgbClr val="69AEF5"/>
            </a:solidFill>
            <a:prstDash val="solid"/>
          </a:ln>
        </p:spPr>
      </p:sp>
      <p:sp>
        <p:nvSpPr>
          <p:cNvPr id="35" name="mediation-label">
            <a:extLst xmlns:a="http://schemas.openxmlformats.org/drawingml/2006/main">
              <a:ext uri="{FF2B5EF4-FFF2-40B4-BE49-F238E27FC236}">
                <a16:creationId xmlns:a16="http://schemas.microsoft.com/office/drawing/2014/main" id="{613D2D71-B5B6-4E76-870C-5938ED835DAA}"/>
              </a:ext>
            </a:extLst>
          </p:cNvPr>
          <p:cNvSpPr>
            <a:spLocks xmlns:a="http://schemas.openxmlformats.org/drawingml/2006/main" noGrp="1"/>
          </p:cNvSpPr>
          <p:nvPr/>
        </p:nvSpPr>
        <p:spPr>
          <a:xfrm xmlns:a="http://schemas.openxmlformats.org/drawingml/2006/main" rot="0">
            <a:off x="5354003" y="4283964"/>
            <a:ext cx="124968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mediation boundary</a:t>
            </a:r>
          </a:p>
        </p:txBody>
      </p:sp>
      <p:sp>
        <p:nvSpPr>
          <p:cNvPr id="36" name="modeled-flow-line">
            <a:extLst xmlns:a="http://schemas.openxmlformats.org/drawingml/2006/main">
              <a:ext uri="{FF2B5EF4-FFF2-40B4-BE49-F238E27FC236}">
                <a16:creationId xmlns:a16="http://schemas.microsoft.com/office/drawing/2014/main" id="{C7453CF9-6C54-4415-9E2D-80D8B7E0A07A}"/>
              </a:ext>
            </a:extLst>
          </p:cNvPr>
          <p:cNvSpPr>
            <a:spLocks xmlns:a="http://schemas.openxmlformats.org/drawingml/2006/main" noGrp="1"/>
          </p:cNvSpPr>
          <p:nvPr/>
        </p:nvSpPr>
        <p:spPr>
          <a:xfrm xmlns:a="http://schemas.openxmlformats.org/drawingml/2006/main" flipH="0" flipV="0">
            <a:off x="6080379" y="3088958"/>
            <a:ext cx="1421511" cy="0"/>
          </a:xfrm>
          <a:prstGeom xmlns:a="http://schemas.openxmlformats.org/drawingml/2006/main" prst="line">
            <a:avLst/>
          </a:prstGeom>
          <a:noFill xmlns:a="http://schemas.openxmlformats.org/drawingml/2006/main"/>
          <a:ln xmlns:a="http://schemas.openxmlformats.org/drawingml/2006/main" w="33338">
            <a:solidFill>
              <a:srgbClr val="69AEF5"/>
            </a:solidFill>
            <a:prstDash val="solid"/>
          </a:ln>
        </p:spPr>
      </p:sp>
      <p:sp>
        <p:nvSpPr>
          <p:cNvPr id="37" name="modeled-flow-head">
            <a:extLst xmlns:a="http://schemas.openxmlformats.org/drawingml/2006/main">
              <a:ext uri="{FF2B5EF4-FFF2-40B4-BE49-F238E27FC236}">
                <a16:creationId xmlns:a16="http://schemas.microsoft.com/office/drawing/2014/main" id="{67D451BD-A32B-4381-861C-B6AD861A1E78}"/>
              </a:ext>
            </a:extLst>
          </p:cNvPr>
          <p:cNvSpPr>
            <a:spLocks xmlns:a="http://schemas.openxmlformats.org/drawingml/2006/main" noGrp="1"/>
          </p:cNvSpPr>
          <p:nvPr/>
        </p:nvSpPr>
        <p:spPr>
          <a:xfrm xmlns:a="http://schemas.openxmlformats.org/drawingml/2006/main" rot="5400000">
            <a:off x="7454265" y="3041333"/>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38" name="outbound-request-frame">
            <a:extLst xmlns:a="http://schemas.openxmlformats.org/drawingml/2006/main">
              <a:ext uri="{FF2B5EF4-FFF2-40B4-BE49-F238E27FC236}">
                <a16:creationId xmlns:a16="http://schemas.microsoft.com/office/drawing/2014/main" id="{187B3B4A-87E7-41F1-B0F5-FBC5847E83DF}"/>
              </a:ext>
            </a:extLst>
          </p:cNvPr>
          <p:cNvSpPr>
            <a:spLocks xmlns:a="http://schemas.openxmlformats.org/drawingml/2006/main" noGrp="1"/>
          </p:cNvSpPr>
          <p:nvPr/>
        </p:nvSpPr>
        <p:spPr>
          <a:xfrm xmlns:a="http://schemas.openxmlformats.org/drawingml/2006/main" rot="0">
            <a:off x="7540943" y="2190750"/>
            <a:ext cx="1991678" cy="1796415"/>
          </a:xfrm>
          <a:prstGeom xmlns:a="http://schemas.openxmlformats.org/drawingml/2006/main" prst="roundRect">
            <a:avLst>
              <a:gd name="adj" fmla="val 4242"/>
            </a:avLst>
          </a:prstGeom>
          <a:solidFill xmlns:a="http://schemas.openxmlformats.org/drawingml/2006/main">
            <a:srgbClr val="10151C"/>
          </a:solidFill>
          <a:ln xmlns:a="http://schemas.openxmlformats.org/drawingml/2006/main" w="13335">
            <a:solidFill>
              <a:srgbClr val="40505D"/>
            </a:solidFill>
            <a:prstDash val="solid"/>
          </a:ln>
        </p:spPr>
      </p:sp>
      <p:sp>
        <p:nvSpPr>
          <p:cNvPr id="39" name="outbound-request-title">
            <a:extLst xmlns:a="http://schemas.openxmlformats.org/drawingml/2006/main">
              <a:ext uri="{FF2B5EF4-FFF2-40B4-BE49-F238E27FC236}">
                <a16:creationId xmlns:a16="http://schemas.microsoft.com/office/drawing/2014/main" id="{6A25F1D3-4A42-470D-A899-E2A9D09E09AE}"/>
              </a:ext>
            </a:extLst>
          </p:cNvPr>
          <p:cNvSpPr>
            <a:spLocks xmlns:a="http://schemas.openxmlformats.org/drawingml/2006/main" noGrp="1"/>
          </p:cNvSpPr>
          <p:nvPr/>
        </p:nvSpPr>
        <p:spPr>
          <a:xfrm xmlns:a="http://schemas.openxmlformats.org/drawingml/2006/main" rot="0">
            <a:off x="7617143" y="2266950"/>
            <a:ext cx="183927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Outbound request</a:t>
            </a:r>
          </a:p>
        </p:txBody>
      </p:sp>
      <p:sp>
        <p:nvSpPr>
          <p:cNvPr id="40" name="outbound-request-subtitle">
            <a:extLst xmlns:a="http://schemas.openxmlformats.org/drawingml/2006/main">
              <a:ext uri="{FF2B5EF4-FFF2-40B4-BE49-F238E27FC236}">
                <a16:creationId xmlns:a16="http://schemas.microsoft.com/office/drawing/2014/main" id="{44091B20-AA65-4F4F-A74F-10887538BAC0}"/>
              </a:ext>
            </a:extLst>
          </p:cNvPr>
          <p:cNvSpPr>
            <a:spLocks xmlns:a="http://schemas.openxmlformats.org/drawingml/2006/main" noGrp="1"/>
          </p:cNvSpPr>
          <p:nvPr/>
        </p:nvSpPr>
        <p:spPr>
          <a:xfrm xmlns:a="http://schemas.openxmlformats.org/drawingml/2006/main" rot="0">
            <a:off x="7617143" y="2486025"/>
            <a:ext cx="1839278" cy="14439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worker → cluster API</a:t>
            </a:r>
          </a:p>
        </p:txBody>
      </p:sp>
      <p:sp>
        <p:nvSpPr>
          <p:cNvPr id="41" name="modeled-cutoff-label">
            <a:extLst xmlns:a="http://schemas.openxmlformats.org/drawingml/2006/main">
              <a:ext uri="{FF2B5EF4-FFF2-40B4-BE49-F238E27FC236}">
                <a16:creationId xmlns:a16="http://schemas.microsoft.com/office/drawing/2014/main" id="{BDCEF4E1-0A44-406E-A1F9-0C8A07B1D090}"/>
              </a:ext>
            </a:extLst>
          </p:cNvPr>
          <p:cNvSpPr>
            <a:spLocks xmlns:a="http://schemas.openxmlformats.org/drawingml/2006/main" noGrp="1"/>
          </p:cNvSpPr>
          <p:nvPr/>
        </p:nvSpPr>
        <p:spPr>
          <a:xfrm xmlns:a="http://schemas.openxmlformats.org/drawingml/2006/main" rot="0">
            <a:off x="7736205" y="3268599"/>
            <a:ext cx="1601153" cy="2733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69AEF5"/>
                </a:solidFill>
              </a:defRPr>
            </a:pPr>
            <a:r>
              <a:rPr sz="750" b="1">
                <a:solidFill>
                  <a:srgbClr val="69AEF5"/>
                </a:solidFill>
              </a:rPr>
              <a:t>MODELED KIL CUTOFF</a:t>
            </a:r>
          </a:p>
        </p:txBody>
      </p:sp>
      <p:sp>
        <p:nvSpPr>
          <p:cNvPr id="42" name="lab-boundary-note">
            <a:extLst xmlns:a="http://schemas.openxmlformats.org/drawingml/2006/main">
              <a:ext uri="{FF2B5EF4-FFF2-40B4-BE49-F238E27FC236}">
                <a16:creationId xmlns:a16="http://schemas.microsoft.com/office/drawing/2014/main" id="{B282E6EE-A3F9-4DE4-BD88-BCA565ACDF05}"/>
              </a:ext>
            </a:extLst>
          </p:cNvPr>
          <p:cNvSpPr>
            <a:spLocks xmlns:a="http://schemas.openxmlformats.org/drawingml/2006/main" noGrp="1"/>
          </p:cNvSpPr>
          <p:nvPr/>
        </p:nvSpPr>
        <p:spPr>
          <a:xfrm xmlns:a="http://schemas.openxmlformats.org/drawingml/2006/main" rot="0">
            <a:off x="3088958" y="4729163"/>
            <a:ext cx="6014085"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The Envoy lab does not claim to mediate the original local file or parser event.</a:t>
            </a:r>
          </a:p>
        </p:txBody>
      </p:sp>
    </p:spTree>
    <p:extLst>
      <p:ext uri="{BB962C8B-B14F-4D97-AF65-F5344CB8AC3E}">
        <p14:creationId xmlns:p14="http://schemas.microsoft.com/office/powerpoint/2010/main" val="1556197555"/>
      </p:ext>
    </p:extLst>
  </p:cSld>
</p:sld>
</file>

<file path=ppt/slides/slide7.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53" name="header-eyebrow">
            <a:extLst xmlns:a="http://schemas.openxmlformats.org/drawingml/2006/main">
              <a:ext uri="{FF2B5EF4-FFF2-40B4-BE49-F238E27FC236}">
                <a16:creationId xmlns:a16="http://schemas.microsoft.com/office/drawing/2014/main" id="{1F7E1BC6-A650-402B-BF2E-48688A1F1E22}"/>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7F3BE13A-4756-4B76-80E6-6B4A1BADF64A}"/>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Modeled counterfactual   Case study 3 of 8   Waiting for presenter</a:t>
            </a:r>
          </a:p>
        </p:txBody>
      </p:sp>
      <p:sp>
        <p:nvSpPr>
          <p:cNvPr id="3" name="scene-title">
            <a:extLst xmlns:a="http://schemas.openxmlformats.org/drawingml/2006/main">
              <a:ext uri="{FF2B5EF4-FFF2-40B4-BE49-F238E27FC236}">
                <a16:creationId xmlns:a16="http://schemas.microsoft.com/office/drawing/2014/main" id="{CB890C73-AE8E-49CB-9332-708A4FC3C357}"/>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The first mediated divergence</a:t>
            </a:r>
          </a:p>
        </p:txBody>
      </p:sp>
      <p:sp>
        <p:nvSpPr>
          <p:cNvPr id="4" name="nav-act-primer">
            <a:extLst xmlns:a="http://schemas.openxmlformats.org/drawingml/2006/main">
              <a:ext uri="{FF2B5EF4-FFF2-40B4-BE49-F238E27FC236}">
                <a16:creationId xmlns:a16="http://schemas.microsoft.com/office/drawing/2014/main" id="{32B5508F-3429-4CF4-B345-815D9D9614DB}"/>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E95E9C10-16C9-430A-A0DC-C22E2C1F4395}"/>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938F109A-CA57-4425-989D-76B803256E11}"/>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D6737E70-D038-425A-90EB-B4E85DA0DFCB}"/>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7D4D25C0-823A-4313-8CAF-CF0721E58853}"/>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60C8FBB3-50D9-4193-8061-B969EF37AB24}"/>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3E1A177F-0B1E-4885-928F-0FDA9C83771D}"/>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6C80E11C-3CE8-4940-835E-E39CFAE90C1F}"/>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D5BA086C-9CAB-4981-8FA4-66AE04AB9610}"/>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3" name="nav-scene-3-label">
            <a:extLst xmlns:a="http://schemas.openxmlformats.org/drawingml/2006/main">
              <a:ext uri="{FF2B5EF4-FFF2-40B4-BE49-F238E27FC236}">
                <a16:creationId xmlns:a16="http://schemas.microsoft.com/office/drawing/2014/main" id="{64458E0A-4DFA-438B-9C94-01BA4F1E9B17}"/>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3</a:t>
            </a:r>
          </a:p>
        </p:txBody>
      </p:sp>
      <p:sp>
        <p:nvSpPr>
          <p:cNvPr id="14" name="nav-scene-4">
            <a:extLst xmlns:a="http://schemas.openxmlformats.org/drawingml/2006/main">
              <a:ext uri="{FF2B5EF4-FFF2-40B4-BE49-F238E27FC236}">
                <a16:creationId xmlns:a16="http://schemas.microsoft.com/office/drawing/2014/main" id="{3DD61E4C-921E-4672-AC6A-10DC7EA18D6C}"/>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E10F1CBA-833E-4578-906D-E6EF151F5D21}"/>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54E17591-DFF4-470D-961F-8402BBDD2434}"/>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189AB58B-15AF-40C0-99D9-4D1676AD96F5}"/>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F059A10C-70BC-41F2-96DD-5BD0718E8ED8}"/>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5110C2B9-630B-4F81-8FBE-2678A650E2AF}"/>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D5C76B78-3ECC-42C9-81B3-09A399AE986D}"/>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9C4E5A4C-431D-4E6C-B576-53D92C1CFB6C}"/>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32021A87-D790-44B4-8B45-FD5870EBC1C7}"/>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1FE98D5F-7F1F-4550-8418-445BD03A234D}"/>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3949DA25-80CD-4740-8A88-965CA9744A77}"/>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7DD8AA6A-99F3-469A-BA3F-1973150FB97D}"/>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Modeled divergence reduces authority before the first Kubernetes control-plane call is forwarded.</a:t>
            </a:r>
          </a:p>
        </p:txBody>
      </p:sp>
      <p:sp>
        <p:nvSpPr>
          <p:cNvPr id="26" name="source-rail">
            <a:extLst xmlns:a="http://schemas.openxmlformats.org/drawingml/2006/main">
              <a:ext uri="{FF2B5EF4-FFF2-40B4-BE49-F238E27FC236}">
                <a16:creationId xmlns:a16="http://schemas.microsoft.com/office/drawing/2014/main" id="{26B7BD38-D27F-4DCE-A114-01EB2786B44F}"/>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A356701A-B48B-4452-BB61-DC1EADF21DE0}"/>
              </a:ext>
            </a:extLst>
          </p:cNvPr>
          <p:cNvSpPr>
            <a:spLocks xmlns:a="http://schemas.openxmlformats.org/drawingml/2006/main" noGrp="1"/>
          </p:cNvSpPr>
          <p:nvPr/>
        </p:nvSpPr>
        <p:spPr>
          <a:xfrm xmlns:a="http://schemas.openxmlformats.org/drawingml/2006/main" rot="0">
            <a:off x="2542223" y="1612773"/>
            <a:ext cx="484251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ACTUAL INCIDENT VERSUS KIL COUNTERFACTUAL</a:t>
            </a:r>
          </a:p>
        </p:txBody>
      </p:sp>
      <p:sp>
        <p:nvSpPr>
          <p:cNvPr id="28" name="observed-path-label">
            <a:extLst xmlns:a="http://schemas.openxmlformats.org/drawingml/2006/main">
              <a:ext uri="{FF2B5EF4-FFF2-40B4-BE49-F238E27FC236}">
                <a16:creationId xmlns:a16="http://schemas.microsoft.com/office/drawing/2014/main" id="{9EE69DCC-635A-4232-A53A-615073991421}"/>
              </a:ext>
            </a:extLst>
          </p:cNvPr>
          <p:cNvSpPr>
            <a:spLocks xmlns:a="http://schemas.openxmlformats.org/drawingml/2006/main" noGrp="1"/>
          </p:cNvSpPr>
          <p:nvPr/>
        </p:nvSpPr>
        <p:spPr>
          <a:xfrm xmlns:a="http://schemas.openxmlformats.org/drawingml/2006/main" rot="0">
            <a:off x="2620328" y="2229803"/>
            <a:ext cx="117157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EDF4FA"/>
                </a:solidFill>
              </a:defRPr>
            </a:pPr>
            <a:r>
              <a:rPr sz="975" b="1">
                <a:solidFill>
                  <a:srgbClr val="EDF4FA"/>
                </a:solidFill>
              </a:rPr>
              <a:t>Observed path</a:t>
            </a:r>
          </a:p>
        </p:txBody>
      </p:sp>
      <p:sp>
        <p:nvSpPr>
          <p:cNvPr id="29" name="observed-path-line">
            <a:extLst xmlns:a="http://schemas.openxmlformats.org/drawingml/2006/main">
              <a:ext uri="{FF2B5EF4-FFF2-40B4-BE49-F238E27FC236}">
                <a16:creationId xmlns:a16="http://schemas.microsoft.com/office/drawing/2014/main" id="{52E60391-2228-48D1-83D8-71FF9FC5C3BB}"/>
              </a:ext>
            </a:extLst>
          </p:cNvPr>
          <p:cNvSpPr>
            <a:spLocks xmlns:a="http://schemas.openxmlformats.org/drawingml/2006/main" noGrp="1"/>
          </p:cNvSpPr>
          <p:nvPr/>
        </p:nvSpPr>
        <p:spPr>
          <a:xfrm xmlns:a="http://schemas.openxmlformats.org/drawingml/2006/main" flipH="0" flipV="0">
            <a:off x="3791903" y="2315718"/>
            <a:ext cx="5584508" cy="0"/>
          </a:xfrm>
          <a:prstGeom xmlns:a="http://schemas.openxmlformats.org/drawingml/2006/main" prst="line">
            <a:avLst/>
          </a:prstGeom>
          <a:noFill xmlns:a="http://schemas.openxmlformats.org/drawingml/2006/main"/>
          <a:ln xmlns:a="http://schemas.openxmlformats.org/drawingml/2006/main" w="33338">
            <a:solidFill>
              <a:srgbClr val="FF766C"/>
            </a:solidFill>
            <a:prstDash val="solid"/>
          </a:ln>
        </p:spPr>
      </p:sp>
      <p:sp>
        <p:nvSpPr>
          <p:cNvPr id="30" name="observed-path-head">
            <a:extLst xmlns:a="http://schemas.openxmlformats.org/drawingml/2006/main">
              <a:ext uri="{FF2B5EF4-FFF2-40B4-BE49-F238E27FC236}">
                <a16:creationId xmlns:a16="http://schemas.microsoft.com/office/drawing/2014/main" id="{183FA5D3-1914-46FF-BF68-8A6F2E10093A}"/>
              </a:ext>
            </a:extLst>
          </p:cNvPr>
          <p:cNvSpPr>
            <a:spLocks xmlns:a="http://schemas.openxmlformats.org/drawingml/2006/main" noGrp="1"/>
          </p:cNvSpPr>
          <p:nvPr/>
        </p:nvSpPr>
        <p:spPr>
          <a:xfrm xmlns:a="http://schemas.openxmlformats.org/drawingml/2006/main" rot="5400000">
            <a:off x="9328785" y="2268093"/>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1" name="observed-path-caption">
            <a:extLst xmlns:a="http://schemas.openxmlformats.org/drawingml/2006/main">
              <a:ext uri="{FF2B5EF4-FFF2-40B4-BE49-F238E27FC236}">
                <a16:creationId xmlns:a16="http://schemas.microsoft.com/office/drawing/2014/main" id="{51244B57-1355-4837-85EB-C1C79F64B14A}"/>
              </a:ext>
            </a:extLst>
          </p:cNvPr>
          <p:cNvSpPr>
            <a:spLocks xmlns:a="http://schemas.openxmlformats.org/drawingml/2006/main" noGrp="1"/>
          </p:cNvSpPr>
          <p:nvPr/>
        </p:nvSpPr>
        <p:spPr>
          <a:xfrm xmlns:a="http://schemas.openxmlformats.org/drawingml/2006/main" rot="0">
            <a:off x="4377690" y="1972056"/>
            <a:ext cx="437388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control plane → cloud → node → secrets → downstream branches</a:t>
            </a:r>
          </a:p>
        </p:txBody>
      </p:sp>
      <p:sp>
        <p:nvSpPr>
          <p:cNvPr id="32" name="kil-path-label">
            <a:extLst xmlns:a="http://schemas.openxmlformats.org/drawingml/2006/main">
              <a:ext uri="{FF2B5EF4-FFF2-40B4-BE49-F238E27FC236}">
                <a16:creationId xmlns:a16="http://schemas.microsoft.com/office/drawing/2014/main" id="{878DDE2A-8329-4A92-8072-B6BE9995C636}"/>
              </a:ext>
            </a:extLst>
          </p:cNvPr>
          <p:cNvSpPr>
            <a:spLocks xmlns:a="http://schemas.openxmlformats.org/drawingml/2006/main" noGrp="1"/>
          </p:cNvSpPr>
          <p:nvPr/>
        </p:nvSpPr>
        <p:spPr>
          <a:xfrm xmlns:a="http://schemas.openxmlformats.org/drawingml/2006/main" rot="0">
            <a:off x="2620328" y="3463861"/>
            <a:ext cx="1171575"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EDF4FA"/>
                </a:solidFill>
              </a:defRPr>
            </a:pPr>
            <a:r>
              <a:rPr sz="975" b="1">
                <a:solidFill>
                  <a:srgbClr val="EDF4FA"/>
                </a:solidFill>
              </a:rPr>
              <a:t>KIL path</a:t>
            </a:r>
          </a:p>
        </p:txBody>
      </p:sp>
      <p:sp>
        <p:nvSpPr>
          <p:cNvPr id="33" name="kil-path-line">
            <a:extLst xmlns:a="http://schemas.openxmlformats.org/drawingml/2006/main">
              <a:ext uri="{FF2B5EF4-FFF2-40B4-BE49-F238E27FC236}">
                <a16:creationId xmlns:a16="http://schemas.microsoft.com/office/drawing/2014/main" id="{256D9069-66E7-4B81-AB64-0206B9416DE6}"/>
              </a:ext>
            </a:extLst>
          </p:cNvPr>
          <p:cNvSpPr>
            <a:spLocks xmlns:a="http://schemas.openxmlformats.org/drawingml/2006/main" noGrp="1"/>
          </p:cNvSpPr>
          <p:nvPr/>
        </p:nvSpPr>
        <p:spPr>
          <a:xfrm xmlns:a="http://schemas.openxmlformats.org/drawingml/2006/main" flipH="0" flipV="0">
            <a:off x="3791903" y="3549777"/>
            <a:ext cx="1757363" cy="0"/>
          </a:xfrm>
          <a:prstGeom xmlns:a="http://schemas.openxmlformats.org/drawingml/2006/main" prst="line">
            <a:avLst/>
          </a:prstGeom>
          <a:noFill xmlns:a="http://schemas.openxmlformats.org/drawingml/2006/main"/>
          <a:ln xmlns:a="http://schemas.openxmlformats.org/drawingml/2006/main" w="33338">
            <a:solidFill>
              <a:srgbClr val="69AEF5"/>
            </a:solidFill>
            <a:prstDash val="solid"/>
          </a:ln>
        </p:spPr>
      </p:sp>
      <p:sp>
        <p:nvSpPr>
          <p:cNvPr id="34" name="kil-path-head">
            <a:extLst xmlns:a="http://schemas.openxmlformats.org/drawingml/2006/main">
              <a:ext uri="{FF2B5EF4-FFF2-40B4-BE49-F238E27FC236}">
                <a16:creationId xmlns:a16="http://schemas.microsoft.com/office/drawing/2014/main" id="{32DE312B-779F-4E0C-9819-92B1F5BFFE92}"/>
              </a:ext>
            </a:extLst>
          </p:cNvPr>
          <p:cNvSpPr>
            <a:spLocks xmlns:a="http://schemas.openxmlformats.org/drawingml/2006/main" noGrp="1"/>
          </p:cNvSpPr>
          <p:nvPr/>
        </p:nvSpPr>
        <p:spPr>
          <a:xfrm xmlns:a="http://schemas.openxmlformats.org/drawingml/2006/main" rot="5400000">
            <a:off x="5501640" y="3502152"/>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35" name="cutoff-boundary">
            <a:extLst xmlns:a="http://schemas.openxmlformats.org/drawingml/2006/main">
              <a:ext uri="{FF2B5EF4-FFF2-40B4-BE49-F238E27FC236}">
                <a16:creationId xmlns:a16="http://schemas.microsoft.com/office/drawing/2014/main" id="{1A84614F-193C-41DD-9300-9E156BFDAFEB}"/>
              </a:ext>
            </a:extLst>
          </p:cNvPr>
          <p:cNvSpPr>
            <a:spLocks xmlns:a="http://schemas.openxmlformats.org/drawingml/2006/main" noGrp="1"/>
          </p:cNvSpPr>
          <p:nvPr/>
        </p:nvSpPr>
        <p:spPr>
          <a:xfrm xmlns:a="http://schemas.openxmlformats.org/drawingml/2006/main" rot="0">
            <a:off x="5549265" y="3010853"/>
            <a:ext cx="281178" cy="1132523"/>
          </a:xfrm>
          <a:prstGeom xmlns:a="http://schemas.openxmlformats.org/drawingml/2006/main" prst="roundRect">
            <a:avLst>
              <a:gd name="adj" fmla="val 16938"/>
            </a:avLst>
          </a:prstGeom>
          <a:solidFill xmlns:a="http://schemas.openxmlformats.org/drawingml/2006/main">
            <a:srgbClr val="69AEF5"/>
          </a:solidFill>
          <a:ln xmlns:a="http://schemas.openxmlformats.org/drawingml/2006/main" w="0">
            <a:solidFill>
              <a:srgbClr val="69AEF5"/>
            </a:solidFill>
            <a:prstDash val="solid"/>
          </a:ln>
        </p:spPr>
      </p:sp>
      <p:sp>
        <p:nvSpPr>
          <p:cNvPr id="36" name="cutoff-boundary-label">
            <a:extLst xmlns:a="http://schemas.openxmlformats.org/drawingml/2006/main">
              <a:ext uri="{FF2B5EF4-FFF2-40B4-BE49-F238E27FC236}">
                <a16:creationId xmlns:a16="http://schemas.microsoft.com/office/drawing/2014/main" id="{66CED104-553C-44D1-8435-6064190A2169}"/>
              </a:ext>
            </a:extLst>
          </p:cNvPr>
          <p:cNvSpPr>
            <a:spLocks xmlns:a="http://schemas.openxmlformats.org/drawingml/2006/main" noGrp="1"/>
          </p:cNvSpPr>
          <p:nvPr/>
        </p:nvSpPr>
        <p:spPr>
          <a:xfrm xmlns:a="http://schemas.openxmlformats.org/drawingml/2006/main" rot="0">
            <a:off x="4986909" y="4190238"/>
            <a:ext cx="140589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infrastructure boundary</a:t>
            </a:r>
          </a:p>
        </p:txBody>
      </p:sp>
      <p:sp>
        <p:nvSpPr>
          <p:cNvPr id="37" name="divergence-score-frame">
            <a:extLst xmlns:a="http://schemas.openxmlformats.org/drawingml/2006/main">
              <a:ext uri="{FF2B5EF4-FFF2-40B4-BE49-F238E27FC236}">
                <a16:creationId xmlns:a16="http://schemas.microsoft.com/office/drawing/2014/main" id="{0F035F76-B1E9-4C44-ADEF-FEBC618440C9}"/>
              </a:ext>
            </a:extLst>
          </p:cNvPr>
          <p:cNvSpPr>
            <a:spLocks xmlns:a="http://schemas.openxmlformats.org/drawingml/2006/main" noGrp="1"/>
          </p:cNvSpPr>
          <p:nvPr/>
        </p:nvSpPr>
        <p:spPr>
          <a:xfrm xmlns:a="http://schemas.openxmlformats.org/drawingml/2006/main" rot="0">
            <a:off x="4065270" y="3830955"/>
            <a:ext cx="1327785" cy="453009"/>
          </a:xfrm>
          <a:prstGeom xmlns:a="http://schemas.openxmlformats.org/drawingml/2006/main" prst="roundRect">
            <a:avLst>
              <a:gd name="adj" fmla="val 16821"/>
            </a:avLst>
          </a:prstGeom>
          <a:solidFill xmlns:a="http://schemas.openxmlformats.org/drawingml/2006/main">
            <a:srgbClr val="10151C"/>
          </a:solidFill>
          <a:ln xmlns:a="http://schemas.openxmlformats.org/drawingml/2006/main" w="13335">
            <a:solidFill>
              <a:srgbClr val="40505D"/>
            </a:solidFill>
            <a:prstDash val="solid"/>
          </a:ln>
        </p:spPr>
      </p:sp>
      <p:sp>
        <p:nvSpPr>
          <p:cNvPr id="38" name="divergence-score-title">
            <a:extLst xmlns:a="http://schemas.openxmlformats.org/drawingml/2006/main">
              <a:ext uri="{FF2B5EF4-FFF2-40B4-BE49-F238E27FC236}">
                <a16:creationId xmlns:a16="http://schemas.microsoft.com/office/drawing/2014/main" id="{FDD6EBE9-BEC9-413E-B992-DC7FB65D05B9}"/>
              </a:ext>
            </a:extLst>
          </p:cNvPr>
          <p:cNvSpPr>
            <a:spLocks xmlns:a="http://schemas.openxmlformats.org/drawingml/2006/main" noGrp="1"/>
          </p:cNvSpPr>
          <p:nvPr/>
        </p:nvSpPr>
        <p:spPr>
          <a:xfrm xmlns:a="http://schemas.openxmlformats.org/drawingml/2006/main" rot="0">
            <a:off x="4141470" y="3907155"/>
            <a:ext cx="1175385" cy="30060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0.95 modeled</a:t>
            </a:r>
          </a:p>
        </p:txBody>
      </p:sp>
      <p:sp>
        <p:nvSpPr>
          <p:cNvPr id="39" name="conditional-rail">
            <a:extLst xmlns:a="http://schemas.openxmlformats.org/drawingml/2006/main">
              <a:ext uri="{FF2B5EF4-FFF2-40B4-BE49-F238E27FC236}">
                <a16:creationId xmlns:a16="http://schemas.microsoft.com/office/drawing/2014/main" id="{CFD2BC1F-4668-4420-B57E-7E2415324BD3}"/>
              </a:ext>
            </a:extLst>
          </p:cNvPr>
          <p:cNvSpPr>
            <a:spLocks xmlns:a="http://schemas.openxmlformats.org/drawingml/2006/main" noGrp="1"/>
          </p:cNvSpPr>
          <p:nvPr/>
        </p:nvSpPr>
        <p:spPr>
          <a:xfrm xmlns:a="http://schemas.openxmlformats.org/drawingml/2006/main" flipH="0" flipV="0">
            <a:off x="5830443" y="3549777"/>
            <a:ext cx="3545967" cy="0"/>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40" name="conditional-cloud-frame">
            <a:extLst xmlns:a="http://schemas.openxmlformats.org/drawingml/2006/main">
              <a:ext uri="{FF2B5EF4-FFF2-40B4-BE49-F238E27FC236}">
                <a16:creationId xmlns:a16="http://schemas.microsoft.com/office/drawing/2014/main" id="{2A71FF3C-6D24-472E-A823-0378AC62891D}"/>
              </a:ext>
            </a:extLst>
          </p:cNvPr>
          <p:cNvSpPr>
            <a:spLocks xmlns:a="http://schemas.openxmlformats.org/drawingml/2006/main" noGrp="1"/>
          </p:cNvSpPr>
          <p:nvPr/>
        </p:nvSpPr>
        <p:spPr>
          <a:xfrm xmlns:a="http://schemas.openxmlformats.org/drawingml/2006/main" rot="0">
            <a:off x="6252210" y="3112389"/>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41" name="conditional-cloud-number-dot">
            <a:extLst xmlns:a="http://schemas.openxmlformats.org/drawingml/2006/main">
              <a:ext uri="{FF2B5EF4-FFF2-40B4-BE49-F238E27FC236}">
                <a16:creationId xmlns:a16="http://schemas.microsoft.com/office/drawing/2014/main" id="{5E7F203A-1C5E-4F1E-9212-E2B5D00A09F4}"/>
              </a:ext>
            </a:extLst>
          </p:cNvPr>
          <p:cNvSpPr>
            <a:spLocks xmlns:a="http://schemas.openxmlformats.org/drawingml/2006/main" noGrp="1"/>
          </p:cNvSpPr>
          <p:nvPr/>
        </p:nvSpPr>
        <p:spPr>
          <a:xfrm xmlns:a="http://schemas.openxmlformats.org/drawingml/2006/main" rot="0">
            <a:off x="6318885" y="3179064"/>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42" name="conditional-cloud-number">
            <a:extLst xmlns:a="http://schemas.openxmlformats.org/drawingml/2006/main">
              <a:ext uri="{FF2B5EF4-FFF2-40B4-BE49-F238E27FC236}">
                <a16:creationId xmlns:a16="http://schemas.microsoft.com/office/drawing/2014/main" id="{CAADE7BA-D3CC-46D3-BFDF-633C8C726F10}"/>
              </a:ext>
            </a:extLst>
          </p:cNvPr>
          <p:cNvSpPr>
            <a:spLocks xmlns:a="http://schemas.openxmlformats.org/drawingml/2006/main" noGrp="1"/>
          </p:cNvSpPr>
          <p:nvPr/>
        </p:nvSpPr>
        <p:spPr>
          <a:xfrm xmlns:a="http://schemas.openxmlformats.org/drawingml/2006/main" rot="0">
            <a:off x="6318885" y="317906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2</a:t>
            </a:r>
          </a:p>
        </p:txBody>
      </p:sp>
      <p:sp>
        <p:nvSpPr>
          <p:cNvPr id="43" name="conditional-cloud-label">
            <a:extLst xmlns:a="http://schemas.openxmlformats.org/drawingml/2006/main">
              <a:ext uri="{FF2B5EF4-FFF2-40B4-BE49-F238E27FC236}">
                <a16:creationId xmlns:a16="http://schemas.microsoft.com/office/drawing/2014/main" id="{0C3605FA-DAD7-4CD3-8E28-0B739221804B}"/>
              </a:ext>
            </a:extLst>
          </p:cNvPr>
          <p:cNvSpPr>
            <a:spLocks xmlns:a="http://schemas.openxmlformats.org/drawingml/2006/main" noGrp="1"/>
          </p:cNvSpPr>
          <p:nvPr/>
        </p:nvSpPr>
        <p:spPr>
          <a:xfrm xmlns:a="http://schemas.openxmlformats.org/drawingml/2006/main" rot="0">
            <a:off x="6461760" y="3340989"/>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Cloud</a:t>
            </a:r>
          </a:p>
          <a:p xmlns:a="http://schemas.openxmlformats.org/drawingml/2006/main">
            <a:pPr algn="ctr">
              <a:defRPr sz="675" b="0">
                <a:solidFill>
                  <a:srgbClr val="AAB9C5"/>
                </a:solidFill>
              </a:defRPr>
            </a:pPr>
            <a:r>
              <a:rPr sz="675" b="0">
                <a:solidFill>
                  <a:srgbClr val="AAB9C5"/>
                </a:solidFill>
              </a:rPr>
              <a:t>map</a:t>
            </a:r>
          </a:p>
        </p:txBody>
      </p:sp>
      <p:sp>
        <p:nvSpPr>
          <p:cNvPr id="44" name="conditional-node-frame">
            <a:extLst xmlns:a="http://schemas.openxmlformats.org/drawingml/2006/main">
              <a:ext uri="{FF2B5EF4-FFF2-40B4-BE49-F238E27FC236}">
                <a16:creationId xmlns:a16="http://schemas.microsoft.com/office/drawing/2014/main" id="{3D33C48B-C886-4606-A318-7657928CEFDE}"/>
              </a:ext>
            </a:extLst>
          </p:cNvPr>
          <p:cNvSpPr>
            <a:spLocks xmlns:a="http://schemas.openxmlformats.org/drawingml/2006/main" noGrp="1"/>
          </p:cNvSpPr>
          <p:nvPr/>
        </p:nvSpPr>
        <p:spPr>
          <a:xfrm xmlns:a="http://schemas.openxmlformats.org/drawingml/2006/main" rot="0">
            <a:off x="7267575" y="3112389"/>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45" name="conditional-node-number-dot">
            <a:extLst xmlns:a="http://schemas.openxmlformats.org/drawingml/2006/main">
              <a:ext uri="{FF2B5EF4-FFF2-40B4-BE49-F238E27FC236}">
                <a16:creationId xmlns:a16="http://schemas.microsoft.com/office/drawing/2014/main" id="{7BFA2580-CF43-4C66-AE53-89AE57202866}"/>
              </a:ext>
            </a:extLst>
          </p:cNvPr>
          <p:cNvSpPr>
            <a:spLocks xmlns:a="http://schemas.openxmlformats.org/drawingml/2006/main" noGrp="1"/>
          </p:cNvSpPr>
          <p:nvPr/>
        </p:nvSpPr>
        <p:spPr>
          <a:xfrm xmlns:a="http://schemas.openxmlformats.org/drawingml/2006/main" rot="0">
            <a:off x="7334250" y="3179064"/>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46" name="conditional-node-number">
            <a:extLst xmlns:a="http://schemas.openxmlformats.org/drawingml/2006/main">
              <a:ext uri="{FF2B5EF4-FFF2-40B4-BE49-F238E27FC236}">
                <a16:creationId xmlns:a16="http://schemas.microsoft.com/office/drawing/2014/main" id="{27D14C24-21F6-414F-983E-08E676630AE4}"/>
              </a:ext>
            </a:extLst>
          </p:cNvPr>
          <p:cNvSpPr>
            <a:spLocks xmlns:a="http://schemas.openxmlformats.org/drawingml/2006/main" noGrp="1"/>
          </p:cNvSpPr>
          <p:nvPr/>
        </p:nvSpPr>
        <p:spPr>
          <a:xfrm xmlns:a="http://schemas.openxmlformats.org/drawingml/2006/main" rot="0">
            <a:off x="7334250" y="317906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3</a:t>
            </a:r>
          </a:p>
        </p:txBody>
      </p:sp>
      <p:sp>
        <p:nvSpPr>
          <p:cNvPr id="47" name="conditional-node-label">
            <a:extLst xmlns:a="http://schemas.openxmlformats.org/drawingml/2006/main">
              <a:ext uri="{FF2B5EF4-FFF2-40B4-BE49-F238E27FC236}">
                <a16:creationId xmlns:a16="http://schemas.microsoft.com/office/drawing/2014/main" id="{1551CA7D-8627-4BB8-8B9E-C66945D10302}"/>
              </a:ext>
            </a:extLst>
          </p:cNvPr>
          <p:cNvSpPr>
            <a:spLocks xmlns:a="http://schemas.openxmlformats.org/drawingml/2006/main" noGrp="1"/>
          </p:cNvSpPr>
          <p:nvPr/>
        </p:nvSpPr>
        <p:spPr>
          <a:xfrm xmlns:a="http://schemas.openxmlformats.org/drawingml/2006/main" rot="0">
            <a:off x="7477125" y="3340989"/>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Node</a:t>
            </a:r>
          </a:p>
          <a:p xmlns:a="http://schemas.openxmlformats.org/drawingml/2006/main">
            <a:pPr algn="ctr">
              <a:defRPr sz="675" b="0">
                <a:solidFill>
                  <a:srgbClr val="AAB9C5"/>
                </a:solidFill>
              </a:defRPr>
            </a:pPr>
            <a:r>
              <a:rPr sz="675" b="0">
                <a:solidFill>
                  <a:srgbClr val="AAB9C5"/>
                </a:solidFill>
              </a:rPr>
              <a:t>root</a:t>
            </a:r>
          </a:p>
        </p:txBody>
      </p:sp>
      <p:sp>
        <p:nvSpPr>
          <p:cNvPr id="48" name="conditional-secret-frame">
            <a:extLst xmlns:a="http://schemas.openxmlformats.org/drawingml/2006/main">
              <a:ext uri="{FF2B5EF4-FFF2-40B4-BE49-F238E27FC236}">
                <a16:creationId xmlns:a16="http://schemas.microsoft.com/office/drawing/2014/main" id="{16778104-C654-478A-B095-A6931F3D17D1}"/>
              </a:ext>
            </a:extLst>
          </p:cNvPr>
          <p:cNvSpPr>
            <a:spLocks xmlns:a="http://schemas.openxmlformats.org/drawingml/2006/main" noGrp="1"/>
          </p:cNvSpPr>
          <p:nvPr/>
        </p:nvSpPr>
        <p:spPr>
          <a:xfrm xmlns:a="http://schemas.openxmlformats.org/drawingml/2006/main" rot="0">
            <a:off x="8282940" y="3112389"/>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49" name="conditional-secret-number-dot">
            <a:extLst xmlns:a="http://schemas.openxmlformats.org/drawingml/2006/main">
              <a:ext uri="{FF2B5EF4-FFF2-40B4-BE49-F238E27FC236}">
                <a16:creationId xmlns:a16="http://schemas.microsoft.com/office/drawing/2014/main" id="{5D2282BE-0248-450D-A2AF-ED05775D23ED}"/>
              </a:ext>
            </a:extLst>
          </p:cNvPr>
          <p:cNvSpPr>
            <a:spLocks xmlns:a="http://schemas.openxmlformats.org/drawingml/2006/main" noGrp="1"/>
          </p:cNvSpPr>
          <p:nvPr/>
        </p:nvSpPr>
        <p:spPr>
          <a:xfrm xmlns:a="http://schemas.openxmlformats.org/drawingml/2006/main" rot="0">
            <a:off x="8349615" y="3179064"/>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50" name="conditional-secret-number">
            <a:extLst xmlns:a="http://schemas.openxmlformats.org/drawingml/2006/main">
              <a:ext uri="{FF2B5EF4-FFF2-40B4-BE49-F238E27FC236}">
                <a16:creationId xmlns:a16="http://schemas.microsoft.com/office/drawing/2014/main" id="{1CDBE490-B0D0-4A7C-BF49-B0CAF0FD75A0}"/>
              </a:ext>
            </a:extLst>
          </p:cNvPr>
          <p:cNvSpPr>
            <a:spLocks xmlns:a="http://schemas.openxmlformats.org/drawingml/2006/main" noGrp="1"/>
          </p:cNvSpPr>
          <p:nvPr/>
        </p:nvSpPr>
        <p:spPr>
          <a:xfrm xmlns:a="http://schemas.openxmlformats.org/drawingml/2006/main" rot="0">
            <a:off x="8349615" y="3179064"/>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4</a:t>
            </a:r>
          </a:p>
        </p:txBody>
      </p:sp>
      <p:sp>
        <p:nvSpPr>
          <p:cNvPr id="51" name="conditional-secret-label">
            <a:extLst xmlns:a="http://schemas.openxmlformats.org/drawingml/2006/main">
              <a:ext uri="{FF2B5EF4-FFF2-40B4-BE49-F238E27FC236}">
                <a16:creationId xmlns:a16="http://schemas.microsoft.com/office/drawing/2014/main" id="{64D0E72F-19FC-4EF3-BDA2-BC2ED2C47143}"/>
              </a:ext>
            </a:extLst>
          </p:cNvPr>
          <p:cNvSpPr>
            <a:spLocks xmlns:a="http://schemas.openxmlformats.org/drawingml/2006/main" noGrp="1"/>
          </p:cNvSpPr>
          <p:nvPr/>
        </p:nvSpPr>
        <p:spPr>
          <a:xfrm xmlns:a="http://schemas.openxmlformats.org/drawingml/2006/main" rot="0">
            <a:off x="8492490" y="3340989"/>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Secret</a:t>
            </a:r>
          </a:p>
          <a:p xmlns:a="http://schemas.openxmlformats.org/drawingml/2006/main">
            <a:pPr algn="ctr">
              <a:defRPr sz="675" b="0">
                <a:solidFill>
                  <a:srgbClr val="AAB9C5"/>
                </a:solidFill>
              </a:defRPr>
            </a:pPr>
            <a:r>
              <a:rPr sz="675" b="0">
                <a:solidFill>
                  <a:srgbClr val="AAB9C5"/>
                </a:solidFill>
              </a:rPr>
              <a:t>read</a:t>
            </a:r>
          </a:p>
        </p:txBody>
      </p:sp>
      <p:sp>
        <p:nvSpPr>
          <p:cNvPr id="52" name="conditional-label">
            <a:extLst xmlns:a="http://schemas.openxmlformats.org/drawingml/2006/main">
              <a:ext uri="{FF2B5EF4-FFF2-40B4-BE49-F238E27FC236}">
                <a16:creationId xmlns:a16="http://schemas.microsoft.com/office/drawing/2014/main" id="{A051D95A-F206-4FA7-82AD-3CCF1EE3DB71}"/>
              </a:ext>
            </a:extLst>
          </p:cNvPr>
          <p:cNvSpPr>
            <a:spLocks xmlns:a="http://schemas.openxmlformats.org/drawingml/2006/main" noGrp="1"/>
          </p:cNvSpPr>
          <p:nvPr/>
        </p:nvSpPr>
        <p:spPr>
          <a:xfrm xmlns:a="http://schemas.openxmlformats.org/drawingml/2006/main" rot="0">
            <a:off x="6252210" y="4690110"/>
            <a:ext cx="2811780"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Conditionally unreachable</a:t>
            </a:r>
          </a:p>
        </p:txBody>
      </p:sp>
    </p:spTree>
    <p:extLst>
      <p:ext uri="{BB962C8B-B14F-4D97-AF65-F5344CB8AC3E}">
        <p14:creationId xmlns:p14="http://schemas.microsoft.com/office/powerpoint/2010/main" val="1294627737"/>
      </p:ext>
    </p:extLst>
  </p:cSld>
</p:sld>
</file>

<file path=ppt/slides/slide8.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73" name="header-eyebrow">
            <a:extLst xmlns:a="http://schemas.openxmlformats.org/drawingml/2006/main">
              <a:ext uri="{FF2B5EF4-FFF2-40B4-BE49-F238E27FC236}">
                <a16:creationId xmlns:a16="http://schemas.microsoft.com/office/drawing/2014/main" id="{E2BBFB52-1FB9-4A79-93D4-2BFB39788C94}"/>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6A4F0DD4-5E5A-45DA-BACD-55ECE93FFA82}"/>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Observed incident · modeled reachability   Case study 4 of 8   Waiting for presenter</a:t>
            </a:r>
          </a:p>
        </p:txBody>
      </p:sp>
      <p:sp>
        <p:nvSpPr>
          <p:cNvPr id="3" name="scene-title">
            <a:extLst xmlns:a="http://schemas.openxmlformats.org/drawingml/2006/main">
              <a:ext uri="{FF2B5EF4-FFF2-40B4-BE49-F238E27FC236}">
                <a16:creationId xmlns:a16="http://schemas.microsoft.com/office/drawing/2014/main" id="{80FD6DA0-3FB1-48CB-936B-E0FA03F4BFB0}"/>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One credential path becomes a cascade</a:t>
            </a:r>
          </a:p>
        </p:txBody>
      </p:sp>
      <p:sp>
        <p:nvSpPr>
          <p:cNvPr id="4" name="nav-act-primer">
            <a:extLst xmlns:a="http://schemas.openxmlformats.org/drawingml/2006/main">
              <a:ext uri="{FF2B5EF4-FFF2-40B4-BE49-F238E27FC236}">
                <a16:creationId xmlns:a16="http://schemas.microsoft.com/office/drawing/2014/main" id="{3CB4861D-8894-4589-92B0-171664AF8644}"/>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DA2E991D-E42D-4B90-B03A-C24898078188}"/>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75FF740D-604E-4A70-9618-F5505DE610D2}"/>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47F9FB92-B9EB-4389-8B27-144FA4F33D19}"/>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1EFD005B-4AAF-4A88-A0D2-0E0DC5363EF0}"/>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3F080FC6-DE80-4CB2-8F2B-07865E8120A0}"/>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9957FF5C-D550-4497-A442-4B222E540378}"/>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2E6A7737-6DCF-4E4A-9205-6ABA31C67652}"/>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D84698B4-72D1-4DFA-B8FB-BD898ABB0379}"/>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786F604B-DC36-4FE7-9A59-17CE4E8659DA}"/>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3CC2A538-45A3-4F54-B1AA-068616650CA4}"/>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5" name="nav-scene-4-label">
            <a:extLst xmlns:a="http://schemas.openxmlformats.org/drawingml/2006/main">
              <a:ext uri="{FF2B5EF4-FFF2-40B4-BE49-F238E27FC236}">
                <a16:creationId xmlns:a16="http://schemas.microsoft.com/office/drawing/2014/main" id="{5CAE2A7B-44D5-4109-BE71-9C3AD7789EAF}"/>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4</a:t>
            </a:r>
          </a:p>
        </p:txBody>
      </p:sp>
      <p:sp>
        <p:nvSpPr>
          <p:cNvPr id="16" name="nav-scene-5">
            <a:extLst xmlns:a="http://schemas.openxmlformats.org/drawingml/2006/main">
              <a:ext uri="{FF2B5EF4-FFF2-40B4-BE49-F238E27FC236}">
                <a16:creationId xmlns:a16="http://schemas.microsoft.com/office/drawing/2014/main" id="{12B0FAFF-5618-4EE6-8133-B3F6BCBDE437}"/>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970F4BAB-71FB-4A82-9459-461354562635}"/>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8BCC91CD-4848-46EB-8E43-F5AACA3BBE19}"/>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A2C93845-247A-4790-9311-522DB1AAA9F5}"/>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A651E13F-7843-40FF-8CCF-35334307819A}"/>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772A5B4B-3A76-4718-BCE3-928664AFA466}"/>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7D990423-E0C9-4A82-A9E5-8C4D07F6B5F3}"/>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5902AFC6-22CC-47F5-88BB-CA809ECB822F}"/>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9FFFD222-7384-4059-B4FB-2AAC3BB909E5}"/>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8AF2FFF3-B918-42AF-ADE4-89DDBB0846BC}"/>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Dependency-aware reachability shows the leverage of an early cutoff without multiplying claims.</a:t>
            </a:r>
          </a:p>
        </p:txBody>
      </p:sp>
      <p:sp>
        <p:nvSpPr>
          <p:cNvPr id="26" name="source-rail">
            <a:extLst xmlns:a="http://schemas.openxmlformats.org/drawingml/2006/main">
              <a:ext uri="{FF2B5EF4-FFF2-40B4-BE49-F238E27FC236}">
                <a16:creationId xmlns:a16="http://schemas.microsoft.com/office/drawing/2014/main" id="{24A2246A-5E59-49A6-BAA6-CBCE09CBE884}"/>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6F7834C7-FF87-4BD7-BF10-6114C55F5453}"/>
              </a:ext>
            </a:extLst>
          </p:cNvPr>
          <p:cNvSpPr>
            <a:spLocks xmlns:a="http://schemas.openxmlformats.org/drawingml/2006/main" noGrp="1"/>
          </p:cNvSpPr>
          <p:nvPr/>
        </p:nvSpPr>
        <p:spPr>
          <a:xfrm xmlns:a="http://schemas.openxmlformats.org/drawingml/2006/main" rot="0">
            <a:off x="2542223" y="1612773"/>
            <a:ext cx="523303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PERSISTENT TOPOLOGY · CLAIMS FOLLOW DEPENDENCY EDGES</a:t>
            </a:r>
          </a:p>
        </p:txBody>
      </p:sp>
      <p:sp>
        <p:nvSpPr>
          <p:cNvPr id="28" name="topology-phase-1-frame">
            <a:extLst xmlns:a="http://schemas.openxmlformats.org/drawingml/2006/main">
              <a:ext uri="{FF2B5EF4-FFF2-40B4-BE49-F238E27FC236}">
                <a16:creationId xmlns:a16="http://schemas.microsoft.com/office/drawing/2014/main" id="{D3C52CF9-7CA2-4B63-B7F6-0111D51A33CD}"/>
              </a:ext>
            </a:extLst>
          </p:cNvPr>
          <p:cNvSpPr>
            <a:spLocks xmlns:a="http://schemas.openxmlformats.org/drawingml/2006/main" noGrp="1"/>
          </p:cNvSpPr>
          <p:nvPr/>
        </p:nvSpPr>
        <p:spPr>
          <a:xfrm xmlns:a="http://schemas.openxmlformats.org/drawingml/2006/main" rot="0">
            <a:off x="2464118" y="285464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29" name="topology-phase-1-number-dot">
            <a:extLst xmlns:a="http://schemas.openxmlformats.org/drawingml/2006/main">
              <a:ext uri="{FF2B5EF4-FFF2-40B4-BE49-F238E27FC236}">
                <a16:creationId xmlns:a16="http://schemas.microsoft.com/office/drawing/2014/main" id="{6A51BABB-0BE6-4996-99F0-0914DBFA09B8}"/>
              </a:ext>
            </a:extLst>
          </p:cNvPr>
          <p:cNvSpPr>
            <a:spLocks xmlns:a="http://schemas.openxmlformats.org/drawingml/2006/main" noGrp="1"/>
          </p:cNvSpPr>
          <p:nvPr/>
        </p:nvSpPr>
        <p:spPr>
          <a:xfrm xmlns:a="http://schemas.openxmlformats.org/drawingml/2006/main" rot="0">
            <a:off x="2530793" y="292131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30" name="topology-phase-1-number">
            <a:extLst xmlns:a="http://schemas.openxmlformats.org/drawingml/2006/main">
              <a:ext uri="{FF2B5EF4-FFF2-40B4-BE49-F238E27FC236}">
                <a16:creationId xmlns:a16="http://schemas.microsoft.com/office/drawing/2014/main" id="{38ACE621-4427-4D8F-B94D-EB9A2C0FFF34}"/>
              </a:ext>
            </a:extLst>
          </p:cNvPr>
          <p:cNvSpPr>
            <a:spLocks xmlns:a="http://schemas.openxmlformats.org/drawingml/2006/main" noGrp="1"/>
          </p:cNvSpPr>
          <p:nvPr/>
        </p:nvSpPr>
        <p:spPr>
          <a:xfrm xmlns:a="http://schemas.openxmlformats.org/drawingml/2006/main" rot="0">
            <a:off x="2530793" y="292131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1</a:t>
            </a:r>
          </a:p>
        </p:txBody>
      </p:sp>
      <p:sp>
        <p:nvSpPr>
          <p:cNvPr id="31" name="topology-phase-1-label">
            <a:extLst xmlns:a="http://schemas.openxmlformats.org/drawingml/2006/main">
              <a:ext uri="{FF2B5EF4-FFF2-40B4-BE49-F238E27FC236}">
                <a16:creationId xmlns:a16="http://schemas.microsoft.com/office/drawing/2014/main" id="{C62355B2-91B4-4279-B82E-7BC4D16DB8D8}"/>
              </a:ext>
            </a:extLst>
          </p:cNvPr>
          <p:cNvSpPr>
            <a:spLocks xmlns:a="http://schemas.openxmlformats.org/drawingml/2006/main" noGrp="1"/>
          </p:cNvSpPr>
          <p:nvPr/>
        </p:nvSpPr>
        <p:spPr>
          <a:xfrm xmlns:a="http://schemas.openxmlformats.org/drawingml/2006/main" rot="0">
            <a:off x="2673668" y="308324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Cluster</a:t>
            </a:r>
          </a:p>
          <a:p xmlns:a="http://schemas.openxmlformats.org/drawingml/2006/main">
            <a:pPr algn="ctr">
              <a:defRPr sz="675" b="0">
                <a:solidFill>
                  <a:srgbClr val="EDF4FA"/>
                </a:solidFill>
              </a:defRPr>
            </a:pPr>
            <a:r>
              <a:rPr sz="675" b="0">
                <a:solidFill>
                  <a:srgbClr val="EDF4FA"/>
                </a:solidFill>
              </a:rPr>
              <a:t>API</a:t>
            </a:r>
          </a:p>
        </p:txBody>
      </p:sp>
      <p:sp>
        <p:nvSpPr>
          <p:cNvPr id="32" name="topology-phase-2-frame">
            <a:extLst xmlns:a="http://schemas.openxmlformats.org/drawingml/2006/main">
              <a:ext uri="{FF2B5EF4-FFF2-40B4-BE49-F238E27FC236}">
                <a16:creationId xmlns:a16="http://schemas.microsoft.com/office/drawing/2014/main" id="{00B8ECA1-24D0-48E6-B98B-A1EEACD0F7BB}"/>
              </a:ext>
            </a:extLst>
          </p:cNvPr>
          <p:cNvSpPr>
            <a:spLocks xmlns:a="http://schemas.openxmlformats.org/drawingml/2006/main" noGrp="1"/>
          </p:cNvSpPr>
          <p:nvPr/>
        </p:nvSpPr>
        <p:spPr>
          <a:xfrm xmlns:a="http://schemas.openxmlformats.org/drawingml/2006/main" rot="0">
            <a:off x="3674745" y="285464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33" name="topology-phase-2-number-dot">
            <a:extLst xmlns:a="http://schemas.openxmlformats.org/drawingml/2006/main">
              <a:ext uri="{FF2B5EF4-FFF2-40B4-BE49-F238E27FC236}">
                <a16:creationId xmlns:a16="http://schemas.microsoft.com/office/drawing/2014/main" id="{FD11A479-0A0B-41EF-A19E-0546D71FD813}"/>
              </a:ext>
            </a:extLst>
          </p:cNvPr>
          <p:cNvSpPr>
            <a:spLocks xmlns:a="http://schemas.openxmlformats.org/drawingml/2006/main" noGrp="1"/>
          </p:cNvSpPr>
          <p:nvPr/>
        </p:nvSpPr>
        <p:spPr>
          <a:xfrm xmlns:a="http://schemas.openxmlformats.org/drawingml/2006/main" rot="0">
            <a:off x="3741420" y="292131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34" name="topology-phase-2-number">
            <a:extLst xmlns:a="http://schemas.openxmlformats.org/drawingml/2006/main">
              <a:ext uri="{FF2B5EF4-FFF2-40B4-BE49-F238E27FC236}">
                <a16:creationId xmlns:a16="http://schemas.microsoft.com/office/drawing/2014/main" id="{4A9EA434-DC0C-420C-8F15-D101267866DE}"/>
              </a:ext>
            </a:extLst>
          </p:cNvPr>
          <p:cNvSpPr>
            <a:spLocks xmlns:a="http://schemas.openxmlformats.org/drawingml/2006/main" noGrp="1"/>
          </p:cNvSpPr>
          <p:nvPr/>
        </p:nvSpPr>
        <p:spPr>
          <a:xfrm xmlns:a="http://schemas.openxmlformats.org/drawingml/2006/main" rot="0">
            <a:off x="3741420" y="292131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2</a:t>
            </a:r>
          </a:p>
        </p:txBody>
      </p:sp>
      <p:sp>
        <p:nvSpPr>
          <p:cNvPr id="35" name="topology-phase-2-label">
            <a:extLst xmlns:a="http://schemas.openxmlformats.org/drawingml/2006/main">
              <a:ext uri="{FF2B5EF4-FFF2-40B4-BE49-F238E27FC236}">
                <a16:creationId xmlns:a16="http://schemas.microsoft.com/office/drawing/2014/main" id="{92818FE9-8D92-4649-852F-E98282A05DB0}"/>
              </a:ext>
            </a:extLst>
          </p:cNvPr>
          <p:cNvSpPr>
            <a:spLocks xmlns:a="http://schemas.openxmlformats.org/drawingml/2006/main" noGrp="1"/>
          </p:cNvSpPr>
          <p:nvPr/>
        </p:nvSpPr>
        <p:spPr>
          <a:xfrm xmlns:a="http://schemas.openxmlformats.org/drawingml/2006/main" rot="0">
            <a:off x="3884295" y="308324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Cloud</a:t>
            </a:r>
          </a:p>
          <a:p xmlns:a="http://schemas.openxmlformats.org/drawingml/2006/main">
            <a:pPr algn="ctr">
              <a:defRPr sz="675" b="0">
                <a:solidFill>
                  <a:srgbClr val="EDF4FA"/>
                </a:solidFill>
              </a:defRPr>
            </a:pPr>
            <a:r>
              <a:rPr sz="675" b="0">
                <a:solidFill>
                  <a:srgbClr val="EDF4FA"/>
                </a:solidFill>
              </a:rPr>
              <a:t>map</a:t>
            </a:r>
          </a:p>
        </p:txBody>
      </p:sp>
      <p:sp>
        <p:nvSpPr>
          <p:cNvPr id="36" name="topology-phase-3-frame">
            <a:extLst xmlns:a="http://schemas.openxmlformats.org/drawingml/2006/main">
              <a:ext uri="{FF2B5EF4-FFF2-40B4-BE49-F238E27FC236}">
                <a16:creationId xmlns:a16="http://schemas.microsoft.com/office/drawing/2014/main" id="{92219B4B-58CC-49BD-8AF9-05FD21E29DD9}"/>
              </a:ext>
            </a:extLst>
          </p:cNvPr>
          <p:cNvSpPr>
            <a:spLocks xmlns:a="http://schemas.openxmlformats.org/drawingml/2006/main" noGrp="1"/>
          </p:cNvSpPr>
          <p:nvPr/>
        </p:nvSpPr>
        <p:spPr>
          <a:xfrm xmlns:a="http://schemas.openxmlformats.org/drawingml/2006/main" rot="0">
            <a:off x="4885373" y="285464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FF766C"/>
            </a:solidFill>
            <a:prstDash val="solid"/>
          </a:ln>
        </p:spPr>
      </p:sp>
      <p:sp>
        <p:nvSpPr>
          <p:cNvPr id="37" name="topology-phase-3-number-dot">
            <a:extLst xmlns:a="http://schemas.openxmlformats.org/drawingml/2006/main">
              <a:ext uri="{FF2B5EF4-FFF2-40B4-BE49-F238E27FC236}">
                <a16:creationId xmlns:a16="http://schemas.microsoft.com/office/drawing/2014/main" id="{BBDB8153-6DC6-445C-953D-A257EE36379B}"/>
              </a:ext>
            </a:extLst>
          </p:cNvPr>
          <p:cNvSpPr>
            <a:spLocks xmlns:a="http://schemas.openxmlformats.org/drawingml/2006/main" noGrp="1"/>
          </p:cNvSpPr>
          <p:nvPr/>
        </p:nvSpPr>
        <p:spPr>
          <a:xfrm xmlns:a="http://schemas.openxmlformats.org/drawingml/2006/main" rot="0">
            <a:off x="4952048" y="2921318"/>
            <a:ext cx="190500" cy="190500"/>
          </a:xfrm>
          <a:prstGeom xmlns:a="http://schemas.openxmlformats.org/drawingml/2006/main" prst="ellipse">
            <a:avLst/>
          </a:prstGeom>
          <a:solidFill xmlns:a="http://schemas.openxmlformats.org/drawingml/2006/main">
            <a:srgbClr val="FF766C"/>
          </a:solidFill>
          <a:ln xmlns:a="http://schemas.openxmlformats.org/drawingml/2006/main" w="0">
            <a:solidFill>
              <a:srgbClr val="FF766C"/>
            </a:solidFill>
            <a:prstDash val="solid"/>
          </a:ln>
        </p:spPr>
      </p:sp>
      <p:sp>
        <p:nvSpPr>
          <p:cNvPr id="38" name="topology-phase-3-number">
            <a:extLst xmlns:a="http://schemas.openxmlformats.org/drawingml/2006/main">
              <a:ext uri="{FF2B5EF4-FFF2-40B4-BE49-F238E27FC236}">
                <a16:creationId xmlns:a16="http://schemas.microsoft.com/office/drawing/2014/main" id="{F0B82347-884F-4571-9034-31A21EEF52FD}"/>
              </a:ext>
            </a:extLst>
          </p:cNvPr>
          <p:cNvSpPr>
            <a:spLocks xmlns:a="http://schemas.openxmlformats.org/drawingml/2006/main" noGrp="1"/>
          </p:cNvSpPr>
          <p:nvPr/>
        </p:nvSpPr>
        <p:spPr>
          <a:xfrm xmlns:a="http://schemas.openxmlformats.org/drawingml/2006/main" rot="0">
            <a:off x="4952048" y="292131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3</a:t>
            </a:r>
          </a:p>
        </p:txBody>
      </p:sp>
      <p:sp>
        <p:nvSpPr>
          <p:cNvPr id="39" name="topology-phase-3-label">
            <a:extLst xmlns:a="http://schemas.openxmlformats.org/drawingml/2006/main">
              <a:ext uri="{FF2B5EF4-FFF2-40B4-BE49-F238E27FC236}">
                <a16:creationId xmlns:a16="http://schemas.microsoft.com/office/drawing/2014/main" id="{4B443335-9D95-4347-A0D8-30BC6F17C27F}"/>
              </a:ext>
            </a:extLst>
          </p:cNvPr>
          <p:cNvSpPr>
            <a:spLocks xmlns:a="http://schemas.openxmlformats.org/drawingml/2006/main" noGrp="1"/>
          </p:cNvSpPr>
          <p:nvPr/>
        </p:nvSpPr>
        <p:spPr>
          <a:xfrm xmlns:a="http://schemas.openxmlformats.org/drawingml/2006/main" rot="0">
            <a:off x="5094923" y="308324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Node</a:t>
            </a:r>
          </a:p>
          <a:p xmlns:a="http://schemas.openxmlformats.org/drawingml/2006/main">
            <a:pPr algn="ctr">
              <a:defRPr sz="675" b="0">
                <a:solidFill>
                  <a:srgbClr val="EDF4FA"/>
                </a:solidFill>
              </a:defRPr>
            </a:pPr>
            <a:r>
              <a:rPr sz="675" b="0">
                <a:solidFill>
                  <a:srgbClr val="EDF4FA"/>
                </a:solidFill>
              </a:rPr>
              <a:t>root</a:t>
            </a:r>
          </a:p>
        </p:txBody>
      </p:sp>
      <p:sp>
        <p:nvSpPr>
          <p:cNvPr id="40" name="topology-phase-4-frame">
            <a:extLst xmlns:a="http://schemas.openxmlformats.org/drawingml/2006/main">
              <a:ext uri="{FF2B5EF4-FFF2-40B4-BE49-F238E27FC236}">
                <a16:creationId xmlns:a16="http://schemas.microsoft.com/office/drawing/2014/main" id="{AA8F780D-49E8-4B3E-99C4-79C28DFC6C34}"/>
              </a:ext>
            </a:extLst>
          </p:cNvPr>
          <p:cNvSpPr>
            <a:spLocks xmlns:a="http://schemas.openxmlformats.org/drawingml/2006/main" noGrp="1"/>
          </p:cNvSpPr>
          <p:nvPr/>
        </p:nvSpPr>
        <p:spPr>
          <a:xfrm xmlns:a="http://schemas.openxmlformats.org/drawingml/2006/main" rot="0">
            <a:off x="6096000" y="2854643"/>
            <a:ext cx="971550" cy="876300"/>
          </a:xfrm>
          <a:prstGeom xmlns:a="http://schemas.openxmlformats.org/drawingml/2006/main" prst="roundRect">
            <a:avLst>
              <a:gd name="adj" fmla="val 7609"/>
            </a:avLst>
          </a:prstGeom>
          <a:solidFill xmlns:a="http://schemas.openxmlformats.org/drawingml/2006/main">
            <a:srgbClr val="10151C"/>
          </a:solidFill>
          <a:ln xmlns:a="http://schemas.openxmlformats.org/drawingml/2006/main" w="15240">
            <a:solidFill>
              <a:srgbClr val="69AEF5"/>
            </a:solidFill>
            <a:prstDash val="solid"/>
          </a:ln>
        </p:spPr>
      </p:sp>
      <p:sp>
        <p:nvSpPr>
          <p:cNvPr id="41" name="topology-phase-4-number-dot">
            <a:extLst xmlns:a="http://schemas.openxmlformats.org/drawingml/2006/main">
              <a:ext uri="{FF2B5EF4-FFF2-40B4-BE49-F238E27FC236}">
                <a16:creationId xmlns:a16="http://schemas.microsoft.com/office/drawing/2014/main" id="{509D9FBB-7AA3-47F7-B498-F594D66EB332}"/>
              </a:ext>
            </a:extLst>
          </p:cNvPr>
          <p:cNvSpPr>
            <a:spLocks xmlns:a="http://schemas.openxmlformats.org/drawingml/2006/main" noGrp="1"/>
          </p:cNvSpPr>
          <p:nvPr/>
        </p:nvSpPr>
        <p:spPr>
          <a:xfrm xmlns:a="http://schemas.openxmlformats.org/drawingml/2006/main" rot="0">
            <a:off x="6162675" y="2921318"/>
            <a:ext cx="190500" cy="190500"/>
          </a:xfrm>
          <a:prstGeom xmlns:a="http://schemas.openxmlformats.org/drawingml/2006/main" prst="ellipse">
            <a:avLst/>
          </a:prstGeom>
          <a:solidFill xmlns:a="http://schemas.openxmlformats.org/drawingml/2006/main">
            <a:srgbClr val="69AEF5"/>
          </a:solidFill>
          <a:ln xmlns:a="http://schemas.openxmlformats.org/drawingml/2006/main" w="0">
            <a:solidFill>
              <a:srgbClr val="69AEF5"/>
            </a:solidFill>
            <a:prstDash val="solid"/>
          </a:ln>
        </p:spPr>
      </p:sp>
      <p:sp>
        <p:nvSpPr>
          <p:cNvPr id="42" name="topology-phase-4-number">
            <a:extLst xmlns:a="http://schemas.openxmlformats.org/drawingml/2006/main">
              <a:ext uri="{FF2B5EF4-FFF2-40B4-BE49-F238E27FC236}">
                <a16:creationId xmlns:a16="http://schemas.microsoft.com/office/drawing/2014/main" id="{D788DDC3-E363-461B-966F-8E22790EF6D3}"/>
              </a:ext>
            </a:extLst>
          </p:cNvPr>
          <p:cNvSpPr>
            <a:spLocks xmlns:a="http://schemas.openxmlformats.org/drawingml/2006/main" noGrp="1"/>
          </p:cNvSpPr>
          <p:nvPr/>
        </p:nvSpPr>
        <p:spPr>
          <a:xfrm xmlns:a="http://schemas.openxmlformats.org/drawingml/2006/main" rot="0">
            <a:off x="6162675" y="292131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4</a:t>
            </a:r>
          </a:p>
        </p:txBody>
      </p:sp>
      <p:sp>
        <p:nvSpPr>
          <p:cNvPr id="43" name="topology-phase-4-label">
            <a:extLst xmlns:a="http://schemas.openxmlformats.org/drawingml/2006/main">
              <a:ext uri="{FF2B5EF4-FFF2-40B4-BE49-F238E27FC236}">
                <a16:creationId xmlns:a16="http://schemas.microsoft.com/office/drawing/2014/main" id="{7B5ABD81-A345-450F-84DD-8AF6AF7C5086}"/>
              </a:ext>
            </a:extLst>
          </p:cNvPr>
          <p:cNvSpPr>
            <a:spLocks xmlns:a="http://schemas.openxmlformats.org/drawingml/2006/main" noGrp="1"/>
          </p:cNvSpPr>
          <p:nvPr/>
        </p:nvSpPr>
        <p:spPr>
          <a:xfrm xmlns:a="http://schemas.openxmlformats.org/drawingml/2006/main" rot="0">
            <a:off x="6305550" y="308324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EDF4FA"/>
                </a:solidFill>
              </a:defRPr>
            </a:pPr>
            <a:r>
              <a:rPr sz="675" b="0">
                <a:solidFill>
                  <a:srgbClr val="EDF4FA"/>
                </a:solidFill>
              </a:rPr>
              <a:t>136-key</a:t>
            </a:r>
          </a:p>
          <a:p xmlns:a="http://schemas.openxmlformats.org/drawingml/2006/main">
            <a:pPr algn="ctr">
              <a:defRPr sz="675" b="0">
                <a:solidFill>
                  <a:srgbClr val="EDF4FA"/>
                </a:solidFill>
              </a:defRPr>
            </a:pPr>
            <a:r>
              <a:rPr sz="675" b="0">
                <a:solidFill>
                  <a:srgbClr val="EDF4FA"/>
                </a:solidFill>
              </a:rPr>
              <a:t>read</a:t>
            </a:r>
          </a:p>
        </p:txBody>
      </p:sp>
      <p:sp>
        <p:nvSpPr>
          <p:cNvPr id="44" name="dependency-1-2">
            <a:extLst xmlns:a="http://schemas.openxmlformats.org/drawingml/2006/main">
              <a:ext uri="{FF2B5EF4-FFF2-40B4-BE49-F238E27FC236}">
                <a16:creationId xmlns:a16="http://schemas.microsoft.com/office/drawing/2014/main" id="{116A8108-D369-411B-834B-BAF94615F3F1}"/>
              </a:ext>
            </a:extLst>
          </p:cNvPr>
          <p:cNvSpPr>
            <a:spLocks xmlns:a="http://schemas.openxmlformats.org/drawingml/2006/main" noGrp="1"/>
          </p:cNvSpPr>
          <p:nvPr/>
        </p:nvSpPr>
        <p:spPr>
          <a:xfrm xmlns:a="http://schemas.openxmlformats.org/drawingml/2006/main" flipH="0" flipV="0">
            <a:off x="3432620" y="3292031"/>
            <a:ext cx="242126" cy="0"/>
          </a:xfrm>
          <a:prstGeom xmlns:a="http://schemas.openxmlformats.org/drawingml/2006/main" prst="line">
            <a:avLst/>
          </a:prstGeom>
          <a:noFill xmlns:a="http://schemas.openxmlformats.org/drawingml/2006/main"/>
          <a:ln xmlns:a="http://schemas.openxmlformats.org/drawingml/2006/main" w="23813">
            <a:solidFill>
              <a:srgbClr val="FF766C"/>
            </a:solidFill>
            <a:prstDash val="solid"/>
          </a:ln>
        </p:spPr>
      </p:sp>
      <p:sp>
        <p:nvSpPr>
          <p:cNvPr id="45" name="dependency-2-3">
            <a:extLst xmlns:a="http://schemas.openxmlformats.org/drawingml/2006/main">
              <a:ext uri="{FF2B5EF4-FFF2-40B4-BE49-F238E27FC236}">
                <a16:creationId xmlns:a16="http://schemas.microsoft.com/office/drawing/2014/main" id="{78C3257D-F7E3-4A7D-A755-A31AA8C6DD72}"/>
              </a:ext>
            </a:extLst>
          </p:cNvPr>
          <p:cNvSpPr>
            <a:spLocks xmlns:a="http://schemas.openxmlformats.org/drawingml/2006/main" noGrp="1"/>
          </p:cNvSpPr>
          <p:nvPr/>
        </p:nvSpPr>
        <p:spPr>
          <a:xfrm xmlns:a="http://schemas.openxmlformats.org/drawingml/2006/main" flipH="0" flipV="0">
            <a:off x="4643247" y="3292031"/>
            <a:ext cx="242125" cy="0"/>
          </a:xfrm>
          <a:prstGeom xmlns:a="http://schemas.openxmlformats.org/drawingml/2006/main" prst="line">
            <a:avLst/>
          </a:prstGeom>
          <a:noFill xmlns:a="http://schemas.openxmlformats.org/drawingml/2006/main"/>
          <a:ln xmlns:a="http://schemas.openxmlformats.org/drawingml/2006/main" w="23813">
            <a:solidFill>
              <a:srgbClr val="FF766C"/>
            </a:solidFill>
            <a:prstDash val="solid"/>
          </a:ln>
        </p:spPr>
      </p:sp>
      <p:sp>
        <p:nvSpPr>
          <p:cNvPr id="46" name="dependency-3-4">
            <a:extLst xmlns:a="http://schemas.openxmlformats.org/drawingml/2006/main">
              <a:ext uri="{FF2B5EF4-FFF2-40B4-BE49-F238E27FC236}">
                <a16:creationId xmlns:a16="http://schemas.microsoft.com/office/drawing/2014/main" id="{4861FD9D-CB57-4027-8037-C3E4C1AB2F89}"/>
              </a:ext>
            </a:extLst>
          </p:cNvPr>
          <p:cNvSpPr>
            <a:spLocks xmlns:a="http://schemas.openxmlformats.org/drawingml/2006/main" noGrp="1"/>
          </p:cNvSpPr>
          <p:nvPr/>
        </p:nvSpPr>
        <p:spPr>
          <a:xfrm xmlns:a="http://schemas.openxmlformats.org/drawingml/2006/main" flipH="0" flipV="0">
            <a:off x="5853874" y="3292031"/>
            <a:ext cx="242126" cy="0"/>
          </a:xfrm>
          <a:prstGeom xmlns:a="http://schemas.openxmlformats.org/drawingml/2006/main" prst="line">
            <a:avLst/>
          </a:prstGeom>
          <a:noFill xmlns:a="http://schemas.openxmlformats.org/drawingml/2006/main"/>
          <a:ln xmlns:a="http://schemas.openxmlformats.org/drawingml/2006/main" w="23813">
            <a:solidFill>
              <a:srgbClr val="FF766C"/>
            </a:solidFill>
            <a:prstDash val="solid"/>
          </a:ln>
        </p:spPr>
      </p:sp>
      <p:sp>
        <p:nvSpPr>
          <p:cNvPr id="47" name="topology-phase-5-frame">
            <a:extLst xmlns:a="http://schemas.openxmlformats.org/drawingml/2006/main">
              <a:ext uri="{FF2B5EF4-FFF2-40B4-BE49-F238E27FC236}">
                <a16:creationId xmlns:a16="http://schemas.microsoft.com/office/drawing/2014/main" id="{5A6674C8-A8EC-40EC-8966-55B6C4303F8C}"/>
              </a:ext>
            </a:extLst>
          </p:cNvPr>
          <p:cNvSpPr>
            <a:spLocks xmlns:a="http://schemas.openxmlformats.org/drawingml/2006/main" noGrp="1"/>
          </p:cNvSpPr>
          <p:nvPr/>
        </p:nvSpPr>
        <p:spPr>
          <a:xfrm xmlns:a="http://schemas.openxmlformats.org/drawingml/2006/main" rot="0">
            <a:off x="7736205" y="1722120"/>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48" name="topology-phase-5-number-dot">
            <a:extLst xmlns:a="http://schemas.openxmlformats.org/drawingml/2006/main">
              <a:ext uri="{FF2B5EF4-FFF2-40B4-BE49-F238E27FC236}">
                <a16:creationId xmlns:a16="http://schemas.microsoft.com/office/drawing/2014/main" id="{520C7ACD-940A-4BBA-96C1-9DAD8D33AAE2}"/>
              </a:ext>
            </a:extLst>
          </p:cNvPr>
          <p:cNvSpPr>
            <a:spLocks xmlns:a="http://schemas.openxmlformats.org/drawingml/2006/main" noGrp="1"/>
          </p:cNvSpPr>
          <p:nvPr/>
        </p:nvSpPr>
        <p:spPr>
          <a:xfrm xmlns:a="http://schemas.openxmlformats.org/drawingml/2006/main" rot="0">
            <a:off x="7802880" y="1788795"/>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49" name="topology-phase-5-number">
            <a:extLst xmlns:a="http://schemas.openxmlformats.org/drawingml/2006/main">
              <a:ext uri="{FF2B5EF4-FFF2-40B4-BE49-F238E27FC236}">
                <a16:creationId xmlns:a16="http://schemas.microsoft.com/office/drawing/2014/main" id="{300F89FC-C8A2-4DE4-BE10-0463347A664B}"/>
              </a:ext>
            </a:extLst>
          </p:cNvPr>
          <p:cNvSpPr>
            <a:spLocks xmlns:a="http://schemas.openxmlformats.org/drawingml/2006/main" noGrp="1"/>
          </p:cNvSpPr>
          <p:nvPr/>
        </p:nvSpPr>
        <p:spPr>
          <a:xfrm xmlns:a="http://schemas.openxmlformats.org/drawingml/2006/main" rot="0">
            <a:off x="7802880" y="178879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5</a:t>
            </a:r>
          </a:p>
        </p:txBody>
      </p:sp>
      <p:sp>
        <p:nvSpPr>
          <p:cNvPr id="50" name="topology-phase-5-label">
            <a:extLst xmlns:a="http://schemas.openxmlformats.org/drawingml/2006/main">
              <a:ext uri="{FF2B5EF4-FFF2-40B4-BE49-F238E27FC236}">
                <a16:creationId xmlns:a16="http://schemas.microsoft.com/office/drawing/2014/main" id="{A2E38D12-CC72-4E28-B1F5-FF306414902F}"/>
              </a:ext>
            </a:extLst>
          </p:cNvPr>
          <p:cNvSpPr>
            <a:spLocks xmlns:a="http://schemas.openxmlformats.org/drawingml/2006/main" noGrp="1"/>
          </p:cNvSpPr>
          <p:nvPr/>
        </p:nvSpPr>
        <p:spPr>
          <a:xfrm xmlns:a="http://schemas.openxmlformats.org/drawingml/2006/main" rot="0">
            <a:off x="7945755" y="1950720"/>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Cross-</a:t>
            </a:r>
          </a:p>
          <a:p xmlns:a="http://schemas.openxmlformats.org/drawingml/2006/main">
            <a:pPr algn="ctr">
              <a:defRPr sz="675" b="0">
                <a:solidFill>
                  <a:srgbClr val="AAB9C5"/>
                </a:solidFill>
              </a:defRPr>
            </a:pPr>
            <a:r>
              <a:rPr sz="675" b="0">
                <a:solidFill>
                  <a:srgbClr val="AAB9C5"/>
                </a:solidFill>
              </a:rPr>
              <a:t>cluster</a:t>
            </a:r>
          </a:p>
        </p:txBody>
      </p:sp>
      <p:sp>
        <p:nvSpPr>
          <p:cNvPr id="51" name="topology-phase-6-frame">
            <a:extLst xmlns:a="http://schemas.openxmlformats.org/drawingml/2006/main">
              <a:ext uri="{FF2B5EF4-FFF2-40B4-BE49-F238E27FC236}">
                <a16:creationId xmlns:a16="http://schemas.microsoft.com/office/drawing/2014/main" id="{A8575F02-3BEB-44A2-8D69-BB3DC16E7553}"/>
              </a:ext>
            </a:extLst>
          </p:cNvPr>
          <p:cNvSpPr>
            <a:spLocks xmlns:a="http://schemas.openxmlformats.org/drawingml/2006/main" noGrp="1"/>
          </p:cNvSpPr>
          <p:nvPr/>
        </p:nvSpPr>
        <p:spPr>
          <a:xfrm xmlns:a="http://schemas.openxmlformats.org/drawingml/2006/main" rot="0">
            <a:off x="7736205" y="2854643"/>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52" name="topology-phase-6-number-dot">
            <a:extLst xmlns:a="http://schemas.openxmlformats.org/drawingml/2006/main">
              <a:ext uri="{FF2B5EF4-FFF2-40B4-BE49-F238E27FC236}">
                <a16:creationId xmlns:a16="http://schemas.microsoft.com/office/drawing/2014/main" id="{2DACAC51-2D54-4FF0-B0BE-F348B6E757DC}"/>
              </a:ext>
            </a:extLst>
          </p:cNvPr>
          <p:cNvSpPr>
            <a:spLocks xmlns:a="http://schemas.openxmlformats.org/drawingml/2006/main" noGrp="1"/>
          </p:cNvSpPr>
          <p:nvPr/>
        </p:nvSpPr>
        <p:spPr>
          <a:xfrm xmlns:a="http://schemas.openxmlformats.org/drawingml/2006/main" rot="0">
            <a:off x="7802880" y="2921318"/>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53" name="topology-phase-6-number">
            <a:extLst xmlns:a="http://schemas.openxmlformats.org/drawingml/2006/main">
              <a:ext uri="{FF2B5EF4-FFF2-40B4-BE49-F238E27FC236}">
                <a16:creationId xmlns:a16="http://schemas.microsoft.com/office/drawing/2014/main" id="{90448479-DAA7-49AD-9566-6E596CABA229}"/>
              </a:ext>
            </a:extLst>
          </p:cNvPr>
          <p:cNvSpPr>
            <a:spLocks xmlns:a="http://schemas.openxmlformats.org/drawingml/2006/main" noGrp="1"/>
          </p:cNvSpPr>
          <p:nvPr/>
        </p:nvSpPr>
        <p:spPr>
          <a:xfrm xmlns:a="http://schemas.openxmlformats.org/drawingml/2006/main" rot="0">
            <a:off x="7802880" y="2921318"/>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6</a:t>
            </a:r>
          </a:p>
        </p:txBody>
      </p:sp>
      <p:sp>
        <p:nvSpPr>
          <p:cNvPr id="54" name="topology-phase-6-label">
            <a:extLst xmlns:a="http://schemas.openxmlformats.org/drawingml/2006/main">
              <a:ext uri="{FF2B5EF4-FFF2-40B4-BE49-F238E27FC236}">
                <a16:creationId xmlns:a16="http://schemas.microsoft.com/office/drawing/2014/main" id="{1FBCC562-7AE2-4C94-90CF-395B8568064B}"/>
              </a:ext>
            </a:extLst>
          </p:cNvPr>
          <p:cNvSpPr>
            <a:spLocks xmlns:a="http://schemas.openxmlformats.org/drawingml/2006/main" noGrp="1"/>
          </p:cNvSpPr>
          <p:nvPr/>
        </p:nvSpPr>
        <p:spPr>
          <a:xfrm xmlns:a="http://schemas.openxmlformats.org/drawingml/2006/main" rot="0">
            <a:off x="7945755" y="3083243"/>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Mesh</a:t>
            </a:r>
          </a:p>
          <a:p xmlns:a="http://schemas.openxmlformats.org/drawingml/2006/main">
            <a:pPr algn="ctr">
              <a:defRPr sz="675" b="0">
                <a:solidFill>
                  <a:srgbClr val="AAB9C5"/>
                </a:solidFill>
              </a:defRPr>
            </a:pPr>
            <a:r>
              <a:rPr sz="675" b="0">
                <a:solidFill>
                  <a:srgbClr val="AAB9C5"/>
                </a:solidFill>
              </a:rPr>
              <a:t>enroll</a:t>
            </a:r>
          </a:p>
        </p:txBody>
      </p:sp>
      <p:sp>
        <p:nvSpPr>
          <p:cNvPr id="55" name="topology-phase-7-frame">
            <a:extLst xmlns:a="http://schemas.openxmlformats.org/drawingml/2006/main">
              <a:ext uri="{FF2B5EF4-FFF2-40B4-BE49-F238E27FC236}">
                <a16:creationId xmlns:a16="http://schemas.microsoft.com/office/drawing/2014/main" id="{A346D00E-AE60-4F75-9C2F-3665ABAF3922}"/>
              </a:ext>
            </a:extLst>
          </p:cNvPr>
          <p:cNvSpPr>
            <a:spLocks xmlns:a="http://schemas.openxmlformats.org/drawingml/2006/main" noGrp="1"/>
          </p:cNvSpPr>
          <p:nvPr/>
        </p:nvSpPr>
        <p:spPr>
          <a:xfrm xmlns:a="http://schemas.openxmlformats.org/drawingml/2006/main" rot="0">
            <a:off x="7736205" y="3987165"/>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56" name="topology-phase-7-number-dot">
            <a:extLst xmlns:a="http://schemas.openxmlformats.org/drawingml/2006/main">
              <a:ext uri="{FF2B5EF4-FFF2-40B4-BE49-F238E27FC236}">
                <a16:creationId xmlns:a16="http://schemas.microsoft.com/office/drawing/2014/main" id="{7EEF9023-05EA-4A2F-A2B5-36D9F0D03387}"/>
              </a:ext>
            </a:extLst>
          </p:cNvPr>
          <p:cNvSpPr>
            <a:spLocks xmlns:a="http://schemas.openxmlformats.org/drawingml/2006/main" noGrp="1"/>
          </p:cNvSpPr>
          <p:nvPr/>
        </p:nvSpPr>
        <p:spPr>
          <a:xfrm xmlns:a="http://schemas.openxmlformats.org/drawingml/2006/main" rot="0">
            <a:off x="7802880" y="4053840"/>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57" name="topology-phase-7-number">
            <a:extLst xmlns:a="http://schemas.openxmlformats.org/drawingml/2006/main">
              <a:ext uri="{FF2B5EF4-FFF2-40B4-BE49-F238E27FC236}">
                <a16:creationId xmlns:a16="http://schemas.microsoft.com/office/drawing/2014/main" id="{E0EF275A-C566-47B0-BED3-25851D4D3EFF}"/>
              </a:ext>
            </a:extLst>
          </p:cNvPr>
          <p:cNvSpPr>
            <a:spLocks xmlns:a="http://schemas.openxmlformats.org/drawingml/2006/main" noGrp="1"/>
          </p:cNvSpPr>
          <p:nvPr/>
        </p:nvSpPr>
        <p:spPr>
          <a:xfrm xmlns:a="http://schemas.openxmlformats.org/drawingml/2006/main" rot="0">
            <a:off x="7802880" y="405384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7</a:t>
            </a:r>
          </a:p>
        </p:txBody>
      </p:sp>
      <p:sp>
        <p:nvSpPr>
          <p:cNvPr id="58" name="topology-phase-7-label">
            <a:extLst xmlns:a="http://schemas.openxmlformats.org/drawingml/2006/main">
              <a:ext uri="{FF2B5EF4-FFF2-40B4-BE49-F238E27FC236}">
                <a16:creationId xmlns:a16="http://schemas.microsoft.com/office/drawing/2014/main" id="{49DE421A-59C1-49B8-B1D1-ACA3C461E8BE}"/>
              </a:ext>
            </a:extLst>
          </p:cNvPr>
          <p:cNvSpPr>
            <a:spLocks xmlns:a="http://schemas.openxmlformats.org/drawingml/2006/main" noGrp="1"/>
          </p:cNvSpPr>
          <p:nvPr/>
        </p:nvSpPr>
        <p:spPr>
          <a:xfrm xmlns:a="http://schemas.openxmlformats.org/drawingml/2006/main" rot="0">
            <a:off x="7945755" y="4215765"/>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Token</a:t>
            </a:r>
          </a:p>
          <a:p xmlns:a="http://schemas.openxmlformats.org/drawingml/2006/main">
            <a:pPr algn="ctr">
              <a:defRPr sz="675" b="0">
                <a:solidFill>
                  <a:srgbClr val="AAB9C5"/>
                </a:solidFill>
              </a:defRPr>
            </a:pPr>
            <a:r>
              <a:rPr sz="675" b="0">
                <a:solidFill>
                  <a:srgbClr val="AAB9C5"/>
                </a:solidFill>
              </a:rPr>
              <a:t>forge</a:t>
            </a:r>
          </a:p>
        </p:txBody>
      </p:sp>
      <p:sp>
        <p:nvSpPr>
          <p:cNvPr id="59" name="topology-phase-8-frame">
            <a:extLst xmlns:a="http://schemas.openxmlformats.org/drawingml/2006/main">
              <a:ext uri="{FF2B5EF4-FFF2-40B4-BE49-F238E27FC236}">
                <a16:creationId xmlns:a16="http://schemas.microsoft.com/office/drawing/2014/main" id="{287CAF92-8424-4100-AF3D-F8EF2F1C4D65}"/>
              </a:ext>
            </a:extLst>
          </p:cNvPr>
          <p:cNvSpPr>
            <a:spLocks xmlns:a="http://schemas.openxmlformats.org/drawingml/2006/main" noGrp="1"/>
          </p:cNvSpPr>
          <p:nvPr/>
        </p:nvSpPr>
        <p:spPr>
          <a:xfrm xmlns:a="http://schemas.openxmlformats.org/drawingml/2006/main" rot="0">
            <a:off x="8868728" y="3987165"/>
            <a:ext cx="971550" cy="876300"/>
          </a:xfrm>
          <a:prstGeom xmlns:a="http://schemas.openxmlformats.org/drawingml/2006/main" prst="roundRect">
            <a:avLst>
              <a:gd name="adj" fmla="val 7609"/>
            </a:avLst>
          </a:prstGeom>
          <a:solidFill xmlns:a="http://schemas.openxmlformats.org/drawingml/2006/main">
            <a:srgbClr val="25313D"/>
          </a:solidFill>
          <a:ln xmlns:a="http://schemas.openxmlformats.org/drawingml/2006/main" w="9525">
            <a:solidFill>
              <a:srgbClr val="40505D"/>
            </a:solidFill>
            <a:prstDash val="solid"/>
          </a:ln>
        </p:spPr>
      </p:sp>
      <p:sp>
        <p:nvSpPr>
          <p:cNvPr id="60" name="topology-phase-8-number-dot">
            <a:extLst xmlns:a="http://schemas.openxmlformats.org/drawingml/2006/main">
              <a:ext uri="{FF2B5EF4-FFF2-40B4-BE49-F238E27FC236}">
                <a16:creationId xmlns:a16="http://schemas.microsoft.com/office/drawing/2014/main" id="{3E299174-EEF3-4C59-A683-75B7AFEA3AD1}"/>
              </a:ext>
            </a:extLst>
          </p:cNvPr>
          <p:cNvSpPr>
            <a:spLocks xmlns:a="http://schemas.openxmlformats.org/drawingml/2006/main" noGrp="1"/>
          </p:cNvSpPr>
          <p:nvPr/>
        </p:nvSpPr>
        <p:spPr>
          <a:xfrm xmlns:a="http://schemas.openxmlformats.org/drawingml/2006/main" rot="0">
            <a:off x="8935403" y="4053840"/>
            <a:ext cx="190500" cy="190500"/>
          </a:xfrm>
          <a:prstGeom xmlns:a="http://schemas.openxmlformats.org/drawingml/2006/main" prst="ellipse">
            <a:avLst/>
          </a:prstGeom>
          <a:solidFill xmlns:a="http://schemas.openxmlformats.org/drawingml/2006/main">
            <a:srgbClr val="40505D"/>
          </a:solidFill>
          <a:ln xmlns:a="http://schemas.openxmlformats.org/drawingml/2006/main" w="0">
            <a:solidFill>
              <a:srgbClr val="40505D"/>
            </a:solidFill>
            <a:prstDash val="solid"/>
          </a:ln>
        </p:spPr>
      </p:sp>
      <p:sp>
        <p:nvSpPr>
          <p:cNvPr id="61" name="topology-phase-8-number">
            <a:extLst xmlns:a="http://schemas.openxmlformats.org/drawingml/2006/main">
              <a:ext uri="{FF2B5EF4-FFF2-40B4-BE49-F238E27FC236}">
                <a16:creationId xmlns:a16="http://schemas.microsoft.com/office/drawing/2014/main" id="{03AE7CE2-BADC-40AD-B81A-54EAC24C36E0}"/>
              </a:ext>
            </a:extLst>
          </p:cNvPr>
          <p:cNvSpPr>
            <a:spLocks xmlns:a="http://schemas.openxmlformats.org/drawingml/2006/main" noGrp="1"/>
          </p:cNvSpPr>
          <p:nvPr/>
        </p:nvSpPr>
        <p:spPr>
          <a:xfrm xmlns:a="http://schemas.openxmlformats.org/drawingml/2006/main" rot="0">
            <a:off x="8935403" y="405384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EDF4FA"/>
                </a:solidFill>
              </a:defRPr>
            </a:pPr>
            <a:r>
              <a:rPr sz="600" b="1">
                <a:solidFill>
                  <a:srgbClr val="EDF4FA"/>
                </a:solidFill>
              </a:rPr>
              <a:t>8</a:t>
            </a:r>
          </a:p>
        </p:txBody>
      </p:sp>
      <p:sp>
        <p:nvSpPr>
          <p:cNvPr id="62" name="topology-phase-8-label">
            <a:extLst xmlns:a="http://schemas.openxmlformats.org/drawingml/2006/main">
              <a:ext uri="{FF2B5EF4-FFF2-40B4-BE49-F238E27FC236}">
                <a16:creationId xmlns:a16="http://schemas.microsoft.com/office/drawing/2014/main" id="{45FF23B1-994D-4DD7-AA2F-15AD1564CFF4}"/>
              </a:ext>
            </a:extLst>
          </p:cNvPr>
          <p:cNvSpPr>
            <a:spLocks xmlns:a="http://schemas.openxmlformats.org/drawingml/2006/main" noGrp="1"/>
          </p:cNvSpPr>
          <p:nvPr/>
        </p:nvSpPr>
        <p:spPr>
          <a:xfrm xmlns:a="http://schemas.openxmlformats.org/drawingml/2006/main" rot="0">
            <a:off x="9078278" y="4215765"/>
            <a:ext cx="695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CI</a:t>
            </a:r>
          </a:p>
          <a:p xmlns:a="http://schemas.openxmlformats.org/drawingml/2006/main">
            <a:pPr algn="ctr">
              <a:defRPr sz="675" b="0">
                <a:solidFill>
                  <a:srgbClr val="AAB9C5"/>
                </a:solidFill>
              </a:defRPr>
            </a:pPr>
            <a:r>
              <a:rPr sz="675" b="0">
                <a:solidFill>
                  <a:srgbClr val="AAB9C5"/>
                </a:solidFill>
              </a:rPr>
              <a:t>pivot</a:t>
            </a:r>
          </a:p>
        </p:txBody>
      </p:sp>
      <p:sp>
        <p:nvSpPr>
          <p:cNvPr id="63" name="branch-4-5a">
            <a:extLst xmlns:a="http://schemas.openxmlformats.org/drawingml/2006/main">
              <a:ext uri="{FF2B5EF4-FFF2-40B4-BE49-F238E27FC236}">
                <a16:creationId xmlns:a16="http://schemas.microsoft.com/office/drawing/2014/main" id="{569B67F5-46E6-48F0-8A6D-46E36C832FD0}"/>
              </a:ext>
            </a:extLst>
          </p:cNvPr>
          <p:cNvSpPr>
            <a:spLocks xmlns:a="http://schemas.openxmlformats.org/drawingml/2006/main" noGrp="1"/>
          </p:cNvSpPr>
          <p:nvPr/>
        </p:nvSpPr>
        <p:spPr>
          <a:xfrm xmlns:a="http://schemas.openxmlformats.org/drawingml/2006/main" flipH="0" flipV="1">
            <a:off x="7064502" y="2151698"/>
            <a:ext cx="359283" cy="1140333"/>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64" name="branch-4-5b">
            <a:extLst xmlns:a="http://schemas.openxmlformats.org/drawingml/2006/main">
              <a:ext uri="{FF2B5EF4-FFF2-40B4-BE49-F238E27FC236}">
                <a16:creationId xmlns:a16="http://schemas.microsoft.com/office/drawing/2014/main" id="{8664B13C-3E8B-4175-B868-1C17C51785D2}"/>
              </a:ext>
            </a:extLst>
          </p:cNvPr>
          <p:cNvSpPr>
            <a:spLocks xmlns:a="http://schemas.openxmlformats.org/drawingml/2006/main" noGrp="1"/>
          </p:cNvSpPr>
          <p:nvPr/>
        </p:nvSpPr>
        <p:spPr>
          <a:xfrm xmlns:a="http://schemas.openxmlformats.org/drawingml/2006/main" flipH="0" flipV="0">
            <a:off x="7423785" y="2151698"/>
            <a:ext cx="312420" cy="0"/>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65" name="branch-4-6">
            <a:extLst xmlns:a="http://schemas.openxmlformats.org/drawingml/2006/main">
              <a:ext uri="{FF2B5EF4-FFF2-40B4-BE49-F238E27FC236}">
                <a16:creationId xmlns:a16="http://schemas.microsoft.com/office/drawing/2014/main" id="{5ADEB7DF-521D-424A-90E7-AF0D9B6C6634}"/>
              </a:ext>
            </a:extLst>
          </p:cNvPr>
          <p:cNvSpPr>
            <a:spLocks xmlns:a="http://schemas.openxmlformats.org/drawingml/2006/main" noGrp="1"/>
          </p:cNvSpPr>
          <p:nvPr/>
        </p:nvSpPr>
        <p:spPr>
          <a:xfrm xmlns:a="http://schemas.openxmlformats.org/drawingml/2006/main" flipH="0" flipV="0">
            <a:off x="7064502" y="3292031"/>
            <a:ext cx="671703" cy="0"/>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66" name="branch-4-7a">
            <a:extLst xmlns:a="http://schemas.openxmlformats.org/drawingml/2006/main">
              <a:ext uri="{FF2B5EF4-FFF2-40B4-BE49-F238E27FC236}">
                <a16:creationId xmlns:a16="http://schemas.microsoft.com/office/drawing/2014/main" id="{BE75E646-5938-4F11-89FB-645F43198348}"/>
              </a:ext>
            </a:extLst>
          </p:cNvPr>
          <p:cNvSpPr>
            <a:spLocks xmlns:a="http://schemas.openxmlformats.org/drawingml/2006/main" noGrp="1"/>
          </p:cNvSpPr>
          <p:nvPr/>
        </p:nvSpPr>
        <p:spPr>
          <a:xfrm xmlns:a="http://schemas.openxmlformats.org/drawingml/2006/main" flipH="0" flipV="0">
            <a:off x="7064502" y="3292031"/>
            <a:ext cx="359283" cy="1124712"/>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67" name="branch-4-7b">
            <a:extLst xmlns:a="http://schemas.openxmlformats.org/drawingml/2006/main">
              <a:ext uri="{FF2B5EF4-FFF2-40B4-BE49-F238E27FC236}">
                <a16:creationId xmlns:a16="http://schemas.microsoft.com/office/drawing/2014/main" id="{07D6ECF3-266B-49BB-B076-125FB1B3C6C1}"/>
              </a:ext>
            </a:extLst>
          </p:cNvPr>
          <p:cNvSpPr>
            <a:spLocks xmlns:a="http://schemas.openxmlformats.org/drawingml/2006/main" noGrp="1"/>
          </p:cNvSpPr>
          <p:nvPr/>
        </p:nvSpPr>
        <p:spPr>
          <a:xfrm xmlns:a="http://schemas.openxmlformats.org/drawingml/2006/main" flipH="0" flipV="0">
            <a:off x="7423785" y="4416743"/>
            <a:ext cx="312420" cy="0"/>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68" name="branch-7-8">
            <a:extLst xmlns:a="http://schemas.openxmlformats.org/drawingml/2006/main">
              <a:ext uri="{FF2B5EF4-FFF2-40B4-BE49-F238E27FC236}">
                <a16:creationId xmlns:a16="http://schemas.microsoft.com/office/drawing/2014/main" id="{8FCE9447-B0BE-4E9F-8DB3-1DB07997E065}"/>
              </a:ext>
            </a:extLst>
          </p:cNvPr>
          <p:cNvSpPr>
            <a:spLocks xmlns:a="http://schemas.openxmlformats.org/drawingml/2006/main" noGrp="1"/>
          </p:cNvSpPr>
          <p:nvPr/>
        </p:nvSpPr>
        <p:spPr>
          <a:xfrm xmlns:a="http://schemas.openxmlformats.org/drawingml/2006/main" flipH="0" flipV="0">
            <a:off x="8704707" y="4424553"/>
            <a:ext cx="164021" cy="0"/>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69" name="phase-four-score-frame">
            <a:extLst xmlns:a="http://schemas.openxmlformats.org/drawingml/2006/main">
              <a:ext uri="{FF2B5EF4-FFF2-40B4-BE49-F238E27FC236}">
                <a16:creationId xmlns:a16="http://schemas.microsoft.com/office/drawing/2014/main" id="{69B9E38B-42FA-4268-AC71-2146A75FDF0D}"/>
              </a:ext>
            </a:extLst>
          </p:cNvPr>
          <p:cNvSpPr>
            <a:spLocks xmlns:a="http://schemas.openxmlformats.org/drawingml/2006/main" noGrp="1"/>
          </p:cNvSpPr>
          <p:nvPr/>
        </p:nvSpPr>
        <p:spPr>
          <a:xfrm xmlns:a="http://schemas.openxmlformats.org/drawingml/2006/main" rot="0">
            <a:off x="5939790" y="1995488"/>
            <a:ext cx="1483995" cy="562356"/>
          </a:xfrm>
          <a:prstGeom xmlns:a="http://schemas.openxmlformats.org/drawingml/2006/main" prst="roundRect">
            <a:avLst>
              <a:gd name="adj" fmla="val 13550"/>
            </a:avLst>
          </a:prstGeom>
          <a:solidFill xmlns:a="http://schemas.openxmlformats.org/drawingml/2006/main">
            <a:srgbClr val="10151C"/>
          </a:solidFill>
          <a:ln xmlns:a="http://schemas.openxmlformats.org/drawingml/2006/main" w="13335">
            <a:solidFill>
              <a:srgbClr val="40505D"/>
            </a:solidFill>
            <a:prstDash val="solid"/>
          </a:ln>
        </p:spPr>
      </p:sp>
      <p:sp>
        <p:nvSpPr>
          <p:cNvPr id="70" name="phase-four-score-title">
            <a:extLst xmlns:a="http://schemas.openxmlformats.org/drawingml/2006/main">
              <a:ext uri="{FF2B5EF4-FFF2-40B4-BE49-F238E27FC236}">
                <a16:creationId xmlns:a16="http://schemas.microsoft.com/office/drawing/2014/main" id="{B04E7261-037C-494D-91DD-18290F0712DD}"/>
              </a:ext>
            </a:extLst>
          </p:cNvPr>
          <p:cNvSpPr>
            <a:spLocks xmlns:a="http://schemas.openxmlformats.org/drawingml/2006/main" noGrp="1"/>
          </p:cNvSpPr>
          <p:nvPr/>
        </p:nvSpPr>
        <p:spPr>
          <a:xfrm xmlns:a="http://schemas.openxmlformats.org/drawingml/2006/main" rot="0">
            <a:off x="6015990" y="2071688"/>
            <a:ext cx="133159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0.90 modeled</a:t>
            </a:r>
          </a:p>
        </p:txBody>
      </p:sp>
      <p:sp>
        <p:nvSpPr>
          <p:cNvPr id="71" name="phase-four-score-subtitle">
            <a:extLst xmlns:a="http://schemas.openxmlformats.org/drawingml/2006/main">
              <a:ext uri="{FF2B5EF4-FFF2-40B4-BE49-F238E27FC236}">
                <a16:creationId xmlns:a16="http://schemas.microsoft.com/office/drawing/2014/main" id="{5EDA27C6-0E8A-4CD0-B6B0-B9FA37FAE4E2}"/>
              </a:ext>
            </a:extLst>
          </p:cNvPr>
          <p:cNvSpPr>
            <a:spLocks xmlns:a="http://schemas.openxmlformats.org/drawingml/2006/main" noGrp="1"/>
          </p:cNvSpPr>
          <p:nvPr/>
        </p:nvSpPr>
        <p:spPr>
          <a:xfrm xmlns:a="http://schemas.openxmlformats.org/drawingml/2006/main" rot="0">
            <a:off x="6015990" y="2290763"/>
            <a:ext cx="1331595" cy="209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Phase 4 divergence</a:t>
            </a:r>
          </a:p>
        </p:txBody>
      </p:sp>
      <p:sp>
        <p:nvSpPr>
          <p:cNvPr id="72" name="reachability-note">
            <a:extLst xmlns:a="http://schemas.openxmlformats.org/drawingml/2006/main">
              <a:ext uri="{FF2B5EF4-FFF2-40B4-BE49-F238E27FC236}">
                <a16:creationId xmlns:a16="http://schemas.microsoft.com/office/drawing/2014/main" id="{50A70ABC-5CD1-4DBD-9B39-8980E157F7B1}"/>
              </a:ext>
            </a:extLst>
          </p:cNvPr>
          <p:cNvSpPr>
            <a:spLocks xmlns:a="http://schemas.openxmlformats.org/drawingml/2006/main" noGrp="1"/>
          </p:cNvSpPr>
          <p:nvPr/>
        </p:nvSpPr>
        <p:spPr>
          <a:xfrm xmlns:a="http://schemas.openxmlformats.org/drawingml/2006/main" rot="0">
            <a:off x="6564630" y="4940046"/>
            <a:ext cx="31242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Conditionally unreachable — not counted as separate local detections</a:t>
            </a:r>
          </a:p>
        </p:txBody>
      </p:sp>
    </p:spTree>
    <p:extLst>
      <p:ext uri="{BB962C8B-B14F-4D97-AF65-F5344CB8AC3E}">
        <p14:creationId xmlns:p14="http://schemas.microsoft.com/office/powerpoint/2010/main" val="189469237"/>
      </p:ext>
    </p:extLst>
  </p:cSld>
</p:sld>
</file>

<file path=ppt/slides/slide9.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6" name="header-eyebrow">
            <a:extLst xmlns:a="http://schemas.openxmlformats.org/drawingml/2006/main">
              <a:ext uri="{FF2B5EF4-FFF2-40B4-BE49-F238E27FC236}">
                <a16:creationId xmlns:a16="http://schemas.microsoft.com/office/drawing/2014/main" id="{CBD313F5-161A-49CB-822C-2D9DE63532E3}"/>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1B342A8D-7617-447B-85DA-CC04A835049E}"/>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Modeled counterfactual   Case study 5 of 8   Waiting for presenter</a:t>
            </a:r>
          </a:p>
        </p:txBody>
      </p:sp>
      <p:sp>
        <p:nvSpPr>
          <p:cNvPr id="3" name="scene-title">
            <a:extLst xmlns:a="http://schemas.openxmlformats.org/drawingml/2006/main">
              <a:ext uri="{FF2B5EF4-FFF2-40B4-BE49-F238E27FC236}">
                <a16:creationId xmlns:a16="http://schemas.microsoft.com/office/drawing/2014/main" id="{F0C0CCC9-2BAE-4CCA-9ECB-AF0A0F99661B}"/>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KIL changes authority in motion</a:t>
            </a:r>
          </a:p>
        </p:txBody>
      </p:sp>
      <p:sp>
        <p:nvSpPr>
          <p:cNvPr id="4" name="nav-act-primer">
            <a:extLst xmlns:a="http://schemas.openxmlformats.org/drawingml/2006/main">
              <a:ext uri="{FF2B5EF4-FFF2-40B4-BE49-F238E27FC236}">
                <a16:creationId xmlns:a16="http://schemas.microsoft.com/office/drawing/2014/main" id="{F8A4BDA4-B4C7-4317-9940-4E84AC7694D7}"/>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D2B04F40-9F93-49B9-9FB5-22849A2CEBDC}"/>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50BFF61B-4CC5-4C69-996A-0C70A1A37C27}"/>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0F125D1D-1934-4397-92C7-9406D0F5ED13}"/>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3AC3ACC9-BFF6-4D86-9BEA-C68FC82E76A4}"/>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31D95221-1DD0-41F0-9F15-8CFBBADFAA16}"/>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4B7BBBD0-A6AF-4814-ADD0-9092E9097120}"/>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C6F8704F-187F-4B1E-BF4D-5BB02946248D}"/>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22B2D364-F698-4D90-B128-5FEEB7536082}"/>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F0D0B9AB-3D13-4398-A08F-6AB5A3BF1E22}"/>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B8E21290-E2FB-4AA3-99D0-F7299E3884AC}"/>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FF253503-C791-46F8-88F0-8CEB65A8A9F8}"/>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1EE375D0-51C8-4FC2-9797-0698640538E4}"/>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7" name="nav-scene-5-label">
            <a:extLst xmlns:a="http://schemas.openxmlformats.org/drawingml/2006/main">
              <a:ext uri="{FF2B5EF4-FFF2-40B4-BE49-F238E27FC236}">
                <a16:creationId xmlns:a16="http://schemas.microsoft.com/office/drawing/2014/main" id="{C10354FE-47A9-449A-9001-696755605443}"/>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5</a:t>
            </a:r>
          </a:p>
        </p:txBody>
      </p:sp>
      <p:sp>
        <p:nvSpPr>
          <p:cNvPr id="18" name="nav-scene-6">
            <a:extLst xmlns:a="http://schemas.openxmlformats.org/drawingml/2006/main">
              <a:ext uri="{FF2B5EF4-FFF2-40B4-BE49-F238E27FC236}">
                <a16:creationId xmlns:a16="http://schemas.microsoft.com/office/drawing/2014/main" id="{2A45A2B6-2B18-47F3-83A8-18AFC4C71F15}"/>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05D62688-CCA0-46A8-BE92-13C6951B0F62}"/>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C069E21C-840C-4770-9FD6-BDC85865F5F8}"/>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A036059E-009F-435A-B32A-6FBA27A19949}"/>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165023B5-F356-4B39-9C23-CF5E31E98EFE}"/>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5FA0B45B-EAB2-4018-B956-B2A66A1394DD}"/>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BAB98F0A-78CE-43FF-A615-24B213AFFF8F}"/>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0372AE12-AFCD-4E40-88AD-BF440216CD58}"/>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Signed KTP state remains authoritative while local divergence can only reduce effective authority.</a:t>
            </a:r>
          </a:p>
        </p:txBody>
      </p:sp>
      <p:sp>
        <p:nvSpPr>
          <p:cNvPr id="26" name="source-rail">
            <a:extLst xmlns:a="http://schemas.openxmlformats.org/drawingml/2006/main">
              <a:ext uri="{FF2B5EF4-FFF2-40B4-BE49-F238E27FC236}">
                <a16:creationId xmlns:a16="http://schemas.microsoft.com/office/drawing/2014/main" id="{D5971743-078F-412D-BFA1-FA00C41C6326}"/>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32D33E39-2858-4BB8-A628-49B6F736F158}"/>
              </a:ext>
            </a:extLst>
          </p:cNvPr>
          <p:cNvSpPr>
            <a:spLocks xmlns:a="http://schemas.openxmlformats.org/drawingml/2006/main" noGrp="1"/>
          </p:cNvSpPr>
          <p:nvPr/>
        </p:nvSpPr>
        <p:spPr>
          <a:xfrm xmlns:a="http://schemas.openxmlformats.org/drawingml/2006/main" rot="0">
            <a:off x="2542223" y="1612773"/>
            <a:ext cx="546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SAME ARCHITECTURE · NOW BOUND TO THE INCIDENT ACTION</a:t>
            </a:r>
          </a:p>
        </p:txBody>
      </p:sp>
      <p:sp>
        <p:nvSpPr>
          <p:cNvPr id="28" name="signed-state-frame">
            <a:extLst xmlns:a="http://schemas.openxmlformats.org/drawingml/2006/main">
              <a:ext uri="{FF2B5EF4-FFF2-40B4-BE49-F238E27FC236}">
                <a16:creationId xmlns:a16="http://schemas.microsoft.com/office/drawing/2014/main" id="{0A14CA36-7244-4E48-878F-A71BFA191E88}"/>
              </a:ext>
            </a:extLst>
          </p:cNvPr>
          <p:cNvSpPr>
            <a:spLocks xmlns:a="http://schemas.openxmlformats.org/drawingml/2006/main" noGrp="1"/>
          </p:cNvSpPr>
          <p:nvPr/>
        </p:nvSpPr>
        <p:spPr>
          <a:xfrm xmlns:a="http://schemas.openxmlformats.org/drawingml/2006/main" rot="0">
            <a:off x="2698433" y="2128266"/>
            <a:ext cx="2811780" cy="820103"/>
          </a:xfrm>
          <a:prstGeom xmlns:a="http://schemas.openxmlformats.org/drawingml/2006/main" prst="roundRect">
            <a:avLst>
              <a:gd name="adj" fmla="val 9292"/>
            </a:avLst>
          </a:prstGeom>
          <a:solidFill xmlns:a="http://schemas.openxmlformats.org/drawingml/2006/main">
            <a:srgbClr val="10151C"/>
          </a:solidFill>
          <a:ln xmlns:a="http://schemas.openxmlformats.org/drawingml/2006/main" w="13335">
            <a:solidFill>
              <a:srgbClr val="40505D"/>
            </a:solidFill>
            <a:prstDash val="solid"/>
          </a:ln>
        </p:spPr>
      </p:sp>
      <p:sp>
        <p:nvSpPr>
          <p:cNvPr id="29" name="signed-state-title">
            <a:extLst xmlns:a="http://schemas.openxmlformats.org/drawingml/2006/main">
              <a:ext uri="{FF2B5EF4-FFF2-40B4-BE49-F238E27FC236}">
                <a16:creationId xmlns:a16="http://schemas.microsoft.com/office/drawing/2014/main" id="{1893D324-BDBF-4939-AA8D-F6F29E582F5F}"/>
              </a:ext>
            </a:extLst>
          </p:cNvPr>
          <p:cNvSpPr>
            <a:spLocks xmlns:a="http://schemas.openxmlformats.org/drawingml/2006/main" noGrp="1"/>
          </p:cNvSpPr>
          <p:nvPr/>
        </p:nvSpPr>
        <p:spPr>
          <a:xfrm xmlns:a="http://schemas.openxmlformats.org/drawingml/2006/main" rot="0">
            <a:off x="2774633" y="2204466"/>
            <a:ext cx="26593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Signed KTP enforcement state</a:t>
            </a:r>
          </a:p>
        </p:txBody>
      </p:sp>
      <p:sp>
        <p:nvSpPr>
          <p:cNvPr id="30" name="signed-state-subtitle">
            <a:extLst xmlns:a="http://schemas.openxmlformats.org/drawingml/2006/main">
              <a:ext uri="{FF2B5EF4-FFF2-40B4-BE49-F238E27FC236}">
                <a16:creationId xmlns:a16="http://schemas.microsoft.com/office/drawing/2014/main" id="{5F1E20A0-7851-4E65-AB67-A333FC8E58DA}"/>
              </a:ext>
            </a:extLst>
          </p:cNvPr>
          <p:cNvSpPr>
            <a:spLocks xmlns:a="http://schemas.openxmlformats.org/drawingml/2006/main" noGrp="1"/>
          </p:cNvSpPr>
          <p:nvPr/>
        </p:nvSpPr>
        <p:spPr>
          <a:xfrm xmlns:a="http://schemas.openxmlformats.org/drawingml/2006/main" rot="0">
            <a:off x="2774633" y="2423541"/>
            <a:ext cx="2659380" cy="4676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fresh · class-bound · environment-bounded</a:t>
            </a:r>
          </a:p>
        </p:txBody>
      </p:sp>
      <p:sp>
        <p:nvSpPr>
          <p:cNvPr id="31" name="signed-state-flow-line">
            <a:extLst xmlns:a="http://schemas.openxmlformats.org/drawingml/2006/main">
              <a:ext uri="{FF2B5EF4-FFF2-40B4-BE49-F238E27FC236}">
                <a16:creationId xmlns:a16="http://schemas.microsoft.com/office/drawing/2014/main" id="{13A86A6C-460C-4450-AFC1-B22C3E51F7EB}"/>
              </a:ext>
            </a:extLst>
          </p:cNvPr>
          <p:cNvSpPr>
            <a:spLocks xmlns:a="http://schemas.openxmlformats.org/drawingml/2006/main" noGrp="1"/>
          </p:cNvSpPr>
          <p:nvPr/>
        </p:nvSpPr>
        <p:spPr>
          <a:xfrm xmlns:a="http://schemas.openxmlformats.org/drawingml/2006/main" flipH="0" flipV="0">
            <a:off x="4104323" y="2948369"/>
            <a:ext cx="0" cy="804481"/>
          </a:xfrm>
          <a:prstGeom xmlns:a="http://schemas.openxmlformats.org/drawingml/2006/main" prst="line">
            <a:avLst/>
          </a:prstGeom>
          <a:noFill xmlns:a="http://schemas.openxmlformats.org/drawingml/2006/main"/>
          <a:ln xmlns:a="http://schemas.openxmlformats.org/drawingml/2006/main" w="30480">
            <a:solidFill>
              <a:srgbClr val="69AEF5"/>
            </a:solidFill>
            <a:prstDash val="solid"/>
          </a:ln>
        </p:spPr>
      </p:sp>
      <p:sp>
        <p:nvSpPr>
          <p:cNvPr id="32" name="signed-state-flow-head">
            <a:extLst xmlns:a="http://schemas.openxmlformats.org/drawingml/2006/main">
              <a:ext uri="{FF2B5EF4-FFF2-40B4-BE49-F238E27FC236}">
                <a16:creationId xmlns:a16="http://schemas.microsoft.com/office/drawing/2014/main" id="{4ECBF96F-20A5-42E6-B86F-27B867E0D638}"/>
              </a:ext>
            </a:extLst>
          </p:cNvPr>
          <p:cNvSpPr>
            <a:spLocks xmlns:a="http://schemas.openxmlformats.org/drawingml/2006/main" noGrp="1"/>
          </p:cNvSpPr>
          <p:nvPr/>
        </p:nvSpPr>
        <p:spPr>
          <a:xfrm xmlns:a="http://schemas.openxmlformats.org/drawingml/2006/main" rot="10800000">
            <a:off x="4056698" y="3705225"/>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33" name="envoy-authz-frame">
            <a:extLst xmlns:a="http://schemas.openxmlformats.org/drawingml/2006/main">
              <a:ext uri="{FF2B5EF4-FFF2-40B4-BE49-F238E27FC236}">
                <a16:creationId xmlns:a16="http://schemas.microsoft.com/office/drawing/2014/main" id="{C3F524E9-B969-437B-BBD9-B50CC8694AEC}"/>
              </a:ext>
            </a:extLst>
          </p:cNvPr>
          <p:cNvSpPr>
            <a:spLocks xmlns:a="http://schemas.openxmlformats.org/drawingml/2006/main" noGrp="1"/>
          </p:cNvSpPr>
          <p:nvPr/>
        </p:nvSpPr>
        <p:spPr>
          <a:xfrm xmlns:a="http://schemas.openxmlformats.org/drawingml/2006/main" rot="0">
            <a:off x="2698433" y="3870008"/>
            <a:ext cx="2811780" cy="781050"/>
          </a:xfrm>
          <a:prstGeom xmlns:a="http://schemas.openxmlformats.org/drawingml/2006/main" prst="roundRect">
            <a:avLst>
              <a:gd name="adj" fmla="val 9756"/>
            </a:avLst>
          </a:prstGeom>
          <a:solidFill xmlns:a="http://schemas.openxmlformats.org/drawingml/2006/main">
            <a:srgbClr val="10151C"/>
          </a:solidFill>
          <a:ln xmlns:a="http://schemas.openxmlformats.org/drawingml/2006/main" w="13335">
            <a:solidFill>
              <a:srgbClr val="40505D"/>
            </a:solidFill>
            <a:prstDash val="solid"/>
          </a:ln>
        </p:spPr>
      </p:sp>
      <p:sp>
        <p:nvSpPr>
          <p:cNvPr id="34" name="envoy-authz-title">
            <a:extLst xmlns:a="http://schemas.openxmlformats.org/drawingml/2006/main">
              <a:ext uri="{FF2B5EF4-FFF2-40B4-BE49-F238E27FC236}">
                <a16:creationId xmlns:a16="http://schemas.microsoft.com/office/drawing/2014/main" id="{E132AA6B-818F-4374-BB25-607E2CB0DC13}"/>
              </a:ext>
            </a:extLst>
          </p:cNvPr>
          <p:cNvSpPr>
            <a:spLocks xmlns:a="http://schemas.openxmlformats.org/drawingml/2006/main" noGrp="1"/>
          </p:cNvSpPr>
          <p:nvPr/>
        </p:nvSpPr>
        <p:spPr>
          <a:xfrm xmlns:a="http://schemas.openxmlformats.org/drawingml/2006/main" rot="0">
            <a:off x="2774633" y="3946208"/>
            <a:ext cx="26593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Envoy external authorization</a:t>
            </a:r>
          </a:p>
        </p:txBody>
      </p:sp>
      <p:sp>
        <p:nvSpPr>
          <p:cNvPr id="35" name="envoy-authz-subtitle">
            <a:extLst xmlns:a="http://schemas.openxmlformats.org/drawingml/2006/main">
              <a:ext uri="{FF2B5EF4-FFF2-40B4-BE49-F238E27FC236}">
                <a16:creationId xmlns:a16="http://schemas.microsoft.com/office/drawing/2014/main" id="{4F21CFCB-3CA8-4DD3-ABA3-2B6D3BA27221}"/>
              </a:ext>
            </a:extLst>
          </p:cNvPr>
          <p:cNvSpPr>
            <a:spLocks xmlns:a="http://schemas.openxmlformats.org/drawingml/2006/main" noGrp="1"/>
          </p:cNvSpPr>
          <p:nvPr/>
        </p:nvSpPr>
        <p:spPr>
          <a:xfrm xmlns:a="http://schemas.openxmlformats.org/drawingml/2006/main" rot="0">
            <a:off x="2774633" y="4165283"/>
            <a:ext cx="265938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verify and consume</a:t>
            </a:r>
          </a:p>
        </p:txBody>
      </p:sp>
      <p:sp>
        <p:nvSpPr>
          <p:cNvPr id="36" name="fresh-evidence-frame">
            <a:extLst xmlns:a="http://schemas.openxmlformats.org/drawingml/2006/main">
              <a:ext uri="{FF2B5EF4-FFF2-40B4-BE49-F238E27FC236}">
                <a16:creationId xmlns:a16="http://schemas.microsoft.com/office/drawing/2014/main" id="{5AB8C674-B006-4C6B-8737-9ADDF6CC929B}"/>
              </a:ext>
            </a:extLst>
          </p:cNvPr>
          <p:cNvSpPr>
            <a:spLocks xmlns:a="http://schemas.openxmlformats.org/drawingml/2006/main" noGrp="1"/>
          </p:cNvSpPr>
          <p:nvPr/>
        </p:nvSpPr>
        <p:spPr>
          <a:xfrm xmlns:a="http://schemas.openxmlformats.org/drawingml/2006/main" rot="0">
            <a:off x="6681788" y="2128266"/>
            <a:ext cx="2811780" cy="820103"/>
          </a:xfrm>
          <a:prstGeom xmlns:a="http://schemas.openxmlformats.org/drawingml/2006/main" prst="roundRect">
            <a:avLst>
              <a:gd name="adj" fmla="val 9292"/>
            </a:avLst>
          </a:prstGeom>
          <a:solidFill xmlns:a="http://schemas.openxmlformats.org/drawingml/2006/main">
            <a:srgbClr val="10151C"/>
          </a:solidFill>
          <a:ln xmlns:a="http://schemas.openxmlformats.org/drawingml/2006/main" w="13335">
            <a:solidFill>
              <a:srgbClr val="40505D"/>
            </a:solidFill>
            <a:prstDash val="solid"/>
          </a:ln>
        </p:spPr>
      </p:sp>
      <p:sp>
        <p:nvSpPr>
          <p:cNvPr id="37" name="fresh-evidence-title">
            <a:extLst xmlns:a="http://schemas.openxmlformats.org/drawingml/2006/main">
              <a:ext uri="{FF2B5EF4-FFF2-40B4-BE49-F238E27FC236}">
                <a16:creationId xmlns:a16="http://schemas.microsoft.com/office/drawing/2014/main" id="{F6785875-B3F2-4F45-A3FD-52AF69F53E0D}"/>
              </a:ext>
            </a:extLst>
          </p:cNvPr>
          <p:cNvSpPr>
            <a:spLocks xmlns:a="http://schemas.openxmlformats.org/drawingml/2006/main" noGrp="1"/>
          </p:cNvSpPr>
          <p:nvPr/>
        </p:nvSpPr>
        <p:spPr>
          <a:xfrm xmlns:a="http://schemas.openxmlformats.org/drawingml/2006/main" rot="0">
            <a:off x="6757988" y="2204466"/>
            <a:ext cx="26593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Fresh trajectory evidence</a:t>
            </a:r>
          </a:p>
        </p:txBody>
      </p:sp>
      <p:sp>
        <p:nvSpPr>
          <p:cNvPr id="38" name="fresh-evidence-subtitle">
            <a:extLst xmlns:a="http://schemas.openxmlformats.org/drawingml/2006/main">
              <a:ext uri="{FF2B5EF4-FFF2-40B4-BE49-F238E27FC236}">
                <a16:creationId xmlns:a16="http://schemas.microsoft.com/office/drawing/2014/main" id="{DC3BE6EC-2CDD-492B-A36E-95E6B30024D4}"/>
              </a:ext>
            </a:extLst>
          </p:cNvPr>
          <p:cNvSpPr>
            <a:spLocks xmlns:a="http://schemas.openxmlformats.org/drawingml/2006/main" noGrp="1"/>
          </p:cNvSpPr>
          <p:nvPr/>
        </p:nvSpPr>
        <p:spPr>
          <a:xfrm xmlns:a="http://schemas.openxmlformats.org/drawingml/2006/main" rot="0">
            <a:off x="6757988" y="2423541"/>
            <a:ext cx="2659380" cy="46767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worker → Kubernetes control plane</a:t>
            </a:r>
          </a:p>
        </p:txBody>
      </p:sp>
      <p:sp>
        <p:nvSpPr>
          <p:cNvPr id="39" name="fresh-evidence-flow-line">
            <a:extLst xmlns:a="http://schemas.openxmlformats.org/drawingml/2006/main">
              <a:ext uri="{FF2B5EF4-FFF2-40B4-BE49-F238E27FC236}">
                <a16:creationId xmlns:a16="http://schemas.microsoft.com/office/drawing/2014/main" id="{CE80F0AE-B355-4105-BBFF-0314D3414C50}"/>
              </a:ext>
            </a:extLst>
          </p:cNvPr>
          <p:cNvSpPr>
            <a:spLocks xmlns:a="http://schemas.openxmlformats.org/drawingml/2006/main" noGrp="1"/>
          </p:cNvSpPr>
          <p:nvPr/>
        </p:nvSpPr>
        <p:spPr>
          <a:xfrm xmlns:a="http://schemas.openxmlformats.org/drawingml/2006/main" flipH="0" flipV="0">
            <a:off x="8087678" y="2948369"/>
            <a:ext cx="0" cy="804481"/>
          </a:xfrm>
          <a:prstGeom xmlns:a="http://schemas.openxmlformats.org/drawingml/2006/main" prst="line">
            <a:avLst/>
          </a:prstGeom>
          <a:noFill xmlns:a="http://schemas.openxmlformats.org/drawingml/2006/main"/>
          <a:ln xmlns:a="http://schemas.openxmlformats.org/drawingml/2006/main" w="30480">
            <a:solidFill>
              <a:srgbClr val="FF766C"/>
            </a:solidFill>
            <a:prstDash val="solid"/>
          </a:ln>
        </p:spPr>
      </p:sp>
      <p:sp>
        <p:nvSpPr>
          <p:cNvPr id="40" name="fresh-evidence-flow-head">
            <a:extLst xmlns:a="http://schemas.openxmlformats.org/drawingml/2006/main">
              <a:ext uri="{FF2B5EF4-FFF2-40B4-BE49-F238E27FC236}">
                <a16:creationId xmlns:a16="http://schemas.microsoft.com/office/drawing/2014/main" id="{3E9B2EF3-1614-4CAD-8858-26ED39DF46F7}"/>
              </a:ext>
            </a:extLst>
          </p:cNvPr>
          <p:cNvSpPr>
            <a:spLocks xmlns:a="http://schemas.openxmlformats.org/drawingml/2006/main" noGrp="1"/>
          </p:cNvSpPr>
          <p:nvPr/>
        </p:nvSpPr>
        <p:spPr>
          <a:xfrm xmlns:a="http://schemas.openxmlformats.org/drawingml/2006/main" rot="10800000">
            <a:off x="8040053" y="3705225"/>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41" name="local-overlay-frame">
            <a:extLst xmlns:a="http://schemas.openxmlformats.org/drawingml/2006/main">
              <a:ext uri="{FF2B5EF4-FFF2-40B4-BE49-F238E27FC236}">
                <a16:creationId xmlns:a16="http://schemas.microsoft.com/office/drawing/2014/main" id="{1A4297BF-298F-4C97-A35E-EA7E6D171411}"/>
              </a:ext>
            </a:extLst>
          </p:cNvPr>
          <p:cNvSpPr>
            <a:spLocks xmlns:a="http://schemas.openxmlformats.org/drawingml/2006/main" noGrp="1"/>
          </p:cNvSpPr>
          <p:nvPr/>
        </p:nvSpPr>
        <p:spPr>
          <a:xfrm xmlns:a="http://schemas.openxmlformats.org/drawingml/2006/main" rot="0">
            <a:off x="6681788" y="3870008"/>
            <a:ext cx="2811780" cy="781050"/>
          </a:xfrm>
          <a:prstGeom xmlns:a="http://schemas.openxmlformats.org/drawingml/2006/main" prst="roundRect">
            <a:avLst>
              <a:gd name="adj" fmla="val 9756"/>
            </a:avLst>
          </a:prstGeom>
          <a:solidFill xmlns:a="http://schemas.openxmlformats.org/drawingml/2006/main">
            <a:srgbClr val="10151C"/>
          </a:solidFill>
          <a:ln xmlns:a="http://schemas.openxmlformats.org/drawingml/2006/main" w="13335">
            <a:solidFill>
              <a:srgbClr val="40505D"/>
            </a:solidFill>
            <a:prstDash val="solid"/>
          </a:ln>
        </p:spPr>
      </p:sp>
      <p:sp>
        <p:nvSpPr>
          <p:cNvPr id="42" name="local-overlay-title">
            <a:extLst xmlns:a="http://schemas.openxmlformats.org/drawingml/2006/main">
              <a:ext uri="{FF2B5EF4-FFF2-40B4-BE49-F238E27FC236}">
                <a16:creationId xmlns:a16="http://schemas.microsoft.com/office/drawing/2014/main" id="{9E130ECE-34AA-4E28-BC05-DF079323C854}"/>
              </a:ext>
            </a:extLst>
          </p:cNvPr>
          <p:cNvSpPr>
            <a:spLocks xmlns:a="http://schemas.openxmlformats.org/drawingml/2006/main" noGrp="1"/>
          </p:cNvSpPr>
          <p:nvPr/>
        </p:nvSpPr>
        <p:spPr>
          <a:xfrm xmlns:a="http://schemas.openxmlformats.org/drawingml/2006/main" rot="0">
            <a:off x="6757988" y="3946208"/>
            <a:ext cx="26593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Reducing-only local overlay</a:t>
            </a:r>
          </a:p>
        </p:txBody>
      </p:sp>
      <p:sp>
        <p:nvSpPr>
          <p:cNvPr id="43" name="local-overlay-subtitle">
            <a:extLst xmlns:a="http://schemas.openxmlformats.org/drawingml/2006/main">
              <a:ext uri="{FF2B5EF4-FFF2-40B4-BE49-F238E27FC236}">
                <a16:creationId xmlns:a16="http://schemas.microsoft.com/office/drawing/2014/main" id="{389396E7-D79B-4A0E-9DF8-52FCCD2F5E14}"/>
              </a:ext>
            </a:extLst>
          </p:cNvPr>
          <p:cNvSpPr>
            <a:spLocks xmlns:a="http://schemas.openxmlformats.org/drawingml/2006/main" noGrp="1"/>
          </p:cNvSpPr>
          <p:nvPr/>
        </p:nvSpPr>
        <p:spPr>
          <a:xfrm xmlns:a="http://schemas.openxmlformats.org/drawingml/2006/main" rot="0">
            <a:off x="6757988" y="4165283"/>
            <a:ext cx="265938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effective authority can move only downward</a:t>
            </a:r>
          </a:p>
        </p:txBody>
      </p:sp>
      <p:sp>
        <p:nvSpPr>
          <p:cNvPr id="44" name="derived-effect-line">
            <a:extLst xmlns:a="http://schemas.openxmlformats.org/drawingml/2006/main">
              <a:ext uri="{FF2B5EF4-FFF2-40B4-BE49-F238E27FC236}">
                <a16:creationId xmlns:a16="http://schemas.microsoft.com/office/drawing/2014/main" id="{B6CB9C2C-9182-4662-A9E9-B1397E690A2E}"/>
              </a:ext>
            </a:extLst>
          </p:cNvPr>
          <p:cNvSpPr>
            <a:spLocks xmlns:a="http://schemas.openxmlformats.org/drawingml/2006/main" noGrp="1"/>
          </p:cNvSpPr>
          <p:nvPr/>
        </p:nvSpPr>
        <p:spPr>
          <a:xfrm xmlns:a="http://schemas.openxmlformats.org/drawingml/2006/main" flipH="0" flipV="0">
            <a:off x="5510213" y="4260533"/>
            <a:ext cx="1171575"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45" name="non-expansion-note">
            <a:extLst xmlns:a="http://schemas.openxmlformats.org/drawingml/2006/main">
              <a:ext uri="{FF2B5EF4-FFF2-40B4-BE49-F238E27FC236}">
                <a16:creationId xmlns:a16="http://schemas.microsoft.com/office/drawing/2014/main" id="{E506271F-001C-4C6D-9636-0298514DEACF}"/>
              </a:ext>
            </a:extLst>
          </p:cNvPr>
          <p:cNvSpPr>
            <a:spLocks xmlns:a="http://schemas.openxmlformats.org/drawingml/2006/main" noGrp="1"/>
          </p:cNvSpPr>
          <p:nvPr/>
        </p:nvSpPr>
        <p:spPr>
          <a:xfrm xmlns:a="http://schemas.openxmlformats.org/drawingml/2006/main" rot="0">
            <a:off x="3440430" y="4908804"/>
            <a:ext cx="531114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The fast path cannot mint authority, widen scope, or clear a KTP veto.</a:t>
            </a:r>
          </a:p>
        </p:txBody>
      </p:sp>
    </p:spTree>
    <p:extLst>
      <p:ext uri="{BB962C8B-B14F-4D97-AF65-F5344CB8AC3E}">
        <p14:creationId xmlns:p14="http://schemas.microsoft.com/office/powerpoint/2010/main" val="322065578"/>
      </p:ext>
    </p:extLst>
  </p:cSld>
</p:sld>
</file>

<file path=ppt/slides/slide10.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53" name="header-eyebrow">
            <a:extLst xmlns:a="http://schemas.openxmlformats.org/drawingml/2006/main">
              <a:ext uri="{FF2B5EF4-FFF2-40B4-BE49-F238E27FC236}">
                <a16:creationId xmlns:a16="http://schemas.microsoft.com/office/drawing/2014/main" id="{E9DBA7B7-7CE0-4A40-856E-B6E11C217928}"/>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1C873A8C-099F-409A-90CD-413CB2A64749}"/>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Modeled lab mapping   Case study 6 of 8   Waiting for presenter</a:t>
            </a:r>
          </a:p>
        </p:txBody>
      </p:sp>
      <p:sp>
        <p:nvSpPr>
          <p:cNvPr id="3" name="scene-title">
            <a:extLst xmlns:a="http://schemas.openxmlformats.org/drawingml/2006/main">
              <a:ext uri="{FF2B5EF4-FFF2-40B4-BE49-F238E27FC236}">
                <a16:creationId xmlns:a16="http://schemas.microsoft.com/office/drawing/2014/main" id="{7697AB45-D725-401B-A6FF-E714D13E5BE1}"/>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Observed breach, controlled lab, bounded result</a:t>
            </a:r>
          </a:p>
        </p:txBody>
      </p:sp>
      <p:sp>
        <p:nvSpPr>
          <p:cNvPr id="4" name="nav-act-primer">
            <a:extLst xmlns:a="http://schemas.openxmlformats.org/drawingml/2006/main">
              <a:ext uri="{FF2B5EF4-FFF2-40B4-BE49-F238E27FC236}">
                <a16:creationId xmlns:a16="http://schemas.microsoft.com/office/drawing/2014/main" id="{EFCE8CDC-BCDB-41CA-B75B-E514650F7D2C}"/>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8796E7C8-6A61-477C-8E61-82D6975E7251}"/>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52AC142D-E2AA-409E-8AE4-D172B4D00743}"/>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124B0716-F247-48E0-B624-44707917507A}"/>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CB1D3EAC-F217-40E8-A096-4CA174B6470B}"/>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4E2F9C1F-97A6-4718-961F-26E70109A375}"/>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A62E05B7-A084-4651-9214-3910F458950D}"/>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2B027852-F95C-4862-A36B-B3FAA24A903B}"/>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15411AF1-A36E-42C4-A1E7-E0F8880751E3}"/>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34A9F959-978E-4F55-9760-E1C628A87195}"/>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981FFB90-D1B1-4AB4-9CA0-9400C7CC43B4}"/>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83C0243C-4042-44CC-B724-D374D858D54E}"/>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0B4BE673-FAC5-4448-A66F-C07C1A849745}"/>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CCE92D6D-7AD3-44E2-825F-19B955E59F7C}"/>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95412EAE-6BDE-468C-96B9-02E062B19A1A}"/>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19" name="nav-scene-6-label">
            <a:extLst xmlns:a="http://schemas.openxmlformats.org/drawingml/2006/main">
              <a:ext uri="{FF2B5EF4-FFF2-40B4-BE49-F238E27FC236}">
                <a16:creationId xmlns:a16="http://schemas.microsoft.com/office/drawing/2014/main" id="{8EB48EDF-EFD5-4BDF-9C93-49EFB942FC2B}"/>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6</a:t>
            </a:r>
          </a:p>
        </p:txBody>
      </p:sp>
      <p:sp>
        <p:nvSpPr>
          <p:cNvPr id="20" name="nav-scene-7">
            <a:extLst xmlns:a="http://schemas.openxmlformats.org/drawingml/2006/main">
              <a:ext uri="{FF2B5EF4-FFF2-40B4-BE49-F238E27FC236}">
                <a16:creationId xmlns:a16="http://schemas.microsoft.com/office/drawing/2014/main" id="{E8A626D4-BA65-4EE8-840B-081E2C8CF619}"/>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8692E578-4CB8-4100-AF4B-456438D79A9C}"/>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C5817D05-779D-4F59-91FC-4B2684BBC323}"/>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BEBBB336-FB20-4204-9C42-F2FDA0649AA7}"/>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48BD01EF-CD1A-4BFC-A68C-03A140B219BE}"/>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B85D1388-0285-432B-BFAD-FD222931737E}"/>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The lab isolates one mediated action and shows where reducing-only KIL evidence changes the derived transport effect.</a:t>
            </a:r>
          </a:p>
        </p:txBody>
      </p:sp>
      <p:sp>
        <p:nvSpPr>
          <p:cNvPr id="26" name="source-rail">
            <a:extLst xmlns:a="http://schemas.openxmlformats.org/drawingml/2006/main">
              <a:ext uri="{FF2B5EF4-FFF2-40B4-BE49-F238E27FC236}">
                <a16:creationId xmlns:a16="http://schemas.microsoft.com/office/drawing/2014/main" id="{0D267710-8BDC-47E9-ADE1-568FCE992A87}"/>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observed-label">
            <a:extLst xmlns:a="http://schemas.openxmlformats.org/drawingml/2006/main">
              <a:ext uri="{FF2B5EF4-FFF2-40B4-BE49-F238E27FC236}">
                <a16:creationId xmlns:a16="http://schemas.microsoft.com/office/drawing/2014/main" id="{769B5CE7-136E-4B99-BAE5-0EF6B2A9764D}"/>
              </a:ext>
            </a:extLst>
          </p:cNvPr>
          <p:cNvSpPr>
            <a:spLocks xmlns:a="http://schemas.openxmlformats.org/drawingml/2006/main" noGrp="1"/>
          </p:cNvSpPr>
          <p:nvPr/>
        </p:nvSpPr>
        <p:spPr>
          <a:xfrm xmlns:a="http://schemas.openxmlformats.org/drawingml/2006/main" rot="0">
            <a:off x="2542223" y="1503426"/>
            <a:ext cx="2733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01 · OBSERVED INCIDENT</a:t>
            </a:r>
          </a:p>
        </p:txBody>
      </p:sp>
      <p:sp>
        <p:nvSpPr>
          <p:cNvPr id="28" name="observed-line-one">
            <a:extLst xmlns:a="http://schemas.openxmlformats.org/drawingml/2006/main">
              <a:ext uri="{FF2B5EF4-FFF2-40B4-BE49-F238E27FC236}">
                <a16:creationId xmlns:a16="http://schemas.microsoft.com/office/drawing/2014/main" id="{4641638A-D8B5-4C14-9864-29F1CE280E2B}"/>
              </a:ext>
            </a:extLst>
          </p:cNvPr>
          <p:cNvSpPr>
            <a:spLocks xmlns:a="http://schemas.openxmlformats.org/drawingml/2006/main" noGrp="1"/>
          </p:cNvSpPr>
          <p:nvPr/>
        </p:nvSpPr>
        <p:spPr>
          <a:xfrm xmlns:a="http://schemas.openxmlformats.org/drawingml/2006/main" rot="0">
            <a:off x="3713798" y="1722120"/>
            <a:ext cx="4764405" cy="1562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worker foothold → cluster API → cloud and node privilege</a:t>
            </a:r>
          </a:p>
        </p:txBody>
      </p:sp>
      <p:sp>
        <p:nvSpPr>
          <p:cNvPr id="29" name="observed-line-two">
            <a:extLst xmlns:a="http://schemas.openxmlformats.org/drawingml/2006/main">
              <a:ext uri="{FF2B5EF4-FFF2-40B4-BE49-F238E27FC236}">
                <a16:creationId xmlns:a16="http://schemas.microsoft.com/office/drawing/2014/main" id="{0E286255-BC9D-4423-8D54-7934D2725FFB}"/>
              </a:ext>
            </a:extLst>
          </p:cNvPr>
          <p:cNvSpPr>
            <a:spLocks xmlns:a="http://schemas.openxmlformats.org/drawingml/2006/main" noGrp="1"/>
          </p:cNvSpPr>
          <p:nvPr/>
        </p:nvSpPr>
        <p:spPr>
          <a:xfrm xmlns:a="http://schemas.openxmlformats.org/drawingml/2006/main" rot="0">
            <a:off x="3518535" y="1909572"/>
            <a:ext cx="5154930" cy="1562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136-key secret read → cross-cluster, mesh, token and CI pivot</a:t>
            </a:r>
          </a:p>
        </p:txBody>
      </p:sp>
      <p:sp>
        <p:nvSpPr>
          <p:cNvPr id="30" name="observed-rail-line">
            <a:extLst xmlns:a="http://schemas.openxmlformats.org/drawingml/2006/main">
              <a:ext uri="{FF2B5EF4-FFF2-40B4-BE49-F238E27FC236}">
                <a16:creationId xmlns:a16="http://schemas.microsoft.com/office/drawing/2014/main" id="{55FAE247-FC83-4A8A-9505-87CF9E09D1B1}"/>
              </a:ext>
            </a:extLst>
          </p:cNvPr>
          <p:cNvSpPr>
            <a:spLocks xmlns:a="http://schemas.openxmlformats.org/drawingml/2006/main" noGrp="1"/>
          </p:cNvSpPr>
          <p:nvPr/>
        </p:nvSpPr>
        <p:spPr>
          <a:xfrm xmlns:a="http://schemas.openxmlformats.org/drawingml/2006/main" flipH="0" flipV="0">
            <a:off x="2542223" y="2221992"/>
            <a:ext cx="7107555" cy="0"/>
          </a:xfrm>
          <a:prstGeom xmlns:a="http://schemas.openxmlformats.org/drawingml/2006/main" prst="line">
            <a:avLst/>
          </a:prstGeom>
          <a:noFill xmlns:a="http://schemas.openxmlformats.org/drawingml/2006/main"/>
          <a:ln xmlns:a="http://schemas.openxmlformats.org/drawingml/2006/main" w="28575">
            <a:solidFill>
              <a:srgbClr val="FF766C"/>
            </a:solidFill>
            <a:prstDash val="solid"/>
          </a:ln>
        </p:spPr>
      </p:sp>
      <p:sp>
        <p:nvSpPr>
          <p:cNvPr id="31" name="observed-rail-head">
            <a:extLst xmlns:a="http://schemas.openxmlformats.org/drawingml/2006/main">
              <a:ext uri="{FF2B5EF4-FFF2-40B4-BE49-F238E27FC236}">
                <a16:creationId xmlns:a16="http://schemas.microsoft.com/office/drawing/2014/main" id="{673B3BE2-1871-476F-8743-22049A43C183}"/>
              </a:ext>
            </a:extLst>
          </p:cNvPr>
          <p:cNvSpPr>
            <a:spLocks xmlns:a="http://schemas.openxmlformats.org/drawingml/2006/main" noGrp="1"/>
          </p:cNvSpPr>
          <p:nvPr/>
        </p:nvSpPr>
        <p:spPr>
          <a:xfrm xmlns:a="http://schemas.openxmlformats.org/drawingml/2006/main" rot="5400000">
            <a:off x="9602153" y="2174367"/>
            <a:ext cx="95250" cy="95250"/>
          </a:xfrm>
          <a:prstGeom xmlns:a="http://schemas.openxmlformats.org/drawingml/2006/main" prst="triangle">
            <a:avLst/>
          </a:prstGeom>
          <a:solidFill xmlns:a="http://schemas.openxmlformats.org/drawingml/2006/main">
            <a:srgbClr val="FF766C"/>
          </a:solidFill>
          <a:ln xmlns:a="http://schemas.openxmlformats.org/drawingml/2006/main" w="0">
            <a:solidFill>
              <a:srgbClr val="FF766C"/>
            </a:solidFill>
            <a:prstDash val="solid"/>
          </a:ln>
        </p:spPr>
      </p:sp>
      <p:sp>
        <p:nvSpPr>
          <p:cNvPr id="32" name="lab-label">
            <a:extLst xmlns:a="http://schemas.openxmlformats.org/drawingml/2006/main">
              <a:ext uri="{FF2B5EF4-FFF2-40B4-BE49-F238E27FC236}">
                <a16:creationId xmlns:a16="http://schemas.microsoft.com/office/drawing/2014/main" id="{B94E8692-0595-46D7-80F4-079F9FA0884E}"/>
              </a:ext>
            </a:extLst>
          </p:cNvPr>
          <p:cNvSpPr>
            <a:spLocks xmlns:a="http://schemas.openxmlformats.org/drawingml/2006/main" noGrp="1"/>
          </p:cNvSpPr>
          <p:nvPr/>
        </p:nvSpPr>
        <p:spPr>
          <a:xfrm xmlns:a="http://schemas.openxmlformats.org/drawingml/2006/main" rot="0">
            <a:off x="2542223" y="2315718"/>
            <a:ext cx="281178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02 · ENVOY LAB MODEL</a:t>
            </a:r>
          </a:p>
        </p:txBody>
      </p:sp>
      <p:sp>
        <p:nvSpPr>
          <p:cNvPr id="33" name="lab-description">
            <a:extLst xmlns:a="http://schemas.openxmlformats.org/drawingml/2006/main">
              <a:ext uri="{FF2B5EF4-FFF2-40B4-BE49-F238E27FC236}">
                <a16:creationId xmlns:a16="http://schemas.microsoft.com/office/drawing/2014/main" id="{85A4A953-E8A9-40AC-A76C-1B4646F33417}"/>
              </a:ext>
            </a:extLst>
          </p:cNvPr>
          <p:cNvSpPr>
            <a:spLocks xmlns:a="http://schemas.openxmlformats.org/drawingml/2006/main" noGrp="1"/>
          </p:cNvSpPr>
          <p:nvPr/>
        </p:nvSpPr>
        <p:spPr>
          <a:xfrm xmlns:a="http://schemas.openxmlformats.org/drawingml/2006/main" rot="0">
            <a:off x="2542223" y="2550033"/>
            <a:ext cx="7029450" cy="171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Same harmless normalized request · KTP result: supervision + tighten-only constraints</a:t>
            </a:r>
          </a:p>
        </p:txBody>
      </p:sp>
      <p:sp>
        <p:nvSpPr>
          <p:cNvPr id="34" name="track-1-frame">
            <a:extLst xmlns:a="http://schemas.openxmlformats.org/drawingml/2006/main">
              <a:ext uri="{FF2B5EF4-FFF2-40B4-BE49-F238E27FC236}">
                <a16:creationId xmlns:a16="http://schemas.microsoft.com/office/drawing/2014/main" id="{9747A84B-C87A-4370-8706-F98DA05D3B3E}"/>
              </a:ext>
            </a:extLst>
          </p:cNvPr>
          <p:cNvSpPr>
            <a:spLocks xmlns:a="http://schemas.openxmlformats.org/drawingml/2006/main" noGrp="1"/>
          </p:cNvSpPr>
          <p:nvPr/>
        </p:nvSpPr>
        <p:spPr>
          <a:xfrm xmlns:a="http://schemas.openxmlformats.org/drawingml/2006/main" rot="0">
            <a:off x="2542223" y="2768727"/>
            <a:ext cx="7107555" cy="390525"/>
          </a:xfrm>
          <a:prstGeom xmlns:a="http://schemas.openxmlformats.org/drawingml/2006/main" prst="roundRect">
            <a:avLst>
              <a:gd name="adj" fmla="val 12195"/>
            </a:avLst>
          </a:prstGeom>
          <a:solidFill xmlns:a="http://schemas.openxmlformats.org/drawingml/2006/main">
            <a:srgbClr val="10151C"/>
          </a:solidFill>
          <a:ln xmlns:a="http://schemas.openxmlformats.org/drawingml/2006/main" w="11430">
            <a:solidFill>
              <a:srgbClr val="40505D"/>
            </a:solidFill>
            <a:prstDash val="solid"/>
          </a:ln>
        </p:spPr>
      </p:sp>
      <p:sp>
        <p:nvSpPr>
          <p:cNvPr id="35" name="track-1-accent">
            <a:extLst xmlns:a="http://schemas.openxmlformats.org/drawingml/2006/main">
              <a:ext uri="{FF2B5EF4-FFF2-40B4-BE49-F238E27FC236}">
                <a16:creationId xmlns:a16="http://schemas.microsoft.com/office/drawing/2014/main" id="{E195FFA1-C5ED-4323-8AB7-4020189C8432}"/>
              </a:ext>
            </a:extLst>
          </p:cNvPr>
          <p:cNvSpPr>
            <a:spLocks xmlns:a="http://schemas.openxmlformats.org/drawingml/2006/main" noGrp="1"/>
          </p:cNvSpPr>
          <p:nvPr/>
        </p:nvSpPr>
        <p:spPr>
          <a:xfrm xmlns:a="http://schemas.openxmlformats.org/drawingml/2006/main" rot="0">
            <a:off x="2542223" y="2768727"/>
            <a:ext cx="54674" cy="390525"/>
          </a:xfrm>
          <a:prstGeom xmlns:a="http://schemas.openxmlformats.org/drawingml/2006/main" prst="rect">
            <a:avLst/>
          </a:prstGeom>
          <a:solidFill xmlns:a="http://schemas.openxmlformats.org/drawingml/2006/main">
            <a:srgbClr val="69AEF5"/>
          </a:solidFill>
          <a:ln xmlns:a="http://schemas.openxmlformats.org/drawingml/2006/main" w="0">
            <a:solidFill>
              <a:srgbClr val="69AEF5"/>
            </a:solidFill>
            <a:prstDash val="solid"/>
          </a:ln>
        </p:spPr>
      </p:sp>
      <p:sp>
        <p:nvSpPr>
          <p:cNvPr id="36" name="track-1-label">
            <a:extLst xmlns:a="http://schemas.openxmlformats.org/drawingml/2006/main">
              <a:ext uri="{FF2B5EF4-FFF2-40B4-BE49-F238E27FC236}">
                <a16:creationId xmlns:a16="http://schemas.microsoft.com/office/drawing/2014/main" id="{C16F7757-878F-4A37-9D52-9C756227D797}"/>
              </a:ext>
            </a:extLst>
          </p:cNvPr>
          <p:cNvSpPr>
            <a:spLocks xmlns:a="http://schemas.openxmlformats.org/drawingml/2006/main" noGrp="1"/>
          </p:cNvSpPr>
          <p:nvPr/>
        </p:nvSpPr>
        <p:spPr>
          <a:xfrm xmlns:a="http://schemas.openxmlformats.org/drawingml/2006/main" rot="0">
            <a:off x="2706243" y="2846832"/>
            <a:ext cx="4061460"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EDF4FA"/>
                </a:solidFill>
              </a:defRPr>
            </a:pPr>
            <a:r>
              <a:rPr sz="825" b="1">
                <a:solidFill>
                  <a:srgbClr val="EDF4FA"/>
                </a:solidFill>
              </a:rPr>
              <a:t>A · credential policy</a:t>
            </a:r>
          </a:p>
        </p:txBody>
      </p:sp>
      <p:sp>
        <p:nvSpPr>
          <p:cNvPr id="37" name="track-1-result">
            <a:extLst xmlns:a="http://schemas.openxmlformats.org/drawingml/2006/main">
              <a:ext uri="{FF2B5EF4-FFF2-40B4-BE49-F238E27FC236}">
                <a16:creationId xmlns:a16="http://schemas.microsoft.com/office/drawing/2014/main" id="{544C180B-DCF0-4139-AC5E-43B2F1F3ABC1}"/>
              </a:ext>
            </a:extLst>
          </p:cNvPr>
          <p:cNvSpPr>
            <a:spLocks xmlns:a="http://schemas.openxmlformats.org/drawingml/2006/main" noGrp="1"/>
          </p:cNvSpPr>
          <p:nvPr/>
        </p:nvSpPr>
        <p:spPr>
          <a:xfrm xmlns:a="http://schemas.openxmlformats.org/drawingml/2006/main" rot="0">
            <a:off x="7189470" y="2846832"/>
            <a:ext cx="2225993"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0">
                <a:solidFill>
                  <a:srgbClr val="AAB9C5"/>
                </a:solidFill>
              </a:defRPr>
            </a:pPr>
            <a:r>
              <a:rPr sz="675" b="0">
                <a:solidFill>
                  <a:srgbClr val="AAB9C5"/>
                </a:solidFill>
              </a:rPr>
              <a:t>HTTP 200 · target 1</a:t>
            </a:r>
          </a:p>
        </p:txBody>
      </p:sp>
      <p:sp>
        <p:nvSpPr>
          <p:cNvPr id="38" name="track-2-frame">
            <a:extLst xmlns:a="http://schemas.openxmlformats.org/drawingml/2006/main">
              <a:ext uri="{FF2B5EF4-FFF2-40B4-BE49-F238E27FC236}">
                <a16:creationId xmlns:a16="http://schemas.microsoft.com/office/drawing/2014/main" id="{F3A96EE6-799C-4DB8-923C-B4213F6326C9}"/>
              </a:ext>
            </a:extLst>
          </p:cNvPr>
          <p:cNvSpPr>
            <a:spLocks xmlns:a="http://schemas.openxmlformats.org/drawingml/2006/main" noGrp="1"/>
          </p:cNvSpPr>
          <p:nvPr/>
        </p:nvSpPr>
        <p:spPr>
          <a:xfrm xmlns:a="http://schemas.openxmlformats.org/drawingml/2006/main" rot="0">
            <a:off x="2542223" y="3221736"/>
            <a:ext cx="7107555" cy="390525"/>
          </a:xfrm>
          <a:prstGeom xmlns:a="http://schemas.openxmlformats.org/drawingml/2006/main" prst="roundRect">
            <a:avLst>
              <a:gd name="adj" fmla="val 12195"/>
            </a:avLst>
          </a:prstGeom>
          <a:solidFill xmlns:a="http://schemas.openxmlformats.org/drawingml/2006/main">
            <a:srgbClr val="10151C"/>
          </a:solidFill>
          <a:ln xmlns:a="http://schemas.openxmlformats.org/drawingml/2006/main" w="11430">
            <a:solidFill>
              <a:srgbClr val="40505D"/>
            </a:solidFill>
            <a:prstDash val="solid"/>
          </a:ln>
        </p:spPr>
      </p:sp>
      <p:sp>
        <p:nvSpPr>
          <p:cNvPr id="39" name="track-2-accent">
            <a:extLst xmlns:a="http://schemas.openxmlformats.org/drawingml/2006/main">
              <a:ext uri="{FF2B5EF4-FFF2-40B4-BE49-F238E27FC236}">
                <a16:creationId xmlns:a16="http://schemas.microsoft.com/office/drawing/2014/main" id="{D5E2F252-EE12-4A99-B734-BF3E4C22F50E}"/>
              </a:ext>
            </a:extLst>
          </p:cNvPr>
          <p:cNvSpPr>
            <a:spLocks xmlns:a="http://schemas.openxmlformats.org/drawingml/2006/main" noGrp="1"/>
          </p:cNvSpPr>
          <p:nvPr/>
        </p:nvSpPr>
        <p:spPr>
          <a:xfrm xmlns:a="http://schemas.openxmlformats.org/drawingml/2006/main" rot="0">
            <a:off x="2542223" y="3221736"/>
            <a:ext cx="54674" cy="390525"/>
          </a:xfrm>
          <a:prstGeom xmlns:a="http://schemas.openxmlformats.org/drawingml/2006/main" prst="rect">
            <a:avLst/>
          </a:prstGeom>
          <a:solidFill xmlns:a="http://schemas.openxmlformats.org/drawingml/2006/main">
            <a:srgbClr val="69AEF5"/>
          </a:solidFill>
          <a:ln xmlns:a="http://schemas.openxmlformats.org/drawingml/2006/main" w="0">
            <a:solidFill>
              <a:srgbClr val="69AEF5"/>
            </a:solidFill>
            <a:prstDash val="solid"/>
          </a:ln>
        </p:spPr>
      </p:sp>
      <p:sp>
        <p:nvSpPr>
          <p:cNvPr id="40" name="track-2-label">
            <a:extLst xmlns:a="http://schemas.openxmlformats.org/drawingml/2006/main">
              <a:ext uri="{FF2B5EF4-FFF2-40B4-BE49-F238E27FC236}">
                <a16:creationId xmlns:a16="http://schemas.microsoft.com/office/drawing/2014/main" id="{E1BB4FCB-F05E-4675-BC49-F5EC9AC757C2}"/>
              </a:ext>
            </a:extLst>
          </p:cNvPr>
          <p:cNvSpPr>
            <a:spLocks xmlns:a="http://schemas.openxmlformats.org/drawingml/2006/main" noGrp="1"/>
          </p:cNvSpPr>
          <p:nvPr/>
        </p:nvSpPr>
        <p:spPr>
          <a:xfrm xmlns:a="http://schemas.openxmlformats.org/drawingml/2006/main" rot="0">
            <a:off x="2706243" y="3299841"/>
            <a:ext cx="4061460"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EDF4FA"/>
                </a:solidFill>
              </a:defRPr>
            </a:pPr>
            <a:r>
              <a:rPr sz="825" b="1">
                <a:solidFill>
                  <a:srgbClr val="EDF4FA"/>
                </a:solidFill>
              </a:rPr>
              <a:t>B · signed composite KTP state</a:t>
            </a:r>
          </a:p>
        </p:txBody>
      </p:sp>
      <p:sp>
        <p:nvSpPr>
          <p:cNvPr id="41" name="track-2-result">
            <a:extLst xmlns:a="http://schemas.openxmlformats.org/drawingml/2006/main">
              <a:ext uri="{FF2B5EF4-FFF2-40B4-BE49-F238E27FC236}">
                <a16:creationId xmlns:a16="http://schemas.microsoft.com/office/drawing/2014/main" id="{AF72863B-198E-45E2-A040-7B6C9EE7FA34}"/>
              </a:ext>
            </a:extLst>
          </p:cNvPr>
          <p:cNvSpPr>
            <a:spLocks xmlns:a="http://schemas.openxmlformats.org/drawingml/2006/main" noGrp="1"/>
          </p:cNvSpPr>
          <p:nvPr/>
        </p:nvSpPr>
        <p:spPr>
          <a:xfrm xmlns:a="http://schemas.openxmlformats.org/drawingml/2006/main" rot="0">
            <a:off x="7189470" y="3299841"/>
            <a:ext cx="2225993"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0">
                <a:solidFill>
                  <a:srgbClr val="AAB9C5"/>
                </a:solidFill>
              </a:defRPr>
            </a:pPr>
            <a:r>
              <a:rPr sz="675" b="0">
                <a:solidFill>
                  <a:srgbClr val="AAB9C5"/>
                </a:solidFill>
              </a:rPr>
              <a:t>HTTP 200 · target 1</a:t>
            </a:r>
          </a:p>
        </p:txBody>
      </p:sp>
      <p:sp>
        <p:nvSpPr>
          <p:cNvPr id="42" name="track-3-frame">
            <a:extLst xmlns:a="http://schemas.openxmlformats.org/drawingml/2006/main">
              <a:ext uri="{FF2B5EF4-FFF2-40B4-BE49-F238E27FC236}">
                <a16:creationId xmlns:a16="http://schemas.microsoft.com/office/drawing/2014/main" id="{643B6EDA-E4E4-4E5D-A6D9-AE94C44323A5}"/>
              </a:ext>
            </a:extLst>
          </p:cNvPr>
          <p:cNvSpPr>
            <a:spLocks xmlns:a="http://schemas.openxmlformats.org/drawingml/2006/main" noGrp="1"/>
          </p:cNvSpPr>
          <p:nvPr/>
        </p:nvSpPr>
        <p:spPr>
          <a:xfrm xmlns:a="http://schemas.openxmlformats.org/drawingml/2006/main" rot="0">
            <a:off x="2542223" y="3674745"/>
            <a:ext cx="7107555" cy="390525"/>
          </a:xfrm>
          <a:prstGeom xmlns:a="http://schemas.openxmlformats.org/drawingml/2006/main" prst="roundRect">
            <a:avLst>
              <a:gd name="adj" fmla="val 12195"/>
            </a:avLst>
          </a:prstGeom>
          <a:solidFill xmlns:a="http://schemas.openxmlformats.org/drawingml/2006/main">
            <a:srgbClr val="10151C"/>
          </a:solidFill>
          <a:ln xmlns:a="http://schemas.openxmlformats.org/drawingml/2006/main" w="11430">
            <a:solidFill>
              <a:srgbClr val="40505D"/>
            </a:solidFill>
            <a:prstDash val="solid"/>
          </a:ln>
        </p:spPr>
      </p:sp>
      <p:sp>
        <p:nvSpPr>
          <p:cNvPr id="43" name="track-3-accent">
            <a:extLst xmlns:a="http://schemas.openxmlformats.org/drawingml/2006/main">
              <a:ext uri="{FF2B5EF4-FFF2-40B4-BE49-F238E27FC236}">
                <a16:creationId xmlns:a16="http://schemas.microsoft.com/office/drawing/2014/main" id="{D6FDCBC7-9A00-45FC-A117-CD95F0509697}"/>
              </a:ext>
            </a:extLst>
          </p:cNvPr>
          <p:cNvSpPr>
            <a:spLocks xmlns:a="http://schemas.openxmlformats.org/drawingml/2006/main" noGrp="1"/>
          </p:cNvSpPr>
          <p:nvPr/>
        </p:nvSpPr>
        <p:spPr>
          <a:xfrm xmlns:a="http://schemas.openxmlformats.org/drawingml/2006/main" rot="0">
            <a:off x="2542223" y="3674745"/>
            <a:ext cx="54674" cy="390525"/>
          </a:xfrm>
          <a:prstGeom xmlns:a="http://schemas.openxmlformats.org/drawingml/2006/main" prst="rect">
            <a:avLst/>
          </a:prstGeom>
          <a:solidFill xmlns:a="http://schemas.openxmlformats.org/drawingml/2006/main">
            <a:srgbClr val="FF766C"/>
          </a:solidFill>
          <a:ln xmlns:a="http://schemas.openxmlformats.org/drawingml/2006/main" w="0">
            <a:solidFill>
              <a:srgbClr val="FF766C"/>
            </a:solidFill>
            <a:prstDash val="solid"/>
          </a:ln>
        </p:spPr>
      </p:sp>
      <p:sp>
        <p:nvSpPr>
          <p:cNvPr id="44" name="track-3-label">
            <a:extLst xmlns:a="http://schemas.openxmlformats.org/drawingml/2006/main">
              <a:ext uri="{FF2B5EF4-FFF2-40B4-BE49-F238E27FC236}">
                <a16:creationId xmlns:a16="http://schemas.microsoft.com/office/drawing/2014/main" id="{0C958368-63EF-4E0B-B5BA-A6898CED2204}"/>
              </a:ext>
            </a:extLst>
          </p:cNvPr>
          <p:cNvSpPr>
            <a:spLocks xmlns:a="http://schemas.openxmlformats.org/drawingml/2006/main" noGrp="1"/>
          </p:cNvSpPr>
          <p:nvPr/>
        </p:nvSpPr>
        <p:spPr>
          <a:xfrm xmlns:a="http://schemas.openxmlformats.org/drawingml/2006/main" rot="0">
            <a:off x="2706243" y="3752850"/>
            <a:ext cx="4061460"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EDF4FA"/>
                </a:solidFill>
              </a:defRPr>
            </a:pPr>
            <a:r>
              <a:rPr sz="825" b="1">
                <a:solidFill>
                  <a:srgbClr val="EDF4FA"/>
                </a:solidFill>
              </a:rPr>
              <a:t>C · state + 0.95 modeled local reduction</a:t>
            </a:r>
          </a:p>
        </p:txBody>
      </p:sp>
      <p:sp>
        <p:nvSpPr>
          <p:cNvPr id="45" name="track-3-result">
            <a:extLst xmlns:a="http://schemas.openxmlformats.org/drawingml/2006/main">
              <a:ext uri="{FF2B5EF4-FFF2-40B4-BE49-F238E27FC236}">
                <a16:creationId xmlns:a16="http://schemas.microsoft.com/office/drawing/2014/main" id="{F0AED616-9133-44EE-A8A8-48D58C8798CD}"/>
              </a:ext>
            </a:extLst>
          </p:cNvPr>
          <p:cNvSpPr>
            <a:spLocks xmlns:a="http://schemas.openxmlformats.org/drawingml/2006/main" noGrp="1"/>
          </p:cNvSpPr>
          <p:nvPr/>
        </p:nvSpPr>
        <p:spPr>
          <a:xfrm xmlns:a="http://schemas.openxmlformats.org/drawingml/2006/main" rot="0">
            <a:off x="7189470" y="3752850"/>
            <a:ext cx="2225993"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75" b="0">
                <a:solidFill>
                  <a:srgbClr val="AAB9C5"/>
                </a:solidFill>
              </a:defRPr>
            </a:pPr>
            <a:r>
              <a:rPr sz="675" b="0">
                <a:solidFill>
                  <a:srgbClr val="AAB9C5"/>
                </a:solidFill>
              </a:rPr>
              <a:t>Envoy-derived effect: HTTP 403 · target 0</a:t>
            </a:r>
          </a:p>
        </p:txBody>
      </p:sp>
      <p:sp>
        <p:nvSpPr>
          <p:cNvPr id="46" name="result-label">
            <a:extLst xmlns:a="http://schemas.openxmlformats.org/drawingml/2006/main">
              <a:ext uri="{FF2B5EF4-FFF2-40B4-BE49-F238E27FC236}">
                <a16:creationId xmlns:a16="http://schemas.microsoft.com/office/drawing/2014/main" id="{E130D38A-BF81-48A7-A79C-9CF9064499BB}"/>
              </a:ext>
            </a:extLst>
          </p:cNvPr>
          <p:cNvSpPr>
            <a:spLocks xmlns:a="http://schemas.openxmlformats.org/drawingml/2006/main" noGrp="1"/>
          </p:cNvSpPr>
          <p:nvPr/>
        </p:nvSpPr>
        <p:spPr>
          <a:xfrm xmlns:a="http://schemas.openxmlformats.org/drawingml/2006/main" rot="0">
            <a:off x="2542223" y="4268343"/>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03 · KIL COUNTERFACTUAL RESULT</a:t>
            </a:r>
          </a:p>
        </p:txBody>
      </p:sp>
      <p:sp>
        <p:nvSpPr>
          <p:cNvPr id="47" name="bounded-result-before-line">
            <a:extLst xmlns:a="http://schemas.openxmlformats.org/drawingml/2006/main">
              <a:ext uri="{FF2B5EF4-FFF2-40B4-BE49-F238E27FC236}">
                <a16:creationId xmlns:a16="http://schemas.microsoft.com/office/drawing/2014/main" id="{5788D221-4BE3-4837-A1C3-F043C92DC5FC}"/>
              </a:ext>
            </a:extLst>
          </p:cNvPr>
          <p:cNvSpPr>
            <a:spLocks xmlns:a="http://schemas.openxmlformats.org/drawingml/2006/main" noGrp="1"/>
          </p:cNvSpPr>
          <p:nvPr/>
        </p:nvSpPr>
        <p:spPr>
          <a:xfrm xmlns:a="http://schemas.openxmlformats.org/drawingml/2006/main" flipH="0" flipV="0">
            <a:off x="2542223" y="4643247"/>
            <a:ext cx="2460308" cy="0"/>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48" name="bounded-result-before-head">
            <a:extLst xmlns:a="http://schemas.openxmlformats.org/drawingml/2006/main">
              <a:ext uri="{FF2B5EF4-FFF2-40B4-BE49-F238E27FC236}">
                <a16:creationId xmlns:a16="http://schemas.microsoft.com/office/drawing/2014/main" id="{949BC26D-8351-42B4-9EEE-F5AFB96CC06A}"/>
              </a:ext>
            </a:extLst>
          </p:cNvPr>
          <p:cNvSpPr>
            <a:spLocks xmlns:a="http://schemas.openxmlformats.org/drawingml/2006/main" noGrp="1"/>
          </p:cNvSpPr>
          <p:nvPr/>
        </p:nvSpPr>
        <p:spPr>
          <a:xfrm xmlns:a="http://schemas.openxmlformats.org/drawingml/2006/main" rot="5400000">
            <a:off x="4954905" y="4595622"/>
            <a:ext cx="95250" cy="95250"/>
          </a:xfrm>
          <a:prstGeom xmlns:a="http://schemas.openxmlformats.org/drawingml/2006/main" prst="triangle">
            <a:avLst/>
          </a:prstGeom>
          <a:solidFill xmlns:a="http://schemas.openxmlformats.org/drawingml/2006/main">
            <a:srgbClr val="69AEF5"/>
          </a:solidFill>
          <a:ln xmlns:a="http://schemas.openxmlformats.org/drawingml/2006/main" w="0">
            <a:solidFill>
              <a:srgbClr val="69AEF5"/>
            </a:solidFill>
            <a:prstDash val="solid"/>
          </a:ln>
        </p:spPr>
      </p:sp>
      <p:sp>
        <p:nvSpPr>
          <p:cNvPr id="49" name="bounded-result-cutoff">
            <a:extLst xmlns:a="http://schemas.openxmlformats.org/drawingml/2006/main">
              <a:ext uri="{FF2B5EF4-FFF2-40B4-BE49-F238E27FC236}">
                <a16:creationId xmlns:a16="http://schemas.microsoft.com/office/drawing/2014/main" id="{86B8E668-3088-469E-B8C0-27AD4947EB05}"/>
              </a:ext>
            </a:extLst>
          </p:cNvPr>
          <p:cNvSpPr>
            <a:spLocks xmlns:a="http://schemas.openxmlformats.org/drawingml/2006/main" noGrp="1"/>
          </p:cNvSpPr>
          <p:nvPr/>
        </p:nvSpPr>
        <p:spPr>
          <a:xfrm xmlns:a="http://schemas.openxmlformats.org/drawingml/2006/main" rot="0">
            <a:off x="5080635" y="4518279"/>
            <a:ext cx="187452" cy="249936"/>
          </a:xfrm>
          <a:prstGeom xmlns:a="http://schemas.openxmlformats.org/drawingml/2006/main" prst="rect">
            <a:avLst/>
          </a:prstGeom>
          <a:solidFill xmlns:a="http://schemas.openxmlformats.org/drawingml/2006/main">
            <a:srgbClr val="69AEF5"/>
          </a:solidFill>
          <a:ln xmlns:a="http://schemas.openxmlformats.org/drawingml/2006/main" w="0">
            <a:solidFill>
              <a:srgbClr val="69AEF5"/>
            </a:solidFill>
            <a:prstDash val="solid"/>
          </a:ln>
        </p:spPr>
      </p:sp>
      <p:sp>
        <p:nvSpPr>
          <p:cNvPr id="50" name="bounded-result-after">
            <a:extLst xmlns:a="http://schemas.openxmlformats.org/drawingml/2006/main">
              <a:ext uri="{FF2B5EF4-FFF2-40B4-BE49-F238E27FC236}">
                <a16:creationId xmlns:a16="http://schemas.microsoft.com/office/drawing/2014/main" id="{4B9B97CD-EFF9-4C3B-A1A4-97ECDF2136A1}"/>
              </a:ext>
            </a:extLst>
          </p:cNvPr>
          <p:cNvSpPr>
            <a:spLocks xmlns:a="http://schemas.openxmlformats.org/drawingml/2006/main" noGrp="1"/>
          </p:cNvSpPr>
          <p:nvPr/>
        </p:nvSpPr>
        <p:spPr>
          <a:xfrm xmlns:a="http://schemas.openxmlformats.org/drawingml/2006/main" flipH="0" flipV="0">
            <a:off x="5268087" y="4643247"/>
            <a:ext cx="4381691" cy="0"/>
          </a:xfrm>
          <a:prstGeom xmlns:a="http://schemas.openxmlformats.org/drawingml/2006/main" prst="line">
            <a:avLst/>
          </a:prstGeom>
          <a:noFill xmlns:a="http://schemas.openxmlformats.org/drawingml/2006/main"/>
          <a:ln xmlns:a="http://schemas.openxmlformats.org/drawingml/2006/main" w="19050">
            <a:solidFill>
              <a:srgbClr val="40505D"/>
            </a:solidFill>
            <a:prstDash val="dash"/>
          </a:ln>
        </p:spPr>
      </p:sp>
      <p:sp>
        <p:nvSpPr>
          <p:cNvPr id="51" name="unreachable-note">
            <a:extLst xmlns:a="http://schemas.openxmlformats.org/drawingml/2006/main">
              <a:ext uri="{FF2B5EF4-FFF2-40B4-BE49-F238E27FC236}">
                <a16:creationId xmlns:a16="http://schemas.microsoft.com/office/drawing/2014/main" id="{ABF44B1E-1FA0-4B9D-86B6-4163ECDD287D}"/>
              </a:ext>
            </a:extLst>
          </p:cNvPr>
          <p:cNvSpPr>
            <a:spLocks xmlns:a="http://schemas.openxmlformats.org/drawingml/2006/main" noGrp="1"/>
          </p:cNvSpPr>
          <p:nvPr/>
        </p:nvSpPr>
        <p:spPr>
          <a:xfrm xmlns:a="http://schemas.openxmlformats.org/drawingml/2006/main" rot="0">
            <a:off x="5861685" y="4752594"/>
            <a:ext cx="3124200" cy="1562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Conditionally unreachable · not separately detected</a:t>
            </a:r>
          </a:p>
        </p:txBody>
      </p:sp>
      <p:sp>
        <p:nvSpPr>
          <p:cNvPr id="52" name="evidence-note">
            <a:extLst xmlns:a="http://schemas.openxmlformats.org/drawingml/2006/main">
              <a:ext uri="{FF2B5EF4-FFF2-40B4-BE49-F238E27FC236}">
                <a16:creationId xmlns:a16="http://schemas.microsoft.com/office/drawing/2014/main" id="{6C690E1E-3284-45F4-81D3-FE8D45246919}"/>
              </a:ext>
            </a:extLst>
          </p:cNvPr>
          <p:cNvSpPr>
            <a:spLocks xmlns:a="http://schemas.openxmlformats.org/drawingml/2006/main" noGrp="1"/>
          </p:cNvSpPr>
          <p:nvPr/>
        </p:nvSpPr>
        <p:spPr>
          <a:xfrm xmlns:a="http://schemas.openxmlformats.org/drawingml/2006/main" rot="0">
            <a:off x="5393055" y="5002530"/>
            <a:ext cx="4061460" cy="1562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Observed · modeled · pending validation · not a KTP wire decision</a:t>
            </a:r>
          </a:p>
        </p:txBody>
      </p:sp>
    </p:spTree>
    <p:extLst>
      <p:ext uri="{BB962C8B-B14F-4D97-AF65-F5344CB8AC3E}">
        <p14:creationId xmlns:p14="http://schemas.microsoft.com/office/powerpoint/2010/main" val="368576026"/>
      </p:ext>
    </p:extLst>
  </p:cSld>
</p:sld>
</file>

<file path=ppt/slides/slide1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46" name="header-eyebrow">
            <a:extLst xmlns:a="http://schemas.openxmlformats.org/drawingml/2006/main">
              <a:ext uri="{FF2B5EF4-FFF2-40B4-BE49-F238E27FC236}">
                <a16:creationId xmlns:a16="http://schemas.microsoft.com/office/drawing/2014/main" id="{52FB7366-D1BD-43F4-97DC-F8D38F6259CF}"/>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02CFAB6C-4506-498C-83F8-6F91AEEE95F4}"/>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V3A modeled · V3B-1 pending   Case study 7 of 8   Waiting for presenter</a:t>
            </a:r>
          </a:p>
        </p:txBody>
      </p:sp>
      <p:sp>
        <p:nvSpPr>
          <p:cNvPr id="3" name="scene-title">
            <a:extLst xmlns:a="http://schemas.openxmlformats.org/drawingml/2006/main">
              <a:ext uri="{FF2B5EF4-FFF2-40B4-BE49-F238E27FC236}">
                <a16:creationId xmlns:a16="http://schemas.microsoft.com/office/drawing/2014/main" id="{D93C035F-BF40-4769-BA65-46BAFE41DFD0}"/>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Same request, three enforcement tracks</a:t>
            </a:r>
          </a:p>
        </p:txBody>
      </p:sp>
      <p:sp>
        <p:nvSpPr>
          <p:cNvPr id="4" name="nav-act-primer">
            <a:extLst xmlns:a="http://schemas.openxmlformats.org/drawingml/2006/main">
              <a:ext uri="{FF2B5EF4-FFF2-40B4-BE49-F238E27FC236}">
                <a16:creationId xmlns:a16="http://schemas.microsoft.com/office/drawing/2014/main" id="{AF506B80-BBF7-4B96-B920-510A06BE4C95}"/>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6DEC4B71-DC88-4D18-8FA7-FF395ABF08E5}"/>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3BB1AD3F-7442-409A-8B32-5D34786B9147}"/>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30FA3943-F078-4FAA-8A50-1679E47DEED5}"/>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70492C72-F360-4C01-BCE4-F76AF15D2458}"/>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4DA3B793-342F-43BC-8037-8A668EC7593C}"/>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CDA43B0C-CE40-4D30-AA5D-8FBFC0174C67}"/>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78CA732B-E27F-46B4-B5CF-2671117F2CBA}"/>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91ED0DE3-DB04-4E08-9F36-6BF967671B56}"/>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2A45E95F-B5F5-47E2-B5A6-7E7CBA81B713}"/>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5B85F1CC-C237-44C9-9855-A4963A762804}"/>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BEF4F814-71C0-466D-B3C4-5EAD254942B6}"/>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F3FA8F32-E55D-493E-8324-B603DE6515AF}"/>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44C0E867-8F99-41ED-9C12-D9E03E645D95}"/>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110BBF63-D6C9-474D-A539-F7DF111F38D9}"/>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9B7953ED-61ED-4110-8E05-04BFBC114F34}"/>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E650BA5F-4D90-4B18-BC87-4B1E445BFA9D}"/>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21" name="nav-scene-7-label">
            <a:extLst xmlns:a="http://schemas.openxmlformats.org/drawingml/2006/main">
              <a:ext uri="{FF2B5EF4-FFF2-40B4-BE49-F238E27FC236}">
                <a16:creationId xmlns:a16="http://schemas.microsoft.com/office/drawing/2014/main" id="{993278CC-F166-4EE9-BD0F-F4F67129137D}"/>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7</a:t>
            </a:r>
          </a:p>
        </p:txBody>
      </p:sp>
      <p:sp>
        <p:nvSpPr>
          <p:cNvPr id="22" name="nav-scene-8">
            <a:extLst xmlns:a="http://schemas.openxmlformats.org/drawingml/2006/main">
              <a:ext uri="{FF2B5EF4-FFF2-40B4-BE49-F238E27FC236}">
                <a16:creationId xmlns:a16="http://schemas.microsoft.com/office/drawing/2014/main" id="{A5E7493A-3D9B-4ACD-88B8-A687FB70763B}"/>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3" name="nav-scene-8-label">
            <a:extLst xmlns:a="http://schemas.openxmlformats.org/drawingml/2006/main">
              <a:ext uri="{FF2B5EF4-FFF2-40B4-BE49-F238E27FC236}">
                <a16:creationId xmlns:a16="http://schemas.microsoft.com/office/drawing/2014/main" id="{5C1086D5-B3B8-40B5-9CE8-889761294002}"/>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8</a:t>
            </a:r>
          </a:p>
        </p:txBody>
      </p:sp>
      <p:sp>
        <p:nvSpPr>
          <p:cNvPr id="24" name="diagram-field">
            <a:extLst xmlns:a="http://schemas.openxmlformats.org/drawingml/2006/main">
              <a:ext uri="{FF2B5EF4-FFF2-40B4-BE49-F238E27FC236}">
                <a16:creationId xmlns:a16="http://schemas.microsoft.com/office/drawing/2014/main" id="{EA307F35-41DC-4A5F-96FE-652B0CBC1B98}"/>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0B1CFCB2-A19E-47C2-AACD-6F5803050D5E}"/>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The third track isolates the effect of fresh, reducing-only local divergence.</a:t>
            </a:r>
          </a:p>
        </p:txBody>
      </p:sp>
      <p:sp>
        <p:nvSpPr>
          <p:cNvPr id="26" name="source-rail">
            <a:extLst xmlns:a="http://schemas.openxmlformats.org/drawingml/2006/main">
              <a:ext uri="{FF2B5EF4-FFF2-40B4-BE49-F238E27FC236}">
                <a16:creationId xmlns:a16="http://schemas.microsoft.com/office/drawing/2014/main" id="{A3703CFF-1033-4CD2-A0E8-ADB1EEFD7D2B}"/>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B092CA81-79EB-4A21-8A03-69B5CD500F0C}"/>
              </a:ext>
            </a:extLst>
          </p:cNvPr>
          <p:cNvSpPr>
            <a:spLocks xmlns:a="http://schemas.openxmlformats.org/drawingml/2006/main" noGrp="1"/>
          </p:cNvSpPr>
          <p:nvPr/>
        </p:nvSpPr>
        <p:spPr>
          <a:xfrm xmlns:a="http://schemas.openxmlformats.org/drawingml/2006/main" rot="0">
            <a:off x="2542223" y="1612773"/>
            <a:ext cx="5076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SAME NORMALIZED REQUEST · ONE CHANGED VARIABLE</a:t>
            </a:r>
          </a:p>
        </p:txBody>
      </p:sp>
      <p:sp>
        <p:nvSpPr>
          <p:cNvPr id="28" name="comparison-1-frame">
            <a:extLst xmlns:a="http://schemas.openxmlformats.org/drawingml/2006/main">
              <a:ext uri="{FF2B5EF4-FFF2-40B4-BE49-F238E27FC236}">
                <a16:creationId xmlns:a16="http://schemas.microsoft.com/office/drawing/2014/main" id="{519699FC-30C3-47DD-AA1E-F1AD8165A4EE}"/>
              </a:ext>
            </a:extLst>
          </p:cNvPr>
          <p:cNvSpPr>
            <a:spLocks xmlns:a="http://schemas.openxmlformats.org/drawingml/2006/main" noGrp="1"/>
          </p:cNvSpPr>
          <p:nvPr/>
        </p:nvSpPr>
        <p:spPr>
          <a:xfrm xmlns:a="http://schemas.openxmlformats.org/drawingml/2006/main" rot="0">
            <a:off x="2620328" y="2151698"/>
            <a:ext cx="2108835" cy="1913573"/>
          </a:xfrm>
          <a:prstGeom xmlns:a="http://schemas.openxmlformats.org/drawingml/2006/main" prst="roundRect">
            <a:avLst>
              <a:gd name="adj" fmla="val 3982"/>
            </a:avLst>
          </a:prstGeom>
          <a:solidFill xmlns:a="http://schemas.openxmlformats.org/drawingml/2006/main">
            <a:srgbClr val="10151C"/>
          </a:solidFill>
          <a:ln xmlns:a="http://schemas.openxmlformats.org/drawingml/2006/main" w="11430">
            <a:solidFill>
              <a:srgbClr val="40505D"/>
            </a:solidFill>
            <a:prstDash val="solid"/>
          </a:ln>
        </p:spPr>
      </p:sp>
      <p:sp>
        <p:nvSpPr>
          <p:cNvPr id="29" name="comparison-1-title">
            <a:extLst xmlns:a="http://schemas.openxmlformats.org/drawingml/2006/main">
              <a:ext uri="{FF2B5EF4-FFF2-40B4-BE49-F238E27FC236}">
                <a16:creationId xmlns:a16="http://schemas.microsoft.com/office/drawing/2014/main" id="{A8BD1914-68B2-4BAF-BE5A-AA44914254B9}"/>
              </a:ext>
            </a:extLst>
          </p:cNvPr>
          <p:cNvSpPr>
            <a:spLocks xmlns:a="http://schemas.openxmlformats.org/drawingml/2006/main" noGrp="1"/>
          </p:cNvSpPr>
          <p:nvPr/>
        </p:nvSpPr>
        <p:spPr>
          <a:xfrm xmlns:a="http://schemas.openxmlformats.org/drawingml/2006/main" rot="0">
            <a:off x="2776538" y="2315718"/>
            <a:ext cx="1796415" cy="281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A · Credential policy</a:t>
            </a:r>
          </a:p>
        </p:txBody>
      </p:sp>
      <p:sp>
        <p:nvSpPr>
          <p:cNvPr id="30" name="comparison-1-disposition">
            <a:extLst xmlns:a="http://schemas.openxmlformats.org/drawingml/2006/main">
              <a:ext uri="{FF2B5EF4-FFF2-40B4-BE49-F238E27FC236}">
                <a16:creationId xmlns:a16="http://schemas.microsoft.com/office/drawing/2014/main" id="{B27C7E99-A52C-4ED7-B985-7784F7617FB3}"/>
              </a:ext>
            </a:extLst>
          </p:cNvPr>
          <p:cNvSpPr>
            <a:spLocks xmlns:a="http://schemas.openxmlformats.org/drawingml/2006/main" noGrp="1"/>
          </p:cNvSpPr>
          <p:nvPr/>
        </p:nvSpPr>
        <p:spPr>
          <a:xfrm xmlns:a="http://schemas.openxmlformats.org/drawingml/2006/main" rot="0">
            <a:off x="2893695" y="2846832"/>
            <a:ext cx="1562100" cy="2499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3C98E"/>
                </a:solidFill>
              </a:defRPr>
            </a:pPr>
            <a:r>
              <a:rPr sz="1050" b="1">
                <a:solidFill>
                  <a:srgbClr val="63C98E"/>
                </a:solidFill>
              </a:rPr>
              <a:t>PERMIT</a:t>
            </a:r>
          </a:p>
        </p:txBody>
      </p:sp>
      <p:sp>
        <p:nvSpPr>
          <p:cNvPr id="31" name="comparison-1-http">
            <a:extLst xmlns:a="http://schemas.openxmlformats.org/drawingml/2006/main">
              <a:ext uri="{FF2B5EF4-FFF2-40B4-BE49-F238E27FC236}">
                <a16:creationId xmlns:a16="http://schemas.microsoft.com/office/drawing/2014/main" id="{914B7004-BFD3-4736-A4FB-FF60E775D372}"/>
              </a:ext>
            </a:extLst>
          </p:cNvPr>
          <p:cNvSpPr>
            <a:spLocks xmlns:a="http://schemas.openxmlformats.org/drawingml/2006/main" noGrp="1"/>
          </p:cNvSpPr>
          <p:nvPr/>
        </p:nvSpPr>
        <p:spPr>
          <a:xfrm xmlns:a="http://schemas.openxmlformats.org/drawingml/2006/main" rot="0">
            <a:off x="2893695" y="3198304"/>
            <a:ext cx="15621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HTTP 200</a:t>
            </a:r>
          </a:p>
        </p:txBody>
      </p:sp>
      <p:sp>
        <p:nvSpPr>
          <p:cNvPr id="32" name="comparison-1-target">
            <a:extLst xmlns:a="http://schemas.openxmlformats.org/drawingml/2006/main">
              <a:ext uri="{FF2B5EF4-FFF2-40B4-BE49-F238E27FC236}">
                <a16:creationId xmlns:a16="http://schemas.microsoft.com/office/drawing/2014/main" id="{CA7729D7-98D9-4D32-BEE1-A980FAEAD68E}"/>
              </a:ext>
            </a:extLst>
          </p:cNvPr>
          <p:cNvSpPr>
            <a:spLocks xmlns:a="http://schemas.openxmlformats.org/drawingml/2006/main" noGrp="1"/>
          </p:cNvSpPr>
          <p:nvPr/>
        </p:nvSpPr>
        <p:spPr>
          <a:xfrm xmlns:a="http://schemas.openxmlformats.org/drawingml/2006/main" rot="0">
            <a:off x="2893695" y="3502914"/>
            <a:ext cx="15621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target marker 1</a:t>
            </a:r>
          </a:p>
        </p:txBody>
      </p:sp>
      <p:sp>
        <p:nvSpPr>
          <p:cNvPr id="33" name="comparison-2-frame">
            <a:extLst xmlns:a="http://schemas.openxmlformats.org/drawingml/2006/main">
              <a:ext uri="{FF2B5EF4-FFF2-40B4-BE49-F238E27FC236}">
                <a16:creationId xmlns:a16="http://schemas.microsoft.com/office/drawing/2014/main" id="{E534F319-0C7F-4746-A0D8-9747D75564E0}"/>
              </a:ext>
            </a:extLst>
          </p:cNvPr>
          <p:cNvSpPr>
            <a:spLocks xmlns:a="http://schemas.openxmlformats.org/drawingml/2006/main" noGrp="1"/>
          </p:cNvSpPr>
          <p:nvPr/>
        </p:nvSpPr>
        <p:spPr>
          <a:xfrm xmlns:a="http://schemas.openxmlformats.org/drawingml/2006/main" rot="0">
            <a:off x="5041583" y="2151698"/>
            <a:ext cx="2108835" cy="1913573"/>
          </a:xfrm>
          <a:prstGeom xmlns:a="http://schemas.openxmlformats.org/drawingml/2006/main" prst="roundRect">
            <a:avLst>
              <a:gd name="adj" fmla="val 3982"/>
            </a:avLst>
          </a:prstGeom>
          <a:solidFill xmlns:a="http://schemas.openxmlformats.org/drawingml/2006/main">
            <a:srgbClr val="10151C"/>
          </a:solidFill>
          <a:ln xmlns:a="http://schemas.openxmlformats.org/drawingml/2006/main" w="11430">
            <a:solidFill>
              <a:srgbClr val="40505D"/>
            </a:solidFill>
            <a:prstDash val="solid"/>
          </a:ln>
        </p:spPr>
      </p:sp>
      <p:sp>
        <p:nvSpPr>
          <p:cNvPr id="34" name="comparison-2-title">
            <a:extLst xmlns:a="http://schemas.openxmlformats.org/drawingml/2006/main">
              <a:ext uri="{FF2B5EF4-FFF2-40B4-BE49-F238E27FC236}">
                <a16:creationId xmlns:a16="http://schemas.microsoft.com/office/drawing/2014/main" id="{AD5B9381-AA3C-4268-ACBE-0DF8992A93F1}"/>
              </a:ext>
            </a:extLst>
          </p:cNvPr>
          <p:cNvSpPr>
            <a:spLocks xmlns:a="http://schemas.openxmlformats.org/drawingml/2006/main" noGrp="1"/>
          </p:cNvSpPr>
          <p:nvPr/>
        </p:nvSpPr>
        <p:spPr>
          <a:xfrm xmlns:a="http://schemas.openxmlformats.org/drawingml/2006/main" rot="0">
            <a:off x="5197793" y="2315718"/>
            <a:ext cx="1796415" cy="281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B · Signed state</a:t>
            </a:r>
          </a:p>
        </p:txBody>
      </p:sp>
      <p:sp>
        <p:nvSpPr>
          <p:cNvPr id="35" name="comparison-2-disposition">
            <a:extLst xmlns:a="http://schemas.openxmlformats.org/drawingml/2006/main">
              <a:ext uri="{FF2B5EF4-FFF2-40B4-BE49-F238E27FC236}">
                <a16:creationId xmlns:a16="http://schemas.microsoft.com/office/drawing/2014/main" id="{A5212101-8EC2-4436-948B-8929762F129D}"/>
              </a:ext>
            </a:extLst>
          </p:cNvPr>
          <p:cNvSpPr>
            <a:spLocks xmlns:a="http://schemas.openxmlformats.org/drawingml/2006/main" noGrp="1"/>
          </p:cNvSpPr>
          <p:nvPr/>
        </p:nvSpPr>
        <p:spPr>
          <a:xfrm xmlns:a="http://schemas.openxmlformats.org/drawingml/2006/main" rot="0">
            <a:off x="5314950" y="2846832"/>
            <a:ext cx="1562100" cy="2499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3C98E"/>
                </a:solidFill>
              </a:defRPr>
            </a:pPr>
            <a:r>
              <a:rPr sz="1050" b="1">
                <a:solidFill>
                  <a:srgbClr val="63C98E"/>
                </a:solidFill>
              </a:rPr>
              <a:t>PERMIT</a:t>
            </a:r>
          </a:p>
        </p:txBody>
      </p:sp>
      <p:sp>
        <p:nvSpPr>
          <p:cNvPr id="36" name="comparison-2-http">
            <a:extLst xmlns:a="http://schemas.openxmlformats.org/drawingml/2006/main">
              <a:ext uri="{FF2B5EF4-FFF2-40B4-BE49-F238E27FC236}">
                <a16:creationId xmlns:a16="http://schemas.microsoft.com/office/drawing/2014/main" id="{54394A6A-722E-4AA0-9C78-179746D644F2}"/>
              </a:ext>
            </a:extLst>
          </p:cNvPr>
          <p:cNvSpPr>
            <a:spLocks xmlns:a="http://schemas.openxmlformats.org/drawingml/2006/main" noGrp="1"/>
          </p:cNvSpPr>
          <p:nvPr/>
        </p:nvSpPr>
        <p:spPr>
          <a:xfrm xmlns:a="http://schemas.openxmlformats.org/drawingml/2006/main" rot="0">
            <a:off x="5314950" y="3198304"/>
            <a:ext cx="15621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HTTP 200</a:t>
            </a:r>
          </a:p>
        </p:txBody>
      </p:sp>
      <p:sp>
        <p:nvSpPr>
          <p:cNvPr id="37" name="comparison-2-target">
            <a:extLst xmlns:a="http://schemas.openxmlformats.org/drawingml/2006/main">
              <a:ext uri="{FF2B5EF4-FFF2-40B4-BE49-F238E27FC236}">
                <a16:creationId xmlns:a16="http://schemas.microsoft.com/office/drawing/2014/main" id="{5B35C1E6-8962-4742-B651-2479AB75100E}"/>
              </a:ext>
            </a:extLst>
          </p:cNvPr>
          <p:cNvSpPr>
            <a:spLocks xmlns:a="http://schemas.openxmlformats.org/drawingml/2006/main" noGrp="1"/>
          </p:cNvSpPr>
          <p:nvPr/>
        </p:nvSpPr>
        <p:spPr>
          <a:xfrm xmlns:a="http://schemas.openxmlformats.org/drawingml/2006/main" rot="0">
            <a:off x="5314950" y="3502914"/>
            <a:ext cx="15621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target marker 1</a:t>
            </a:r>
          </a:p>
        </p:txBody>
      </p:sp>
      <p:sp>
        <p:nvSpPr>
          <p:cNvPr id="38" name="comparison-3-frame">
            <a:extLst xmlns:a="http://schemas.openxmlformats.org/drawingml/2006/main">
              <a:ext uri="{FF2B5EF4-FFF2-40B4-BE49-F238E27FC236}">
                <a16:creationId xmlns:a16="http://schemas.microsoft.com/office/drawing/2014/main" id="{BEDE2180-C872-4F59-9D6A-4EEBC146B2ED}"/>
              </a:ext>
            </a:extLst>
          </p:cNvPr>
          <p:cNvSpPr>
            <a:spLocks xmlns:a="http://schemas.openxmlformats.org/drawingml/2006/main" noGrp="1"/>
          </p:cNvSpPr>
          <p:nvPr/>
        </p:nvSpPr>
        <p:spPr>
          <a:xfrm xmlns:a="http://schemas.openxmlformats.org/drawingml/2006/main" rot="0">
            <a:off x="7462838" y="2151698"/>
            <a:ext cx="2108835" cy="1913573"/>
          </a:xfrm>
          <a:prstGeom xmlns:a="http://schemas.openxmlformats.org/drawingml/2006/main" prst="roundRect">
            <a:avLst>
              <a:gd name="adj" fmla="val 3982"/>
            </a:avLst>
          </a:prstGeom>
          <a:solidFill xmlns:a="http://schemas.openxmlformats.org/drawingml/2006/main">
            <a:srgbClr val="10151C"/>
          </a:solidFill>
          <a:ln xmlns:a="http://schemas.openxmlformats.org/drawingml/2006/main" w="11430">
            <a:solidFill>
              <a:srgbClr val="40505D"/>
            </a:solidFill>
            <a:prstDash val="solid"/>
          </a:ln>
        </p:spPr>
      </p:sp>
      <p:sp>
        <p:nvSpPr>
          <p:cNvPr id="39" name="comparison-3-title">
            <a:extLst xmlns:a="http://schemas.openxmlformats.org/drawingml/2006/main">
              <a:ext uri="{FF2B5EF4-FFF2-40B4-BE49-F238E27FC236}">
                <a16:creationId xmlns:a16="http://schemas.microsoft.com/office/drawing/2014/main" id="{F015E394-73FE-460D-8C02-7019CA18407D}"/>
              </a:ext>
            </a:extLst>
          </p:cNvPr>
          <p:cNvSpPr>
            <a:spLocks xmlns:a="http://schemas.openxmlformats.org/drawingml/2006/main" noGrp="1"/>
          </p:cNvSpPr>
          <p:nvPr/>
        </p:nvSpPr>
        <p:spPr>
          <a:xfrm xmlns:a="http://schemas.openxmlformats.org/drawingml/2006/main" rot="0">
            <a:off x="7619048" y="2315718"/>
            <a:ext cx="1796415" cy="281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C · State + reduction</a:t>
            </a:r>
          </a:p>
        </p:txBody>
      </p:sp>
      <p:sp>
        <p:nvSpPr>
          <p:cNvPr id="40" name="comparison-3-disposition">
            <a:extLst xmlns:a="http://schemas.openxmlformats.org/drawingml/2006/main">
              <a:ext uri="{FF2B5EF4-FFF2-40B4-BE49-F238E27FC236}">
                <a16:creationId xmlns:a16="http://schemas.microsoft.com/office/drawing/2014/main" id="{52D7065C-0A30-4730-86D6-025B025CA1C0}"/>
              </a:ext>
            </a:extLst>
          </p:cNvPr>
          <p:cNvSpPr>
            <a:spLocks xmlns:a="http://schemas.openxmlformats.org/drawingml/2006/main" noGrp="1"/>
          </p:cNvSpPr>
          <p:nvPr/>
        </p:nvSpPr>
        <p:spPr>
          <a:xfrm xmlns:a="http://schemas.openxmlformats.org/drawingml/2006/main" rot="0">
            <a:off x="7736205" y="2846832"/>
            <a:ext cx="1562100" cy="2499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766C"/>
                </a:solidFill>
              </a:defRPr>
            </a:pPr>
            <a:r>
              <a:rPr sz="1050" b="1">
                <a:solidFill>
                  <a:srgbClr val="FF766C"/>
                </a:solidFill>
              </a:rPr>
              <a:t>DENY</a:t>
            </a:r>
          </a:p>
        </p:txBody>
      </p:sp>
      <p:sp>
        <p:nvSpPr>
          <p:cNvPr id="41" name="comparison-3-http">
            <a:extLst xmlns:a="http://schemas.openxmlformats.org/drawingml/2006/main">
              <a:ext uri="{FF2B5EF4-FFF2-40B4-BE49-F238E27FC236}">
                <a16:creationId xmlns:a16="http://schemas.microsoft.com/office/drawing/2014/main" id="{21F59E93-8F6E-432B-B7F2-CBBA8C129E65}"/>
              </a:ext>
            </a:extLst>
          </p:cNvPr>
          <p:cNvSpPr>
            <a:spLocks xmlns:a="http://schemas.openxmlformats.org/drawingml/2006/main" noGrp="1"/>
          </p:cNvSpPr>
          <p:nvPr/>
        </p:nvSpPr>
        <p:spPr>
          <a:xfrm xmlns:a="http://schemas.openxmlformats.org/drawingml/2006/main" rot="0">
            <a:off x="7736205" y="3198304"/>
            <a:ext cx="15621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HTTP 403</a:t>
            </a:r>
          </a:p>
        </p:txBody>
      </p:sp>
      <p:sp>
        <p:nvSpPr>
          <p:cNvPr id="42" name="comparison-3-target">
            <a:extLst xmlns:a="http://schemas.openxmlformats.org/drawingml/2006/main">
              <a:ext uri="{FF2B5EF4-FFF2-40B4-BE49-F238E27FC236}">
                <a16:creationId xmlns:a16="http://schemas.microsoft.com/office/drawing/2014/main" id="{A9834018-93B6-4B59-AEAE-9615B5672074}"/>
              </a:ext>
            </a:extLst>
          </p:cNvPr>
          <p:cNvSpPr>
            <a:spLocks xmlns:a="http://schemas.openxmlformats.org/drawingml/2006/main" noGrp="1"/>
          </p:cNvSpPr>
          <p:nvPr/>
        </p:nvSpPr>
        <p:spPr>
          <a:xfrm xmlns:a="http://schemas.openxmlformats.org/drawingml/2006/main" rot="0">
            <a:off x="7736205" y="3502914"/>
            <a:ext cx="1562100"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target marker 0</a:t>
            </a:r>
          </a:p>
        </p:txBody>
      </p:sp>
      <p:sp>
        <p:nvSpPr>
          <p:cNvPr id="43" name="three-track-summary">
            <a:extLst xmlns:a="http://schemas.openxmlformats.org/drawingml/2006/main">
              <a:ext uri="{FF2B5EF4-FFF2-40B4-BE49-F238E27FC236}">
                <a16:creationId xmlns:a16="http://schemas.microsoft.com/office/drawing/2014/main" id="{1E860541-C0D4-465A-BCBD-655B5248B779}"/>
              </a:ext>
            </a:extLst>
          </p:cNvPr>
          <p:cNvSpPr>
            <a:spLocks xmlns:a="http://schemas.openxmlformats.org/drawingml/2006/main" noGrp="1"/>
          </p:cNvSpPr>
          <p:nvPr/>
        </p:nvSpPr>
        <p:spPr>
          <a:xfrm xmlns:a="http://schemas.openxmlformats.org/drawingml/2006/main" rot="0">
            <a:off x="4533900" y="4362069"/>
            <a:ext cx="3124200"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PERMIT · PERMIT · DENY</a:t>
            </a:r>
          </a:p>
        </p:txBody>
      </p:sp>
      <p:sp>
        <p:nvSpPr>
          <p:cNvPr id="44" name="http-summary">
            <a:extLst xmlns:a="http://schemas.openxmlformats.org/drawingml/2006/main">
              <a:ext uri="{FF2B5EF4-FFF2-40B4-BE49-F238E27FC236}">
                <a16:creationId xmlns:a16="http://schemas.microsoft.com/office/drawing/2014/main" id="{4B6B071E-DAF2-4DA1-B773-89F3AF7D4EAF}"/>
              </a:ext>
            </a:extLst>
          </p:cNvPr>
          <p:cNvSpPr>
            <a:spLocks xmlns:a="http://schemas.openxmlformats.org/drawingml/2006/main" noGrp="1"/>
          </p:cNvSpPr>
          <p:nvPr/>
        </p:nvSpPr>
        <p:spPr>
          <a:xfrm xmlns:a="http://schemas.openxmlformats.org/drawingml/2006/main" rot="0">
            <a:off x="4846320" y="4643247"/>
            <a:ext cx="249936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200 · 200 · 403</a:t>
            </a:r>
          </a:p>
        </p:txBody>
      </p:sp>
      <p:sp>
        <p:nvSpPr>
          <p:cNvPr id="45" name="v3-status">
            <a:extLst xmlns:a="http://schemas.openxmlformats.org/drawingml/2006/main">
              <a:ext uri="{FF2B5EF4-FFF2-40B4-BE49-F238E27FC236}">
                <a16:creationId xmlns:a16="http://schemas.microsoft.com/office/drawing/2014/main" id="{757A094E-C519-45B0-AE46-1FDA4F3CC11D}"/>
              </a:ext>
            </a:extLst>
          </p:cNvPr>
          <p:cNvSpPr>
            <a:spLocks xmlns:a="http://schemas.openxmlformats.org/drawingml/2006/main" noGrp="1"/>
          </p:cNvSpPr>
          <p:nvPr/>
        </p:nvSpPr>
        <p:spPr>
          <a:xfrm xmlns:a="http://schemas.openxmlformats.org/drawingml/2006/main" rot="0">
            <a:off x="4768215" y="4940046"/>
            <a:ext cx="265557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69AEF5"/>
                </a:solidFill>
              </a:defRPr>
            </a:pPr>
            <a:r>
              <a:rPr sz="750" b="1">
                <a:solidFill>
                  <a:srgbClr val="69AEF5"/>
                </a:solidFill>
              </a:rPr>
              <a:t>V3A MODELED · V3B-1 PENDING</a:t>
            </a:r>
          </a:p>
        </p:txBody>
      </p:sp>
    </p:spTree>
    <p:extLst>
      <p:ext uri="{BB962C8B-B14F-4D97-AF65-F5344CB8AC3E}">
        <p14:creationId xmlns:p14="http://schemas.microsoft.com/office/powerpoint/2010/main" val="1950949348"/>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55" name="header-eyebrow">
            <a:extLst xmlns:a="http://schemas.openxmlformats.org/drawingml/2006/main">
              <a:ext uri="{FF2B5EF4-FFF2-40B4-BE49-F238E27FC236}">
                <a16:creationId xmlns:a16="http://schemas.microsoft.com/office/drawing/2014/main" id="{B815A597-385B-4DD1-ACA1-03CAE4EF7B4D}"/>
              </a:ext>
            </a:extLst>
          </p:cNvPr>
          <p:cNvSpPr>
            <a:spLocks xmlns:a="http://schemas.openxmlformats.org/drawingml/2006/main" noGrp="1"/>
          </p:cNvSpPr>
          <p:nvPr/>
        </p:nvSpPr>
        <p:spPr>
          <a:xfrm xmlns:a="http://schemas.openxmlformats.org/drawingml/2006/main" rot="0">
            <a:off x="1933575" y="95250"/>
            <a:ext cx="2476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a:solidFill>
                  <a:srgbClr val="69AEF5"/>
                </a:solidFill>
              </a:defRPr>
            </a:pPr>
            <a:r>
              <a:rPr sz="675" b="1">
                <a:solidFill>
                  <a:srgbClr val="69AEF5"/>
                </a:solidFill>
              </a:rPr>
              <a:t>KINETIC INFRASTRUCTURE LAYER</a:t>
            </a:r>
          </a:p>
        </p:txBody>
      </p:sp>
      <p:sp>
        <p:nvSpPr>
          <p:cNvPr id="2" name="header-meta">
            <a:extLst xmlns:a="http://schemas.openxmlformats.org/drawingml/2006/main">
              <a:ext uri="{FF2B5EF4-FFF2-40B4-BE49-F238E27FC236}">
                <a16:creationId xmlns:a16="http://schemas.microsoft.com/office/drawing/2014/main" id="{4AE83D98-395F-4F50-A67E-5416844B5F9C}"/>
              </a:ext>
            </a:extLst>
          </p:cNvPr>
          <p:cNvSpPr>
            <a:spLocks xmlns:a="http://schemas.openxmlformats.org/drawingml/2006/main" noGrp="1"/>
          </p:cNvSpPr>
          <p:nvPr/>
        </p:nvSpPr>
        <p:spPr>
          <a:xfrm xmlns:a="http://schemas.openxmlformats.org/drawingml/2006/main" rot="0">
            <a:off x="1933575" y="257175"/>
            <a:ext cx="8324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0">
                <a:solidFill>
                  <a:srgbClr val="AAB9C5"/>
                </a:solidFill>
              </a:defRPr>
            </a:pPr>
            <a:r>
              <a:rPr sz="675" b="0">
                <a:solidFill>
                  <a:srgbClr val="AAB9C5"/>
                </a:solidFill>
              </a:rPr>
              <a:t>Audience   Observed · modeled · pending   Case study 8 of 8   Waiting for presenter</a:t>
            </a:r>
          </a:p>
        </p:txBody>
      </p:sp>
      <p:sp>
        <p:nvSpPr>
          <p:cNvPr id="3" name="scene-title">
            <a:extLst xmlns:a="http://schemas.openxmlformats.org/drawingml/2006/main">
              <a:ext uri="{FF2B5EF4-FFF2-40B4-BE49-F238E27FC236}">
                <a16:creationId xmlns:a16="http://schemas.microsoft.com/office/drawing/2014/main" id="{D18F3358-2F56-42C8-9C7F-4955EB1825EA}"/>
              </a:ext>
            </a:extLst>
          </p:cNvPr>
          <p:cNvSpPr>
            <a:spLocks xmlns:a="http://schemas.openxmlformats.org/drawingml/2006/main" noGrp="1"/>
          </p:cNvSpPr>
          <p:nvPr/>
        </p:nvSpPr>
        <p:spPr>
          <a:xfrm xmlns:a="http://schemas.openxmlformats.org/drawingml/2006/main" rot="0">
            <a:off x="1933575" y="42862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EDF4FA"/>
                </a:solidFill>
              </a:defRPr>
            </a:pPr>
            <a:r>
              <a:rPr sz="1800" b="1">
                <a:solidFill>
                  <a:srgbClr val="EDF4FA"/>
                </a:solidFill>
              </a:rPr>
              <a:t>What is evidence today?</a:t>
            </a:r>
          </a:p>
        </p:txBody>
      </p:sp>
      <p:sp>
        <p:nvSpPr>
          <p:cNvPr id="4" name="nav-act-primer">
            <a:extLst xmlns:a="http://schemas.openxmlformats.org/drawingml/2006/main">
              <a:ext uri="{FF2B5EF4-FFF2-40B4-BE49-F238E27FC236}">
                <a16:creationId xmlns:a16="http://schemas.microsoft.com/office/drawing/2014/main" id="{2BACEB70-5675-461A-A352-22318C8C6C50}"/>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oundRect">
            <a:avLst>
              <a:gd name="adj" fmla="val 8333"/>
            </a:avLst>
          </a:prstGeom>
          <a:solidFill xmlns:a="http://schemas.openxmlformats.org/drawingml/2006/main">
            <a:srgbClr val="18212C"/>
          </a:solidFill>
          <a:ln xmlns:a="http://schemas.openxmlformats.org/drawingml/2006/main" w="11430">
            <a:solidFill>
              <a:srgbClr val="40505D"/>
            </a:solidFill>
            <a:prstDash val="solid"/>
          </a:ln>
        </p:spPr>
      </p:sp>
      <p:sp>
        <p:nvSpPr>
          <p:cNvPr id="5" name="nav-act-primer-label">
            <a:extLst xmlns:a="http://schemas.openxmlformats.org/drawingml/2006/main">
              <a:ext uri="{FF2B5EF4-FFF2-40B4-BE49-F238E27FC236}">
                <a16:creationId xmlns:a16="http://schemas.microsoft.com/office/drawing/2014/main" id="{95B297C7-6B82-4E36-965D-C998284925B5}"/>
              </a:ext>
            </a:extLst>
          </p:cNvPr>
          <p:cNvSpPr>
            <a:spLocks xmlns:a="http://schemas.openxmlformats.org/drawingml/2006/main" noGrp="1"/>
          </p:cNvSpPr>
          <p:nvPr/>
        </p:nvSpPr>
        <p:spPr>
          <a:xfrm xmlns:a="http://schemas.openxmlformats.org/drawingml/2006/main" rot="0">
            <a:off x="1933575" y="838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KIL primer</a:t>
            </a:r>
          </a:p>
        </p:txBody>
      </p:sp>
      <p:sp>
        <p:nvSpPr>
          <p:cNvPr id="6" name="nav-act-case">
            <a:extLst xmlns:a="http://schemas.openxmlformats.org/drawingml/2006/main">
              <a:ext uri="{FF2B5EF4-FFF2-40B4-BE49-F238E27FC236}">
                <a16:creationId xmlns:a16="http://schemas.microsoft.com/office/drawing/2014/main" id="{BA5F778B-8EA2-4BB4-9E30-65641342D091}"/>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oundRect">
            <a:avLst>
              <a:gd name="adj" fmla="val 8333"/>
            </a:avLst>
          </a:prstGeom>
          <a:solidFill xmlns:a="http://schemas.openxmlformats.org/drawingml/2006/main">
            <a:srgbClr val="69AEF5"/>
          </a:solidFill>
          <a:ln xmlns:a="http://schemas.openxmlformats.org/drawingml/2006/main" w="11430">
            <a:solidFill>
              <a:srgbClr val="69AEF5"/>
            </a:solidFill>
            <a:prstDash val="solid"/>
          </a:ln>
        </p:spPr>
      </p:sp>
      <p:sp>
        <p:nvSpPr>
          <p:cNvPr id="7" name="nav-act-case-label">
            <a:extLst xmlns:a="http://schemas.openxmlformats.org/drawingml/2006/main">
              <a:ext uri="{FF2B5EF4-FFF2-40B4-BE49-F238E27FC236}">
                <a16:creationId xmlns:a16="http://schemas.microsoft.com/office/drawing/2014/main" id="{0B3C3798-F3DE-4266-9ABF-677843572FEC}"/>
              </a:ext>
            </a:extLst>
          </p:cNvPr>
          <p:cNvSpPr>
            <a:spLocks xmlns:a="http://schemas.openxmlformats.org/drawingml/2006/main" noGrp="1"/>
          </p:cNvSpPr>
          <p:nvPr/>
        </p:nvSpPr>
        <p:spPr>
          <a:xfrm xmlns:a="http://schemas.openxmlformats.org/drawingml/2006/main" rot="0">
            <a:off x="2733675" y="8382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212C"/>
                </a:solidFill>
              </a:defRPr>
            </a:pPr>
            <a:r>
              <a:rPr sz="600" b="0">
                <a:solidFill>
                  <a:srgbClr val="18212C"/>
                </a:solidFill>
              </a:rPr>
              <a:t>Hugging Face case study</a:t>
            </a:r>
          </a:p>
        </p:txBody>
      </p:sp>
      <p:sp>
        <p:nvSpPr>
          <p:cNvPr id="8" name="nav-scene-1">
            <a:extLst xmlns:a="http://schemas.openxmlformats.org/drawingml/2006/main">
              <a:ext uri="{FF2B5EF4-FFF2-40B4-BE49-F238E27FC236}">
                <a16:creationId xmlns:a16="http://schemas.microsoft.com/office/drawing/2014/main" id="{37740AC9-27DB-49B0-95FB-D885F91C5952}"/>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9" name="nav-scene-1-label">
            <a:extLst xmlns:a="http://schemas.openxmlformats.org/drawingml/2006/main">
              <a:ext uri="{FF2B5EF4-FFF2-40B4-BE49-F238E27FC236}">
                <a16:creationId xmlns:a16="http://schemas.microsoft.com/office/drawing/2014/main" id="{01B93DF2-CCAD-47FA-830C-0E9902BD609A}"/>
              </a:ext>
            </a:extLst>
          </p:cNvPr>
          <p:cNvSpPr>
            <a:spLocks xmlns:a="http://schemas.openxmlformats.org/drawingml/2006/main" noGrp="1"/>
          </p:cNvSpPr>
          <p:nvPr/>
        </p:nvSpPr>
        <p:spPr>
          <a:xfrm xmlns:a="http://schemas.openxmlformats.org/drawingml/2006/main" rot="0">
            <a:off x="19335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1</a:t>
            </a:r>
          </a:p>
        </p:txBody>
      </p:sp>
      <p:sp>
        <p:nvSpPr>
          <p:cNvPr id="10" name="nav-scene-2">
            <a:extLst xmlns:a="http://schemas.openxmlformats.org/drawingml/2006/main">
              <a:ext uri="{FF2B5EF4-FFF2-40B4-BE49-F238E27FC236}">
                <a16:creationId xmlns:a16="http://schemas.microsoft.com/office/drawing/2014/main" id="{DCE50673-677F-4E4A-A27F-1870FCD26D6C}"/>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1" name="nav-scene-2-label">
            <a:extLst xmlns:a="http://schemas.openxmlformats.org/drawingml/2006/main">
              <a:ext uri="{FF2B5EF4-FFF2-40B4-BE49-F238E27FC236}">
                <a16:creationId xmlns:a16="http://schemas.microsoft.com/office/drawing/2014/main" id="{EF51CAC9-967B-41C8-A5F8-9B7247FC1B19}"/>
              </a:ext>
            </a:extLst>
          </p:cNvPr>
          <p:cNvSpPr>
            <a:spLocks xmlns:a="http://schemas.openxmlformats.org/drawingml/2006/main" noGrp="1"/>
          </p:cNvSpPr>
          <p:nvPr/>
        </p:nvSpPr>
        <p:spPr>
          <a:xfrm xmlns:a="http://schemas.openxmlformats.org/drawingml/2006/main" rot="0">
            <a:off x="22288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2</a:t>
            </a:r>
          </a:p>
        </p:txBody>
      </p:sp>
      <p:sp>
        <p:nvSpPr>
          <p:cNvPr id="12" name="nav-scene-3">
            <a:extLst xmlns:a="http://schemas.openxmlformats.org/drawingml/2006/main">
              <a:ext uri="{FF2B5EF4-FFF2-40B4-BE49-F238E27FC236}">
                <a16:creationId xmlns:a16="http://schemas.microsoft.com/office/drawing/2014/main" id="{5A6459FB-B64A-4DF3-A32F-E47047788CBB}"/>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3" name="nav-scene-3-label">
            <a:extLst xmlns:a="http://schemas.openxmlformats.org/drawingml/2006/main">
              <a:ext uri="{FF2B5EF4-FFF2-40B4-BE49-F238E27FC236}">
                <a16:creationId xmlns:a16="http://schemas.microsoft.com/office/drawing/2014/main" id="{21957035-4831-4DF2-BE15-593E0F3EE647}"/>
              </a:ext>
            </a:extLst>
          </p:cNvPr>
          <p:cNvSpPr>
            <a:spLocks xmlns:a="http://schemas.openxmlformats.org/drawingml/2006/main" noGrp="1"/>
          </p:cNvSpPr>
          <p:nvPr/>
        </p:nvSpPr>
        <p:spPr>
          <a:xfrm xmlns:a="http://schemas.openxmlformats.org/drawingml/2006/main" rot="0">
            <a:off x="25241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3</a:t>
            </a:r>
          </a:p>
        </p:txBody>
      </p:sp>
      <p:sp>
        <p:nvSpPr>
          <p:cNvPr id="14" name="nav-scene-4">
            <a:extLst xmlns:a="http://schemas.openxmlformats.org/drawingml/2006/main">
              <a:ext uri="{FF2B5EF4-FFF2-40B4-BE49-F238E27FC236}">
                <a16:creationId xmlns:a16="http://schemas.microsoft.com/office/drawing/2014/main" id="{945C899D-B54A-47F2-82FE-7F666A6FFC01}"/>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5" name="nav-scene-4-label">
            <a:extLst xmlns:a="http://schemas.openxmlformats.org/drawingml/2006/main">
              <a:ext uri="{FF2B5EF4-FFF2-40B4-BE49-F238E27FC236}">
                <a16:creationId xmlns:a16="http://schemas.microsoft.com/office/drawing/2014/main" id="{B63231F8-A6A7-4619-9E59-FD1AFB702E4E}"/>
              </a:ext>
            </a:extLst>
          </p:cNvPr>
          <p:cNvSpPr>
            <a:spLocks xmlns:a="http://schemas.openxmlformats.org/drawingml/2006/main" noGrp="1"/>
          </p:cNvSpPr>
          <p:nvPr/>
        </p:nvSpPr>
        <p:spPr>
          <a:xfrm xmlns:a="http://schemas.openxmlformats.org/drawingml/2006/main" rot="0">
            <a:off x="28194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4</a:t>
            </a:r>
          </a:p>
        </p:txBody>
      </p:sp>
      <p:sp>
        <p:nvSpPr>
          <p:cNvPr id="16" name="nav-scene-5">
            <a:extLst xmlns:a="http://schemas.openxmlformats.org/drawingml/2006/main">
              <a:ext uri="{FF2B5EF4-FFF2-40B4-BE49-F238E27FC236}">
                <a16:creationId xmlns:a16="http://schemas.microsoft.com/office/drawing/2014/main" id="{ABDCB647-2045-498C-8E2A-F5C9EA559812}"/>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7" name="nav-scene-5-label">
            <a:extLst xmlns:a="http://schemas.openxmlformats.org/drawingml/2006/main">
              <a:ext uri="{FF2B5EF4-FFF2-40B4-BE49-F238E27FC236}">
                <a16:creationId xmlns:a16="http://schemas.microsoft.com/office/drawing/2014/main" id="{F732B53A-72D0-454D-B6F5-F45740ED0841}"/>
              </a:ext>
            </a:extLst>
          </p:cNvPr>
          <p:cNvSpPr>
            <a:spLocks xmlns:a="http://schemas.openxmlformats.org/drawingml/2006/main" noGrp="1"/>
          </p:cNvSpPr>
          <p:nvPr/>
        </p:nvSpPr>
        <p:spPr>
          <a:xfrm xmlns:a="http://schemas.openxmlformats.org/drawingml/2006/main" rot="0">
            <a:off x="311467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5</a:t>
            </a:r>
          </a:p>
        </p:txBody>
      </p:sp>
      <p:sp>
        <p:nvSpPr>
          <p:cNvPr id="18" name="nav-scene-6">
            <a:extLst xmlns:a="http://schemas.openxmlformats.org/drawingml/2006/main">
              <a:ext uri="{FF2B5EF4-FFF2-40B4-BE49-F238E27FC236}">
                <a16:creationId xmlns:a16="http://schemas.microsoft.com/office/drawing/2014/main" id="{F68E817A-86F2-4D64-892D-6D48BFB68B67}"/>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19" name="nav-scene-6-label">
            <a:extLst xmlns:a="http://schemas.openxmlformats.org/drawingml/2006/main">
              <a:ext uri="{FF2B5EF4-FFF2-40B4-BE49-F238E27FC236}">
                <a16:creationId xmlns:a16="http://schemas.microsoft.com/office/drawing/2014/main" id="{828AE9CA-63B3-48CA-A3C7-D54B69019180}"/>
              </a:ext>
            </a:extLst>
          </p:cNvPr>
          <p:cNvSpPr>
            <a:spLocks xmlns:a="http://schemas.openxmlformats.org/drawingml/2006/main" noGrp="1"/>
          </p:cNvSpPr>
          <p:nvPr/>
        </p:nvSpPr>
        <p:spPr>
          <a:xfrm xmlns:a="http://schemas.openxmlformats.org/drawingml/2006/main" rot="0">
            <a:off x="340995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6</a:t>
            </a:r>
          </a:p>
        </p:txBody>
      </p:sp>
      <p:sp>
        <p:nvSpPr>
          <p:cNvPr id="20" name="nav-scene-7">
            <a:extLst xmlns:a="http://schemas.openxmlformats.org/drawingml/2006/main">
              <a:ext uri="{FF2B5EF4-FFF2-40B4-BE49-F238E27FC236}">
                <a16:creationId xmlns:a16="http://schemas.microsoft.com/office/drawing/2014/main" id="{0C1788BC-47E8-4845-9E6E-FDE57EBD3FD9}"/>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oundRect">
            <a:avLst>
              <a:gd name="adj" fmla="val 4545"/>
            </a:avLst>
          </a:prstGeom>
          <a:solidFill xmlns:a="http://schemas.openxmlformats.org/drawingml/2006/main">
            <a:srgbClr val="18212C"/>
          </a:solidFill>
          <a:ln xmlns:a="http://schemas.openxmlformats.org/drawingml/2006/main" w="11430">
            <a:solidFill>
              <a:srgbClr val="40505D"/>
            </a:solidFill>
            <a:prstDash val="solid"/>
          </a:ln>
        </p:spPr>
      </p:sp>
      <p:sp>
        <p:nvSpPr>
          <p:cNvPr id="21" name="nav-scene-7-label">
            <a:extLst xmlns:a="http://schemas.openxmlformats.org/drawingml/2006/main">
              <a:ext uri="{FF2B5EF4-FFF2-40B4-BE49-F238E27FC236}">
                <a16:creationId xmlns:a16="http://schemas.microsoft.com/office/drawing/2014/main" id="{2C61D981-3579-450B-A9A5-444CE74D523A}"/>
              </a:ext>
            </a:extLst>
          </p:cNvPr>
          <p:cNvSpPr>
            <a:spLocks xmlns:a="http://schemas.openxmlformats.org/drawingml/2006/main" noGrp="1"/>
          </p:cNvSpPr>
          <p:nvPr/>
        </p:nvSpPr>
        <p:spPr>
          <a:xfrm xmlns:a="http://schemas.openxmlformats.org/drawingml/2006/main" rot="0">
            <a:off x="3705225"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EDF4FA"/>
                </a:solidFill>
              </a:defRPr>
            </a:pPr>
            <a:r>
              <a:rPr sz="600" b="0">
                <a:solidFill>
                  <a:srgbClr val="EDF4FA"/>
                </a:solidFill>
              </a:rPr>
              <a:t>7</a:t>
            </a:r>
          </a:p>
        </p:txBody>
      </p:sp>
      <p:sp>
        <p:nvSpPr>
          <p:cNvPr id="22" name="nav-scene-8">
            <a:extLst xmlns:a="http://schemas.openxmlformats.org/drawingml/2006/main">
              <a:ext uri="{FF2B5EF4-FFF2-40B4-BE49-F238E27FC236}">
                <a16:creationId xmlns:a16="http://schemas.microsoft.com/office/drawing/2014/main" id="{27FE83C7-7959-458F-BBF7-97DEF984A40F}"/>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oundRect">
            <a:avLst>
              <a:gd name="adj" fmla="val 4545"/>
            </a:avLst>
          </a:prstGeom>
          <a:solidFill xmlns:a="http://schemas.openxmlformats.org/drawingml/2006/main">
            <a:srgbClr val="69AEF5"/>
          </a:solidFill>
          <a:ln xmlns:a="http://schemas.openxmlformats.org/drawingml/2006/main" w="11430">
            <a:solidFill>
              <a:srgbClr val="69AEF5"/>
            </a:solidFill>
            <a:prstDash val="solid"/>
          </a:ln>
        </p:spPr>
      </p:sp>
      <p:sp>
        <p:nvSpPr>
          <p:cNvPr id="23" name="nav-scene-8-label">
            <a:extLst xmlns:a="http://schemas.openxmlformats.org/drawingml/2006/main">
              <a:ext uri="{FF2B5EF4-FFF2-40B4-BE49-F238E27FC236}">
                <a16:creationId xmlns:a16="http://schemas.microsoft.com/office/drawing/2014/main" id="{978856A6-1464-46B5-B249-70261206E6C4}"/>
              </a:ext>
            </a:extLst>
          </p:cNvPr>
          <p:cNvSpPr>
            <a:spLocks xmlns:a="http://schemas.openxmlformats.org/drawingml/2006/main" noGrp="1"/>
          </p:cNvSpPr>
          <p:nvPr/>
        </p:nvSpPr>
        <p:spPr>
          <a:xfrm xmlns:a="http://schemas.openxmlformats.org/drawingml/2006/main" rot="0">
            <a:off x="4000500" y="1104900"/>
            <a:ext cx="257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1">
                <a:solidFill>
                  <a:srgbClr val="18212C"/>
                </a:solidFill>
              </a:defRPr>
            </a:pPr>
            <a:r>
              <a:rPr sz="600" b="1">
                <a:solidFill>
                  <a:srgbClr val="18212C"/>
                </a:solidFill>
              </a:rPr>
              <a:t>8</a:t>
            </a:r>
          </a:p>
        </p:txBody>
      </p:sp>
      <p:sp>
        <p:nvSpPr>
          <p:cNvPr id="24" name="diagram-field">
            <a:extLst xmlns:a="http://schemas.openxmlformats.org/drawingml/2006/main">
              <a:ext uri="{FF2B5EF4-FFF2-40B4-BE49-F238E27FC236}">
                <a16:creationId xmlns:a16="http://schemas.microsoft.com/office/drawing/2014/main" id="{4782DA8B-0022-4033-BE21-2E1A169EC736}"/>
              </a:ext>
            </a:extLst>
          </p:cNvPr>
          <p:cNvSpPr>
            <a:spLocks xmlns:a="http://schemas.openxmlformats.org/drawingml/2006/main" noGrp="1"/>
          </p:cNvSpPr>
          <p:nvPr/>
        </p:nvSpPr>
        <p:spPr>
          <a:xfrm xmlns:a="http://schemas.openxmlformats.org/drawingml/2006/main" rot="0">
            <a:off x="2190750" y="1409700"/>
            <a:ext cx="7810500" cy="3905250"/>
          </a:xfrm>
          <a:prstGeom xmlns:a="http://schemas.openxmlformats.org/drawingml/2006/main" prst="rect">
            <a:avLst/>
          </a:prstGeom>
          <a:solidFill xmlns:a="http://schemas.openxmlformats.org/drawingml/2006/main">
            <a:srgbClr val="18212C"/>
          </a:solidFill>
          <a:ln xmlns:a="http://schemas.openxmlformats.org/drawingml/2006/main" w="9525">
            <a:solidFill>
              <a:srgbClr val="40505D"/>
            </a:solidFill>
            <a:prstDash val="solid"/>
          </a:ln>
        </p:spPr>
      </p:sp>
      <p:sp>
        <p:nvSpPr>
          <p:cNvPr id="25" name="takeaway">
            <a:extLst xmlns:a="http://schemas.openxmlformats.org/drawingml/2006/main">
              <a:ext uri="{FF2B5EF4-FFF2-40B4-BE49-F238E27FC236}">
                <a16:creationId xmlns:a16="http://schemas.microsoft.com/office/drawing/2014/main" id="{565B48D1-0493-45DA-9D7D-A9C6FB2743C5}"/>
              </a:ext>
            </a:extLst>
          </p:cNvPr>
          <p:cNvSpPr>
            <a:spLocks xmlns:a="http://schemas.openxmlformats.org/drawingml/2006/main" noGrp="1"/>
          </p:cNvSpPr>
          <p:nvPr/>
        </p:nvSpPr>
        <p:spPr>
          <a:xfrm xmlns:a="http://schemas.openxmlformats.org/drawingml/2006/main" rot="0">
            <a:off x="1933575" y="5476875"/>
            <a:ext cx="832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EDF4FA"/>
                </a:solidFill>
              </a:defRPr>
            </a:pPr>
            <a:r>
              <a:rPr sz="825" b="0">
                <a:solidFill>
                  <a:srgbClr val="EDF4FA"/>
                </a:solidFill>
              </a:rPr>
              <a:t>The demo closes by separating disclosure facts, counterfactual results, and local validation gates.</a:t>
            </a:r>
          </a:p>
        </p:txBody>
      </p:sp>
      <p:sp>
        <p:nvSpPr>
          <p:cNvPr id="26" name="source-rail">
            <a:extLst xmlns:a="http://schemas.openxmlformats.org/drawingml/2006/main">
              <a:ext uri="{FF2B5EF4-FFF2-40B4-BE49-F238E27FC236}">
                <a16:creationId xmlns:a16="http://schemas.microsoft.com/office/drawing/2014/main" id="{435405C9-7F00-43E4-AE3E-C43E86ECC5B0}"/>
              </a:ext>
            </a:extLst>
          </p:cNvPr>
          <p:cNvSpPr>
            <a:spLocks xmlns:a="http://schemas.openxmlformats.org/drawingml/2006/main" noGrp="1"/>
          </p:cNvSpPr>
          <p:nvPr/>
        </p:nvSpPr>
        <p:spPr>
          <a:xfrm xmlns:a="http://schemas.openxmlformats.org/drawingml/2006/main" rot="0">
            <a:off x="1933575" y="6505575"/>
            <a:ext cx="832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25" b="0">
                <a:solidFill>
                  <a:srgbClr val="AAB9C5"/>
                </a:solidFill>
              </a:defRPr>
            </a:pPr>
            <a:r>
              <a:rPr sz="525" b="0">
                <a:solidFill>
                  <a:srgbClr val="AAB9C5"/>
                </a:solidFill>
              </a:rPr>
              <a:t>Sources: KTP v2.0.0 · KTP citation · KTP Enterprise architecture · KTP Constitution · Hugging Face technical timeline</a:t>
            </a:r>
          </a:p>
        </p:txBody>
      </p:sp>
      <p:sp>
        <p:nvSpPr>
          <p:cNvPr id="27" name="diagram-label">
            <a:extLst xmlns:a="http://schemas.openxmlformats.org/drawingml/2006/main">
              <a:ext uri="{FF2B5EF4-FFF2-40B4-BE49-F238E27FC236}">
                <a16:creationId xmlns:a16="http://schemas.microsoft.com/office/drawing/2014/main" id="{5EE0897B-FDA9-4EDB-8B20-D4B12D99FB71}"/>
              </a:ext>
            </a:extLst>
          </p:cNvPr>
          <p:cNvSpPr>
            <a:spLocks xmlns:a="http://schemas.openxmlformats.org/drawingml/2006/main" noGrp="1"/>
          </p:cNvSpPr>
          <p:nvPr/>
        </p:nvSpPr>
        <p:spPr>
          <a:xfrm xmlns:a="http://schemas.openxmlformats.org/drawingml/2006/main" rot="0">
            <a:off x="2542223" y="1612773"/>
            <a:ext cx="40614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69AEF5"/>
                </a:solidFill>
              </a:defRPr>
            </a:pPr>
            <a:r>
              <a:rPr sz="750" b="1">
                <a:solidFill>
                  <a:srgbClr val="69AEF5"/>
                </a:solidFill>
              </a:rPr>
              <a:t>CLAIMS ADVANCE ONLY WITH EVIDENCE</a:t>
            </a:r>
          </a:p>
        </p:txBody>
      </p:sp>
      <p:sp>
        <p:nvSpPr>
          <p:cNvPr id="28" name="evidence-step-1">
            <a:extLst xmlns:a="http://schemas.openxmlformats.org/drawingml/2006/main">
              <a:ext uri="{FF2B5EF4-FFF2-40B4-BE49-F238E27FC236}">
                <a16:creationId xmlns:a16="http://schemas.microsoft.com/office/drawing/2014/main" id="{1A092295-41F1-4DDB-9822-23314616B2E4}"/>
              </a:ext>
            </a:extLst>
          </p:cNvPr>
          <p:cNvSpPr>
            <a:spLocks xmlns:a="http://schemas.openxmlformats.org/drawingml/2006/main" noGrp="1"/>
          </p:cNvSpPr>
          <p:nvPr/>
        </p:nvSpPr>
        <p:spPr>
          <a:xfrm xmlns:a="http://schemas.openxmlformats.org/drawingml/2006/main" flipH="0" flipV="1">
            <a:off x="2893695" y="4026218"/>
            <a:ext cx="1210627" cy="585788"/>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29" name="evidence-step-2">
            <a:extLst xmlns:a="http://schemas.openxmlformats.org/drawingml/2006/main">
              <a:ext uri="{FF2B5EF4-FFF2-40B4-BE49-F238E27FC236}">
                <a16:creationId xmlns:a16="http://schemas.microsoft.com/office/drawing/2014/main" id="{7B5AC10B-F72D-4C4F-97EB-77EC9E638077}"/>
              </a:ext>
            </a:extLst>
          </p:cNvPr>
          <p:cNvSpPr>
            <a:spLocks xmlns:a="http://schemas.openxmlformats.org/drawingml/2006/main" noGrp="1"/>
          </p:cNvSpPr>
          <p:nvPr/>
        </p:nvSpPr>
        <p:spPr>
          <a:xfrm xmlns:a="http://schemas.openxmlformats.org/drawingml/2006/main" flipH="0" flipV="1">
            <a:off x="4104323" y="3440430"/>
            <a:ext cx="1210628" cy="585787"/>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0" name="evidence-step-3">
            <a:extLst xmlns:a="http://schemas.openxmlformats.org/drawingml/2006/main">
              <a:ext uri="{FF2B5EF4-FFF2-40B4-BE49-F238E27FC236}">
                <a16:creationId xmlns:a16="http://schemas.microsoft.com/office/drawing/2014/main" id="{8C14231C-A35C-4AD0-8B05-29708E9252A3}"/>
              </a:ext>
            </a:extLst>
          </p:cNvPr>
          <p:cNvSpPr>
            <a:spLocks xmlns:a="http://schemas.openxmlformats.org/drawingml/2006/main" noGrp="1"/>
          </p:cNvSpPr>
          <p:nvPr/>
        </p:nvSpPr>
        <p:spPr>
          <a:xfrm xmlns:a="http://schemas.openxmlformats.org/drawingml/2006/main" flipH="0" flipV="1">
            <a:off x="5314950" y="2854643"/>
            <a:ext cx="1210628" cy="585788"/>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1" name="evidence-step-4">
            <a:extLst xmlns:a="http://schemas.openxmlformats.org/drawingml/2006/main">
              <a:ext uri="{FF2B5EF4-FFF2-40B4-BE49-F238E27FC236}">
                <a16:creationId xmlns:a16="http://schemas.microsoft.com/office/drawing/2014/main" id="{F5EF0948-8DC5-45C0-B54D-E934DA6444F0}"/>
              </a:ext>
            </a:extLst>
          </p:cNvPr>
          <p:cNvSpPr>
            <a:spLocks xmlns:a="http://schemas.openxmlformats.org/drawingml/2006/main" noGrp="1"/>
          </p:cNvSpPr>
          <p:nvPr/>
        </p:nvSpPr>
        <p:spPr>
          <a:xfrm xmlns:a="http://schemas.openxmlformats.org/drawingml/2006/main" flipH="0" flipV="1">
            <a:off x="6525578" y="2268855"/>
            <a:ext cx="1210627" cy="585788"/>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2" name="evidence-step-5">
            <a:extLst xmlns:a="http://schemas.openxmlformats.org/drawingml/2006/main">
              <a:ext uri="{FF2B5EF4-FFF2-40B4-BE49-F238E27FC236}">
                <a16:creationId xmlns:a16="http://schemas.microsoft.com/office/drawing/2014/main" id="{C077750C-CDB1-48CB-8FD9-BA30B2B5644A}"/>
              </a:ext>
            </a:extLst>
          </p:cNvPr>
          <p:cNvSpPr>
            <a:spLocks xmlns:a="http://schemas.openxmlformats.org/drawingml/2006/main" noGrp="1"/>
          </p:cNvSpPr>
          <p:nvPr/>
        </p:nvSpPr>
        <p:spPr>
          <a:xfrm xmlns:a="http://schemas.openxmlformats.org/drawingml/2006/main" flipH="0" flipV="1">
            <a:off x="7736205" y="1761173"/>
            <a:ext cx="1288733" cy="507682"/>
          </a:xfrm>
          <a:prstGeom xmlns:a="http://schemas.openxmlformats.org/drawingml/2006/main" prst="line">
            <a:avLst/>
          </a:prstGeom>
          <a:noFill xmlns:a="http://schemas.openxmlformats.org/drawingml/2006/main"/>
          <a:ln xmlns:a="http://schemas.openxmlformats.org/drawingml/2006/main" w="28575">
            <a:solidFill>
              <a:srgbClr val="69AEF5"/>
            </a:solidFill>
            <a:prstDash val="solid"/>
          </a:ln>
        </p:spPr>
      </p:sp>
      <p:sp>
        <p:nvSpPr>
          <p:cNvPr id="33" name="evidence-node-1">
            <a:extLst xmlns:a="http://schemas.openxmlformats.org/drawingml/2006/main">
              <a:ext uri="{FF2B5EF4-FFF2-40B4-BE49-F238E27FC236}">
                <a16:creationId xmlns:a16="http://schemas.microsoft.com/office/drawing/2014/main" id="{838FF1AE-68FD-45AF-8343-29CC3DD14EBB}"/>
              </a:ext>
            </a:extLst>
          </p:cNvPr>
          <p:cNvSpPr>
            <a:spLocks xmlns:a="http://schemas.openxmlformats.org/drawingml/2006/main" noGrp="1"/>
          </p:cNvSpPr>
          <p:nvPr/>
        </p:nvSpPr>
        <p:spPr>
          <a:xfrm xmlns:a="http://schemas.openxmlformats.org/drawingml/2006/main" rot="0">
            <a:off x="2659380" y="4377690"/>
            <a:ext cx="468630" cy="468630"/>
          </a:xfrm>
          <a:prstGeom xmlns:a="http://schemas.openxmlformats.org/drawingml/2006/main" prst="ellipse">
            <a:avLst/>
          </a:prstGeom>
          <a:solidFill xmlns:a="http://schemas.openxmlformats.org/drawingml/2006/main">
            <a:srgbClr val="69AEF5"/>
          </a:solidFill>
          <a:ln xmlns:a="http://schemas.openxmlformats.org/drawingml/2006/main" w="14288">
            <a:solidFill>
              <a:srgbClr val="69AEF5"/>
            </a:solidFill>
            <a:prstDash val="solid"/>
          </a:ln>
        </p:spPr>
      </p:sp>
      <p:sp>
        <p:nvSpPr>
          <p:cNvPr id="34" name="evidence-code-1">
            <a:extLst xmlns:a="http://schemas.openxmlformats.org/drawingml/2006/main">
              <a:ext uri="{FF2B5EF4-FFF2-40B4-BE49-F238E27FC236}">
                <a16:creationId xmlns:a16="http://schemas.microsoft.com/office/drawing/2014/main" id="{7A37E55B-6379-4BB1-BE00-FB17153CBB22}"/>
              </a:ext>
            </a:extLst>
          </p:cNvPr>
          <p:cNvSpPr>
            <a:spLocks xmlns:a="http://schemas.openxmlformats.org/drawingml/2006/main" noGrp="1"/>
          </p:cNvSpPr>
          <p:nvPr/>
        </p:nvSpPr>
        <p:spPr>
          <a:xfrm xmlns:a="http://schemas.openxmlformats.org/drawingml/2006/main" rot="0">
            <a:off x="2690622" y="4494848"/>
            <a:ext cx="406146"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V1</a:t>
            </a:r>
          </a:p>
        </p:txBody>
      </p:sp>
      <p:sp>
        <p:nvSpPr>
          <p:cNvPr id="35" name="evidence-label-1">
            <a:extLst xmlns:a="http://schemas.openxmlformats.org/drawingml/2006/main">
              <a:ext uri="{FF2B5EF4-FFF2-40B4-BE49-F238E27FC236}">
                <a16:creationId xmlns:a16="http://schemas.microsoft.com/office/drawing/2014/main" id="{227A66C2-36F1-4F4D-9C32-51A8BC394741}"/>
              </a:ext>
            </a:extLst>
          </p:cNvPr>
          <p:cNvSpPr>
            <a:spLocks xmlns:a="http://schemas.openxmlformats.org/drawingml/2006/main" noGrp="1"/>
          </p:cNvSpPr>
          <p:nvPr/>
        </p:nvSpPr>
        <p:spPr>
          <a:xfrm xmlns:a="http://schemas.openxmlformats.org/drawingml/2006/main" rot="0">
            <a:off x="2346960" y="4877562"/>
            <a:ext cx="109347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model invariants</a:t>
            </a:r>
          </a:p>
        </p:txBody>
      </p:sp>
      <p:sp>
        <p:nvSpPr>
          <p:cNvPr id="36" name="evidence-node-2">
            <a:extLst xmlns:a="http://schemas.openxmlformats.org/drawingml/2006/main">
              <a:ext uri="{FF2B5EF4-FFF2-40B4-BE49-F238E27FC236}">
                <a16:creationId xmlns:a16="http://schemas.microsoft.com/office/drawing/2014/main" id="{2ED48490-59B9-4050-92C4-0170D6FA62D3}"/>
              </a:ext>
            </a:extLst>
          </p:cNvPr>
          <p:cNvSpPr>
            <a:spLocks xmlns:a="http://schemas.openxmlformats.org/drawingml/2006/main" noGrp="1"/>
          </p:cNvSpPr>
          <p:nvPr/>
        </p:nvSpPr>
        <p:spPr>
          <a:xfrm xmlns:a="http://schemas.openxmlformats.org/drawingml/2006/main" rot="0">
            <a:off x="3870008" y="3791903"/>
            <a:ext cx="468630" cy="468630"/>
          </a:xfrm>
          <a:prstGeom xmlns:a="http://schemas.openxmlformats.org/drawingml/2006/main" prst="ellipse">
            <a:avLst/>
          </a:prstGeom>
          <a:solidFill xmlns:a="http://schemas.openxmlformats.org/drawingml/2006/main">
            <a:srgbClr val="69AEF5"/>
          </a:solidFill>
          <a:ln xmlns:a="http://schemas.openxmlformats.org/drawingml/2006/main" w="14288">
            <a:solidFill>
              <a:srgbClr val="69AEF5"/>
            </a:solidFill>
            <a:prstDash val="solid"/>
          </a:ln>
        </p:spPr>
      </p:sp>
      <p:sp>
        <p:nvSpPr>
          <p:cNvPr id="37" name="evidence-code-2">
            <a:extLst xmlns:a="http://schemas.openxmlformats.org/drawingml/2006/main">
              <a:ext uri="{FF2B5EF4-FFF2-40B4-BE49-F238E27FC236}">
                <a16:creationId xmlns:a16="http://schemas.microsoft.com/office/drawing/2014/main" id="{F720E6A2-7603-4C33-B0A1-65F38EFA994E}"/>
              </a:ext>
            </a:extLst>
          </p:cNvPr>
          <p:cNvSpPr>
            <a:spLocks xmlns:a="http://schemas.openxmlformats.org/drawingml/2006/main" noGrp="1"/>
          </p:cNvSpPr>
          <p:nvPr/>
        </p:nvSpPr>
        <p:spPr>
          <a:xfrm xmlns:a="http://schemas.openxmlformats.org/drawingml/2006/main" rot="0">
            <a:off x="3901250" y="3909060"/>
            <a:ext cx="406146"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V2</a:t>
            </a:r>
          </a:p>
        </p:txBody>
      </p:sp>
      <p:sp>
        <p:nvSpPr>
          <p:cNvPr id="38" name="evidence-label-2">
            <a:extLst xmlns:a="http://schemas.openxmlformats.org/drawingml/2006/main">
              <a:ext uri="{FF2B5EF4-FFF2-40B4-BE49-F238E27FC236}">
                <a16:creationId xmlns:a16="http://schemas.microsoft.com/office/drawing/2014/main" id="{CEE366C3-498A-4E6D-B977-1EAF486A8A82}"/>
              </a:ext>
            </a:extLst>
          </p:cNvPr>
          <p:cNvSpPr>
            <a:spLocks xmlns:a="http://schemas.openxmlformats.org/drawingml/2006/main" noGrp="1"/>
          </p:cNvSpPr>
          <p:nvPr/>
        </p:nvSpPr>
        <p:spPr>
          <a:xfrm xmlns:a="http://schemas.openxmlformats.org/drawingml/2006/main" rot="0">
            <a:off x="3557588" y="4291775"/>
            <a:ext cx="109347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historical replay</a:t>
            </a:r>
          </a:p>
        </p:txBody>
      </p:sp>
      <p:sp>
        <p:nvSpPr>
          <p:cNvPr id="39" name="evidence-node-3">
            <a:extLst xmlns:a="http://schemas.openxmlformats.org/drawingml/2006/main">
              <a:ext uri="{FF2B5EF4-FFF2-40B4-BE49-F238E27FC236}">
                <a16:creationId xmlns:a16="http://schemas.microsoft.com/office/drawing/2014/main" id="{6F14FA1A-F858-4E7F-9A98-A91800F06912}"/>
              </a:ext>
            </a:extLst>
          </p:cNvPr>
          <p:cNvSpPr>
            <a:spLocks xmlns:a="http://schemas.openxmlformats.org/drawingml/2006/main" noGrp="1"/>
          </p:cNvSpPr>
          <p:nvPr/>
        </p:nvSpPr>
        <p:spPr>
          <a:xfrm xmlns:a="http://schemas.openxmlformats.org/drawingml/2006/main" rot="0">
            <a:off x="5080635" y="3206115"/>
            <a:ext cx="468630" cy="468630"/>
          </a:xfrm>
          <a:prstGeom xmlns:a="http://schemas.openxmlformats.org/drawingml/2006/main" prst="ellipse">
            <a:avLst/>
          </a:prstGeom>
          <a:solidFill xmlns:a="http://schemas.openxmlformats.org/drawingml/2006/main">
            <a:srgbClr val="69AEF5"/>
          </a:solidFill>
          <a:ln xmlns:a="http://schemas.openxmlformats.org/drawingml/2006/main" w="14288">
            <a:solidFill>
              <a:srgbClr val="69AEF5"/>
            </a:solidFill>
            <a:prstDash val="solid"/>
          </a:ln>
        </p:spPr>
      </p:sp>
      <p:sp>
        <p:nvSpPr>
          <p:cNvPr id="40" name="evidence-code-3">
            <a:extLst xmlns:a="http://schemas.openxmlformats.org/drawingml/2006/main">
              <a:ext uri="{FF2B5EF4-FFF2-40B4-BE49-F238E27FC236}">
                <a16:creationId xmlns:a16="http://schemas.microsoft.com/office/drawing/2014/main" id="{4A770AE6-C4CA-48F8-8A37-A15D3C4FB742}"/>
              </a:ext>
            </a:extLst>
          </p:cNvPr>
          <p:cNvSpPr>
            <a:spLocks xmlns:a="http://schemas.openxmlformats.org/drawingml/2006/main" noGrp="1"/>
          </p:cNvSpPr>
          <p:nvPr/>
        </p:nvSpPr>
        <p:spPr>
          <a:xfrm xmlns:a="http://schemas.openxmlformats.org/drawingml/2006/main" rot="0">
            <a:off x="5111877" y="3323273"/>
            <a:ext cx="406146"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V3A</a:t>
            </a:r>
          </a:p>
        </p:txBody>
      </p:sp>
      <p:sp>
        <p:nvSpPr>
          <p:cNvPr id="41" name="evidence-label-3">
            <a:extLst xmlns:a="http://schemas.openxmlformats.org/drawingml/2006/main">
              <a:ext uri="{FF2B5EF4-FFF2-40B4-BE49-F238E27FC236}">
                <a16:creationId xmlns:a16="http://schemas.microsoft.com/office/drawing/2014/main" id="{413C5732-F4E8-441C-95A0-04FE7474995C}"/>
              </a:ext>
            </a:extLst>
          </p:cNvPr>
          <p:cNvSpPr>
            <a:spLocks xmlns:a="http://schemas.openxmlformats.org/drawingml/2006/main" noGrp="1"/>
          </p:cNvSpPr>
          <p:nvPr/>
        </p:nvSpPr>
        <p:spPr>
          <a:xfrm xmlns:a="http://schemas.openxmlformats.org/drawingml/2006/main" rot="0">
            <a:off x="4768215" y="3705987"/>
            <a:ext cx="109347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V3A modeled</a:t>
            </a:r>
          </a:p>
        </p:txBody>
      </p:sp>
      <p:sp>
        <p:nvSpPr>
          <p:cNvPr id="42" name="evidence-node-4">
            <a:extLst xmlns:a="http://schemas.openxmlformats.org/drawingml/2006/main">
              <a:ext uri="{FF2B5EF4-FFF2-40B4-BE49-F238E27FC236}">
                <a16:creationId xmlns:a16="http://schemas.microsoft.com/office/drawing/2014/main" id="{F4298EA6-E547-4552-8BBC-22EA968C196C}"/>
              </a:ext>
            </a:extLst>
          </p:cNvPr>
          <p:cNvSpPr>
            <a:spLocks xmlns:a="http://schemas.openxmlformats.org/drawingml/2006/main" noGrp="1"/>
          </p:cNvSpPr>
          <p:nvPr/>
        </p:nvSpPr>
        <p:spPr>
          <a:xfrm xmlns:a="http://schemas.openxmlformats.org/drawingml/2006/main" rot="0">
            <a:off x="6291263" y="2620328"/>
            <a:ext cx="468630" cy="468630"/>
          </a:xfrm>
          <a:prstGeom xmlns:a="http://schemas.openxmlformats.org/drawingml/2006/main" prst="ellipse">
            <a:avLst/>
          </a:prstGeom>
          <a:solidFill xmlns:a="http://schemas.openxmlformats.org/drawingml/2006/main">
            <a:srgbClr val="10151C"/>
          </a:solidFill>
          <a:ln xmlns:a="http://schemas.openxmlformats.org/drawingml/2006/main" w="14288">
            <a:solidFill>
              <a:srgbClr val="40505D"/>
            </a:solidFill>
            <a:prstDash val="solid"/>
          </a:ln>
        </p:spPr>
      </p:sp>
      <p:sp>
        <p:nvSpPr>
          <p:cNvPr id="43" name="evidence-code-4">
            <a:extLst xmlns:a="http://schemas.openxmlformats.org/drawingml/2006/main">
              <a:ext uri="{FF2B5EF4-FFF2-40B4-BE49-F238E27FC236}">
                <a16:creationId xmlns:a16="http://schemas.microsoft.com/office/drawing/2014/main" id="{79508008-6B6F-499A-B350-3CFC3E266EB8}"/>
              </a:ext>
            </a:extLst>
          </p:cNvPr>
          <p:cNvSpPr>
            <a:spLocks xmlns:a="http://schemas.openxmlformats.org/drawingml/2006/main" noGrp="1"/>
          </p:cNvSpPr>
          <p:nvPr/>
        </p:nvSpPr>
        <p:spPr>
          <a:xfrm xmlns:a="http://schemas.openxmlformats.org/drawingml/2006/main" rot="0">
            <a:off x="6322505" y="2737485"/>
            <a:ext cx="406146"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3B1</a:t>
            </a:r>
          </a:p>
        </p:txBody>
      </p:sp>
      <p:sp>
        <p:nvSpPr>
          <p:cNvPr id="44" name="evidence-label-4">
            <a:extLst xmlns:a="http://schemas.openxmlformats.org/drawingml/2006/main">
              <a:ext uri="{FF2B5EF4-FFF2-40B4-BE49-F238E27FC236}">
                <a16:creationId xmlns:a16="http://schemas.microsoft.com/office/drawing/2014/main" id="{084BC881-F2C5-4EDD-8518-20FDBD87C834}"/>
              </a:ext>
            </a:extLst>
          </p:cNvPr>
          <p:cNvSpPr>
            <a:spLocks xmlns:a="http://schemas.openxmlformats.org/drawingml/2006/main" noGrp="1"/>
          </p:cNvSpPr>
          <p:nvPr/>
        </p:nvSpPr>
        <p:spPr>
          <a:xfrm xmlns:a="http://schemas.openxmlformats.org/drawingml/2006/main" rot="0">
            <a:off x="5978843" y="3120200"/>
            <a:ext cx="109347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V3B-1 pending</a:t>
            </a:r>
          </a:p>
        </p:txBody>
      </p:sp>
      <p:sp>
        <p:nvSpPr>
          <p:cNvPr id="45" name="evidence-node-5">
            <a:extLst xmlns:a="http://schemas.openxmlformats.org/drawingml/2006/main">
              <a:ext uri="{FF2B5EF4-FFF2-40B4-BE49-F238E27FC236}">
                <a16:creationId xmlns:a16="http://schemas.microsoft.com/office/drawing/2014/main" id="{78D5A249-B14C-4519-B7C2-12562D6492B5}"/>
              </a:ext>
            </a:extLst>
          </p:cNvPr>
          <p:cNvSpPr>
            <a:spLocks xmlns:a="http://schemas.openxmlformats.org/drawingml/2006/main" noGrp="1"/>
          </p:cNvSpPr>
          <p:nvPr/>
        </p:nvSpPr>
        <p:spPr>
          <a:xfrm xmlns:a="http://schemas.openxmlformats.org/drawingml/2006/main" rot="0">
            <a:off x="7501890" y="2034540"/>
            <a:ext cx="468630" cy="468630"/>
          </a:xfrm>
          <a:prstGeom xmlns:a="http://schemas.openxmlformats.org/drawingml/2006/main" prst="ellipse">
            <a:avLst/>
          </a:prstGeom>
          <a:solidFill xmlns:a="http://schemas.openxmlformats.org/drawingml/2006/main">
            <a:srgbClr val="10151C"/>
          </a:solidFill>
          <a:ln xmlns:a="http://schemas.openxmlformats.org/drawingml/2006/main" w="14288">
            <a:solidFill>
              <a:srgbClr val="40505D"/>
            </a:solidFill>
            <a:prstDash val="solid"/>
          </a:ln>
        </p:spPr>
      </p:sp>
      <p:sp>
        <p:nvSpPr>
          <p:cNvPr id="46" name="evidence-code-5">
            <a:extLst xmlns:a="http://schemas.openxmlformats.org/drawingml/2006/main">
              <a:ext uri="{FF2B5EF4-FFF2-40B4-BE49-F238E27FC236}">
                <a16:creationId xmlns:a16="http://schemas.microsoft.com/office/drawing/2014/main" id="{97D3F10B-2B20-4ACE-B234-B019B1DBB15D}"/>
              </a:ext>
            </a:extLst>
          </p:cNvPr>
          <p:cNvSpPr>
            <a:spLocks xmlns:a="http://schemas.openxmlformats.org/drawingml/2006/main" noGrp="1"/>
          </p:cNvSpPr>
          <p:nvPr/>
        </p:nvSpPr>
        <p:spPr>
          <a:xfrm xmlns:a="http://schemas.openxmlformats.org/drawingml/2006/main" rot="0">
            <a:off x="7533132" y="2151698"/>
            <a:ext cx="406146"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3B2</a:t>
            </a:r>
          </a:p>
        </p:txBody>
      </p:sp>
      <p:sp>
        <p:nvSpPr>
          <p:cNvPr id="47" name="evidence-label-5">
            <a:extLst xmlns:a="http://schemas.openxmlformats.org/drawingml/2006/main">
              <a:ext uri="{FF2B5EF4-FFF2-40B4-BE49-F238E27FC236}">
                <a16:creationId xmlns:a16="http://schemas.microsoft.com/office/drawing/2014/main" id="{867BC30C-C28A-4336-B153-B1E62A6A653D}"/>
              </a:ext>
            </a:extLst>
          </p:cNvPr>
          <p:cNvSpPr>
            <a:spLocks xmlns:a="http://schemas.openxmlformats.org/drawingml/2006/main" noGrp="1"/>
          </p:cNvSpPr>
          <p:nvPr/>
        </p:nvSpPr>
        <p:spPr>
          <a:xfrm xmlns:a="http://schemas.openxmlformats.org/drawingml/2006/main" rot="0">
            <a:off x="7189470" y="2534412"/>
            <a:ext cx="109347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V3B-2 future</a:t>
            </a:r>
          </a:p>
        </p:txBody>
      </p:sp>
      <p:sp>
        <p:nvSpPr>
          <p:cNvPr id="48" name="evidence-node-6">
            <a:extLst xmlns:a="http://schemas.openxmlformats.org/drawingml/2006/main">
              <a:ext uri="{FF2B5EF4-FFF2-40B4-BE49-F238E27FC236}">
                <a16:creationId xmlns:a16="http://schemas.microsoft.com/office/drawing/2014/main" id="{C1A54129-0679-482E-B6B5-B79F02DFC741}"/>
              </a:ext>
            </a:extLst>
          </p:cNvPr>
          <p:cNvSpPr>
            <a:spLocks xmlns:a="http://schemas.openxmlformats.org/drawingml/2006/main" noGrp="1"/>
          </p:cNvSpPr>
          <p:nvPr/>
        </p:nvSpPr>
        <p:spPr>
          <a:xfrm xmlns:a="http://schemas.openxmlformats.org/drawingml/2006/main" rot="0">
            <a:off x="8790623" y="1526858"/>
            <a:ext cx="468630" cy="468630"/>
          </a:xfrm>
          <a:prstGeom xmlns:a="http://schemas.openxmlformats.org/drawingml/2006/main" prst="ellipse">
            <a:avLst/>
          </a:prstGeom>
          <a:solidFill xmlns:a="http://schemas.openxmlformats.org/drawingml/2006/main">
            <a:srgbClr val="10151C"/>
          </a:solidFill>
          <a:ln xmlns:a="http://schemas.openxmlformats.org/drawingml/2006/main" w="14288">
            <a:solidFill>
              <a:srgbClr val="40505D"/>
            </a:solidFill>
            <a:prstDash val="solid"/>
          </a:ln>
        </p:spPr>
      </p:sp>
      <p:sp>
        <p:nvSpPr>
          <p:cNvPr id="49" name="evidence-code-6">
            <a:extLst xmlns:a="http://schemas.openxmlformats.org/drawingml/2006/main">
              <a:ext uri="{FF2B5EF4-FFF2-40B4-BE49-F238E27FC236}">
                <a16:creationId xmlns:a16="http://schemas.microsoft.com/office/drawing/2014/main" id="{F2054291-8BBA-4011-A6A5-203B4EE1E777}"/>
              </a:ext>
            </a:extLst>
          </p:cNvPr>
          <p:cNvSpPr>
            <a:spLocks xmlns:a="http://schemas.openxmlformats.org/drawingml/2006/main" noGrp="1"/>
          </p:cNvSpPr>
          <p:nvPr/>
        </p:nvSpPr>
        <p:spPr>
          <a:xfrm xmlns:a="http://schemas.openxmlformats.org/drawingml/2006/main" rot="0">
            <a:off x="8821865" y="1644015"/>
            <a:ext cx="406146" cy="2343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DF4FA"/>
                </a:solidFill>
              </a:defRPr>
            </a:pPr>
            <a:r>
              <a:rPr sz="900" b="1">
                <a:solidFill>
                  <a:srgbClr val="EDF4FA"/>
                </a:solidFill>
              </a:rPr>
              <a:t>V4</a:t>
            </a:r>
          </a:p>
        </p:txBody>
      </p:sp>
      <p:sp>
        <p:nvSpPr>
          <p:cNvPr id="50" name="evidence-label-6">
            <a:extLst xmlns:a="http://schemas.openxmlformats.org/drawingml/2006/main">
              <a:ext uri="{FF2B5EF4-FFF2-40B4-BE49-F238E27FC236}">
                <a16:creationId xmlns:a16="http://schemas.microsoft.com/office/drawing/2014/main" id="{6BEAAE34-D3AB-44C1-A7F6-1DC532DC7B7E}"/>
              </a:ext>
            </a:extLst>
          </p:cNvPr>
          <p:cNvSpPr>
            <a:spLocks xmlns:a="http://schemas.openxmlformats.org/drawingml/2006/main" noGrp="1"/>
          </p:cNvSpPr>
          <p:nvPr/>
        </p:nvSpPr>
        <p:spPr>
          <a:xfrm xmlns:a="http://schemas.openxmlformats.org/drawingml/2006/main" rot="0">
            <a:off x="8478203" y="2026730"/>
            <a:ext cx="109347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publication</a:t>
            </a:r>
          </a:p>
        </p:txBody>
      </p:sp>
      <p:sp>
        <p:nvSpPr>
          <p:cNvPr id="51" name="claim-boundary-frame">
            <a:extLst xmlns:a="http://schemas.openxmlformats.org/drawingml/2006/main">
              <a:ext uri="{FF2B5EF4-FFF2-40B4-BE49-F238E27FC236}">
                <a16:creationId xmlns:a16="http://schemas.microsoft.com/office/drawing/2014/main" id="{9B5DB1FE-61BA-422C-B2AB-4F6C3AC3F4AA}"/>
              </a:ext>
            </a:extLst>
          </p:cNvPr>
          <p:cNvSpPr>
            <a:spLocks xmlns:a="http://schemas.openxmlformats.org/drawingml/2006/main" noGrp="1"/>
          </p:cNvSpPr>
          <p:nvPr/>
        </p:nvSpPr>
        <p:spPr>
          <a:xfrm xmlns:a="http://schemas.openxmlformats.org/drawingml/2006/main" rot="0">
            <a:off x="6486525" y="3870008"/>
            <a:ext cx="2967990" cy="906018"/>
          </a:xfrm>
          <a:prstGeom xmlns:a="http://schemas.openxmlformats.org/drawingml/2006/main" prst="roundRect">
            <a:avLst>
              <a:gd name="adj" fmla="val 8410"/>
            </a:avLst>
          </a:prstGeom>
          <a:solidFill xmlns:a="http://schemas.openxmlformats.org/drawingml/2006/main">
            <a:srgbClr val="10151C"/>
          </a:solidFill>
          <a:ln xmlns:a="http://schemas.openxmlformats.org/drawingml/2006/main" w="11430">
            <a:solidFill>
              <a:srgbClr val="40505D"/>
            </a:solidFill>
            <a:prstDash val="solid"/>
          </a:ln>
        </p:spPr>
      </p:sp>
      <p:sp>
        <p:nvSpPr>
          <p:cNvPr id="52" name="claim-boundary-title">
            <a:extLst xmlns:a="http://schemas.openxmlformats.org/drawingml/2006/main">
              <a:ext uri="{FF2B5EF4-FFF2-40B4-BE49-F238E27FC236}">
                <a16:creationId xmlns:a16="http://schemas.microsoft.com/office/drawing/2014/main" id="{2D038CE2-DC61-4E73-A615-71BBAB0283F8}"/>
              </a:ext>
            </a:extLst>
          </p:cNvPr>
          <p:cNvSpPr>
            <a:spLocks xmlns:a="http://schemas.openxmlformats.org/drawingml/2006/main" noGrp="1"/>
          </p:cNvSpPr>
          <p:nvPr/>
        </p:nvSpPr>
        <p:spPr>
          <a:xfrm xmlns:a="http://schemas.openxmlformats.org/drawingml/2006/main" rot="0">
            <a:off x="6877050" y="3979355"/>
            <a:ext cx="2186940" cy="2186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EDF4FA"/>
                </a:solidFill>
              </a:defRPr>
            </a:pPr>
            <a:r>
              <a:rPr sz="975" b="1">
                <a:solidFill>
                  <a:srgbClr val="EDF4FA"/>
                </a:solidFill>
              </a:rPr>
              <a:t>Current claim boundary</a:t>
            </a:r>
          </a:p>
        </p:txBody>
      </p:sp>
      <p:sp>
        <p:nvSpPr>
          <p:cNvPr id="53" name="claim-boundary-facts">
            <a:extLst xmlns:a="http://schemas.openxmlformats.org/drawingml/2006/main">
              <a:ext uri="{FF2B5EF4-FFF2-40B4-BE49-F238E27FC236}">
                <a16:creationId xmlns:a16="http://schemas.microsoft.com/office/drawing/2014/main" id="{BE12FEF6-F9B5-4F90-97FA-0296E2542401}"/>
              </a:ext>
            </a:extLst>
          </p:cNvPr>
          <p:cNvSpPr>
            <a:spLocks xmlns:a="http://schemas.openxmlformats.org/drawingml/2006/main" noGrp="1"/>
          </p:cNvSpPr>
          <p:nvPr/>
        </p:nvSpPr>
        <p:spPr>
          <a:xfrm xmlns:a="http://schemas.openxmlformats.org/drawingml/2006/main" rot="0">
            <a:off x="6720840" y="4260533"/>
            <a:ext cx="2499360" cy="1874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AAB9C5"/>
                </a:solidFill>
              </a:defRPr>
            </a:pPr>
            <a:r>
              <a:rPr sz="750" b="0">
                <a:solidFill>
                  <a:srgbClr val="AAB9C5"/>
                </a:solidFill>
              </a:rPr>
              <a:t>Observed facts · modeled KIL results</a:t>
            </a:r>
          </a:p>
        </p:txBody>
      </p:sp>
      <p:sp>
        <p:nvSpPr>
          <p:cNvPr id="54" name="claim-boundary-live">
            <a:extLst xmlns:a="http://schemas.openxmlformats.org/drawingml/2006/main">
              <a:ext uri="{FF2B5EF4-FFF2-40B4-BE49-F238E27FC236}">
                <a16:creationId xmlns:a16="http://schemas.microsoft.com/office/drawing/2014/main" id="{D5E4F7E0-96BB-4485-B691-DDD5E95D238B}"/>
              </a:ext>
            </a:extLst>
          </p:cNvPr>
          <p:cNvSpPr>
            <a:spLocks xmlns:a="http://schemas.openxmlformats.org/drawingml/2006/main" noGrp="1"/>
          </p:cNvSpPr>
          <p:nvPr/>
        </p:nvSpPr>
        <p:spPr>
          <a:xfrm xmlns:a="http://schemas.openxmlformats.org/drawingml/2006/main" rot="0">
            <a:off x="6603683" y="4510469"/>
            <a:ext cx="2733675" cy="195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0">
                <a:solidFill>
                  <a:srgbClr val="AAB9C5"/>
                </a:solidFill>
              </a:defRPr>
            </a:pPr>
            <a:r>
              <a:rPr sz="675" b="0">
                <a:solidFill>
                  <a:srgbClr val="AAB9C5"/>
                </a:solidFill>
              </a:rPr>
              <a:t>Live result withheld until accepted evidence exists</a:t>
            </a:r>
          </a:p>
        </p:txBody>
      </p:sp>
    </p:spTree>
    <p:extLst>
      <p:ext uri="{BB962C8B-B14F-4D97-AF65-F5344CB8AC3E}">
        <p14:creationId xmlns:p14="http://schemas.microsoft.com/office/powerpoint/2010/main" val="910673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2026-09-03T12:20:38.0260000Z</dcterms:created>
  <dcterms:modified xsi:type="dcterms:W3CDTF">2026-09-03T12:20:38.0260000Z</dcterms:modified>
</coreProperties>
</file>